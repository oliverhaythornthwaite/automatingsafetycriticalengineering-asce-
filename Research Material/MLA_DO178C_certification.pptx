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61" r:id="rId4"/>
    <p:sldId id="259" r:id="rId5"/>
    <p:sldId id="260" r:id="rId6"/>
    <p:sldId id="262" r:id="rId7"/>
    <p:sldId id="263" r:id="rId8"/>
    <p:sldId id="264" r:id="rId9"/>
    <p:sldId id="265" r:id="rId10"/>
    <p:sldId id="266" r:id="rId11"/>
    <p:sldId id="267" r:id="rId12"/>
    <p:sldId id="268" r:id="rId13"/>
    <p:sldId id="282" r:id="rId14"/>
    <p:sldId id="271" r:id="rId15"/>
    <p:sldId id="272" r:id="rId16"/>
    <p:sldId id="273" r:id="rId17"/>
    <p:sldId id="274" r:id="rId18"/>
    <p:sldId id="278" r:id="rId19"/>
    <p:sldId id="279" r:id="rId20"/>
    <p:sldId id="280" r:id="rId21"/>
    <p:sldId id="281" r:id="rId22"/>
    <p:sldId id="277" r:id="rId23"/>
    <p:sldId id="283" r:id="rId24"/>
    <p:sldId id="275" r:id="rId25"/>
    <p:sldId id="27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90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Traditional assurance principles remain, while data, learning and ODD evidence become first-class.</a:t>
            </a:r>
          </a:p>
          <a:p>
            <a:endParaRPr/>
          </a:p>
          <a:p>
            <a:r>
              <a:t>[Sources]</a:t>
            </a:r>
          </a:p>
          <a:p>
            <a:r>
              <a:t>- https://assets.publishing.service.gov.uk/media/6735fc89f6920bfb5abc7b62/JSP936_Part1.pdf</a:t>
            </a:r>
          </a:p>
          <a:p>
            <a:r>
              <a:t>- https://assets.publishing.service.gov.uk/media/68f0b97c1c9076042263ef2a/MAA_RN_2025_04.pdf</a:t>
            </a:r>
          </a:p>
          <a:p>
            <a:r>
              <a:t>- https://www.easa.europa.eu/sites/default/files/dfu/easa_concept_paper_guidance_for_artificial_intelligence_applications_proposed_issue_03.pdf</a:t>
            </a:r>
          </a:p>
          <a:p>
            <a:r>
              <a:t>[/Sources]</a:t>
            </a:r>
          </a:p>
          <a:p>
            <a:endParaRPr/>
          </a:p>
          <a:p>
            <a:r>
              <a:t>Internal context: s479832 - AutomatingSafetyCriticalEngineering.docx (background, findings and conclusions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83251-71DC-5D0E-E794-52F5C5581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90FB5-67EE-48E7-65A8-F0589BD3753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BD76AC4-E38D-ED78-B6FB-42C24C7A94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DB3455-6157-47D5-A7B7-689AEEF8DBE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193847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Report summary: development aids and deployed AI create related but distinct assurance questions.</a:t>
            </a:r>
          </a:p>
          <a:p>
            <a:endParaRPr/>
          </a:p>
          <a:p>
            <a:r>
              <a:t>[Sources]</a:t>
            </a:r>
          </a:p>
          <a:p>
            <a:r>
              <a:t>- https://www.faa.gov/documentLibrary/media/Advisory_Circular/AC_20-115D.pdf</a:t>
            </a:r>
          </a:p>
          <a:p>
            <a:r>
              <a:t>- https://assets.publishing.service.gov.uk/media/6735fc89f6920bfb5abc7b62/JSP936_Part1.pdf</a:t>
            </a:r>
          </a:p>
          <a:p>
            <a:r>
              <a:t>- https://assets.publishing.service.gov.uk/media/68f0b97c1c9076042263ef2a/MAA_RN_2025_04.pdf</a:t>
            </a:r>
          </a:p>
          <a:p>
            <a:r>
              <a:t>- https://www.easa.europa.eu/sites/default/files/dfu/easa_concept_paper_guidance_for_artificial_intelligence_applications_proposed_issue_03.pdf</a:t>
            </a:r>
          </a:p>
          <a:p>
            <a:r>
              <a:t>- https://doi.org/10.6028/NIST.SP.800-218A</a:t>
            </a:r>
          </a:p>
          <a:p>
            <a:r>
              <a:t>[/Sources]</a:t>
            </a:r>
          </a:p>
          <a:p>
            <a:endParaRPr/>
          </a:p>
          <a:p>
            <a:r>
              <a:t>Internal context: s479832 - AutomatingSafetyCriticalEngineering.docx (background, findings and conclusions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Report conclusion: advance capability incrementally and retain the safer process unless added autonomy produces measurable benefit without assurance regression.</a:t>
            </a:r>
          </a:p>
          <a:p>
            <a:endParaRPr/>
          </a:p>
          <a:p>
            <a:r>
              <a:t>[Sources]</a:t>
            </a:r>
          </a:p>
          <a:p>
            <a:r>
              <a:t>- https://assets.publishing.service.gov.uk/media/6735fc89f6920bfb5abc7b62/JSP936_Part1.pdf</a:t>
            </a:r>
          </a:p>
          <a:p>
            <a:r>
              <a:t>- https://doi.org/10.6028/NIST.SP.800-218A</a:t>
            </a:r>
          </a:p>
          <a:p>
            <a:r>
              <a:t>- https://ntrs.nasa.gov/api/citations/20250001849/downloads/NASA-TM-20250001849.pdf</a:t>
            </a:r>
          </a:p>
          <a:p>
            <a:r>
              <a:t>[/Sources]</a:t>
            </a:r>
          </a:p>
          <a:p>
            <a:endParaRPr/>
          </a:p>
          <a:p>
            <a:r>
              <a:t>Internal context: s479832 - AutomatingSafetyCriticalEngineering.docx (background, findings and conclusions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Report summary: published productivity effects vary sharply by task, codebase familiarity and outcome measure. The report is used here only for contextual findings and conclusions.</a:t>
            </a:r>
          </a:p>
          <a:p>
            <a:endParaRPr/>
          </a:p>
          <a:p>
            <a:r>
              <a:t>[Sources]</a:t>
            </a:r>
          </a:p>
          <a:p>
            <a:r>
              <a:t>- https://arxiv.org/abs/2302.06590</a:t>
            </a:r>
          </a:p>
          <a:p>
            <a:r>
              <a:t>- https://pubsonline.informs.org/doi/10.1287/mnsc.2025.00535</a:t>
            </a:r>
          </a:p>
          <a:p>
            <a:r>
              <a:t>- https://metr.org/Early_2025_AI_Experienced_OS_Devs_Study-paper.pdf</a:t>
            </a:r>
          </a:p>
          <a:p>
            <a:r>
              <a:t>- https://dl.acm.org/doi/10.1145/3576915.3623157</a:t>
            </a:r>
          </a:p>
          <a:p>
            <a:r>
              <a:t>- https://ntrs.nasa.gov/api/citations/20250001849/downloads/NASA-TM-20250001849.pdf</a:t>
            </a:r>
          </a:p>
          <a:p>
            <a:r>
              <a:t>[/Sources]</a:t>
            </a:r>
          </a:p>
          <a:p>
            <a:endParaRPr/>
          </a:p>
          <a:p>
            <a:r>
              <a:t>Internal context: s479832 - AutomatingSafetyCriticalEngineering.docx (background, findings and conclusions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Agentic systems can decompose work and invoke tools with less continuous human intervention, but greater access and complexity increase assurance and security obligations.</a:t>
            </a:r>
          </a:p>
          <a:p>
            <a:endParaRPr/>
          </a:p>
          <a:p>
            <a:r>
              <a:t>[Sources]</a:t>
            </a:r>
          </a:p>
          <a:p>
            <a:r>
              <a:t>- https://www.ncsc.gov.uk/blogs/thinking-carefully-before-adopting-agentic-ai</a:t>
            </a:r>
          </a:p>
          <a:p>
            <a:r>
              <a:t>- https://doi.org/10.6028/NIST.SP.800-218A</a:t>
            </a:r>
          </a:p>
          <a:p>
            <a:r>
              <a:t>- https://metr.org/blog/2026-05-19-frontier-risk-report/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 active effort and elapsed time separately. Include review, integration, recovery, defects and evidence completeness in the comparison.</a:t>
            </a:r>
          </a:p>
          <a:p>
            <a:endParaRPr/>
          </a:p>
          <a:p>
            <a:r>
              <a:t>[Sources]</a:t>
            </a:r>
          </a:p>
          <a:p>
            <a:r>
              <a:t>- https://www.ncsc.gov.uk/blogs/thinking-carefully-before-adopting-agentic-ai</a:t>
            </a:r>
          </a:p>
          <a:p>
            <a:r>
              <a:t>- https://metr.org/Early_2025_AI_Experienced_OS_Devs_Study-paper.pdf</a:t>
            </a:r>
          </a:p>
          <a:p>
            <a:r>
              <a:t>- https://metr.org/blog/2026-05-19-frontier-risk-report/</a:t>
            </a:r>
          </a:p>
          <a:p>
            <a:r>
              <a:t>- https://pubsonline.informs.org/doi/10.1287/mnsc.2025.00535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8869680" y="685800"/>
            <a:ext cx="2743200" cy="2743200"/>
          </a:xfrm>
          <a:prstGeom prst="arc">
            <a:avLst/>
          </a:prstGeom>
          <a:noFill/>
          <a:ln w="25400">
            <a:solidFill>
              <a:srgbClr val="0F7C80">
                <a:alpha val="75000"/>
              </a:srgbClr>
            </a:solidFill>
            <a:prstDash val="solid"/>
          </a:ln>
        </p:spPr>
        <p:txBody>
          <a:bodyPr/>
          <a:lstStyle/>
          <a:p>
            <a:endParaRPr/>
          </a:p>
        </p:txBody>
      </p:sp>
      <p:sp>
        <p:nvSpPr>
          <p:cNvPr id="3" name="Shape 1"/>
          <p:cNvSpPr/>
          <p:nvPr/>
        </p:nvSpPr>
        <p:spPr>
          <a:xfrm>
            <a:off x="9235440" y="1051560"/>
            <a:ext cx="2377440" cy="2377440"/>
          </a:xfrm>
          <a:prstGeom prst="arc">
            <a:avLst/>
          </a:prstGeom>
          <a:noFill/>
          <a:ln w="12700">
            <a:solidFill>
              <a:srgbClr val="9BD6D2">
                <a:alpha val="55000"/>
              </a:srgbClr>
            </a:solidFill>
            <a:prstDash val="solid"/>
          </a:ln>
        </p:spPr>
        <p:txBody>
          <a:bodyPr/>
          <a:lstStyle/>
          <a:p>
            <a:endParaRPr/>
          </a:p>
        </p:txBody>
      </p:sp>
      <p:sp>
        <p:nvSpPr>
          <p:cNvPr id="9" name="Text 7"/>
          <p:cNvSpPr/>
          <p:nvPr/>
        </p:nvSpPr>
        <p:spPr>
          <a:xfrm>
            <a:off x="11430000" y="6537960"/>
            <a:ext cx="274320" cy="182880"/>
          </a:xfrm>
          <a:prstGeom prst="rect">
            <a:avLst/>
          </a:prstGeom>
          <a:noFill/>
          <a:ln/>
        </p:spPr>
        <p:txBody>
          <a:bodyPr wrap="square" rtlCol="0" anchor="ctr"/>
          <a:lstStyle/>
          <a:p>
            <a:r>
              <a:rPr dirty="0">
                <a:solidFill>
                  <a:schemeClr val="bg1"/>
                </a:solidFill>
              </a:rPr>
              <a:t>1</a:t>
            </a:r>
          </a:p>
        </p:txBody>
      </p:sp>
      <p:sp>
        <p:nvSpPr>
          <p:cNvPr id="18" name="Text 2">
            <a:extLst>
              <a:ext uri="{FF2B5EF4-FFF2-40B4-BE49-F238E27FC236}">
                <a16:creationId xmlns:a16="http://schemas.microsoft.com/office/drawing/2014/main" id="{69C01F1C-9D08-1DD2-4D73-BD7FC193201E}"/>
              </a:ext>
            </a:extLst>
          </p:cNvPr>
          <p:cNvSpPr>
            <a:spLocks noGrp="1"/>
          </p:cNvSpPr>
          <p:nvPr/>
        </p:nvSpPr>
        <p:spPr>
          <a:xfrm>
            <a:off x="594360" y="1005840"/>
            <a:ext cx="7863840" cy="1234440"/>
          </a:xfrm>
          <a:prstGeom prst="rect">
            <a:avLst/>
          </a:prstGeom>
          <a:noFill/>
        </p:spPr>
        <p:txBody>
          <a:bodyPr wrap="square" lIns="0" tIns="0" rIns="0" bIns="0" anchor="ctr"/>
          <a:lstStyle/>
          <a:p>
            <a:pPr marL="0" indent="0">
              <a:buNone/>
            </a:pPr>
            <a:r>
              <a:rPr sz="3600" b="1">
                <a:solidFill>
                  <a:srgbClr val="FFFFFF"/>
                </a:solidFill>
                <a:latin typeface="Aptos Display"/>
                <a:ea typeface="Aptos Display"/>
                <a:cs typeface="Aptos Display"/>
              </a:rPr>
              <a:t>Assuring ML Applications</a:t>
            </a:r>
            <a:endParaRPr sz="3600"/>
          </a:p>
          <a:p>
            <a:pPr marL="0" indent="0">
              <a:buNone/>
            </a:pPr>
            <a:r>
              <a:rPr sz="3600" b="1">
                <a:solidFill>
                  <a:srgbClr val="FFFFFF"/>
                </a:solidFill>
                <a:latin typeface="Aptos Display"/>
                <a:ea typeface="Aptos Display"/>
                <a:cs typeface="Aptos Display"/>
              </a:rPr>
              <a:t>and AI-Enabled Engineering</a:t>
            </a:r>
            <a:endParaRPr sz="3600"/>
          </a:p>
        </p:txBody>
      </p:sp>
      <p:sp>
        <p:nvSpPr>
          <p:cNvPr id="20" name="Text 3">
            <a:extLst>
              <a:ext uri="{FF2B5EF4-FFF2-40B4-BE49-F238E27FC236}">
                <a16:creationId xmlns:a16="http://schemas.microsoft.com/office/drawing/2014/main" id="{F0F6CAFE-F968-5907-02A0-DA400FA5AC8C}"/>
              </a:ext>
            </a:extLst>
          </p:cNvPr>
          <p:cNvSpPr>
            <a:spLocks noGrp="1"/>
          </p:cNvSpPr>
          <p:nvPr/>
        </p:nvSpPr>
        <p:spPr>
          <a:xfrm>
            <a:off x="621792" y="2423160"/>
            <a:ext cx="6885432" cy="320040"/>
          </a:xfrm>
          <a:prstGeom prst="rect">
            <a:avLst/>
          </a:prstGeom>
          <a:noFill/>
        </p:spPr>
        <p:txBody>
          <a:bodyPr wrap="square" lIns="0" tIns="0" rIns="0" bIns="0" anchor="ctr"/>
          <a:lstStyle/>
          <a:p>
            <a:pPr marL="0" indent="0">
              <a:buNone/>
            </a:pPr>
            <a:r>
              <a:rPr sz="1800">
                <a:solidFill>
                  <a:srgbClr val="CFE6EB"/>
                </a:solidFill>
              </a:rPr>
              <a:t>DO-178C / DO-330 · MOD JSP 936 · MAA · EASA · System Safety</a:t>
            </a:r>
            <a:endParaRPr sz="1800"/>
          </a:p>
        </p:txBody>
      </p:sp>
      <p:sp>
        <p:nvSpPr>
          <p:cNvPr id="22" name="Text 4">
            <a:extLst>
              <a:ext uri="{FF2B5EF4-FFF2-40B4-BE49-F238E27FC236}">
                <a16:creationId xmlns:a16="http://schemas.microsoft.com/office/drawing/2014/main" id="{37533E91-6656-8CFA-15D7-453C5EC3EA26}"/>
              </a:ext>
            </a:extLst>
          </p:cNvPr>
          <p:cNvSpPr>
            <a:spLocks noGrp="1"/>
          </p:cNvSpPr>
          <p:nvPr/>
        </p:nvSpPr>
        <p:spPr>
          <a:xfrm>
            <a:off x="621792" y="2880360"/>
            <a:ext cx="5303520" cy="256032"/>
          </a:xfrm>
          <a:prstGeom prst="rect">
            <a:avLst/>
          </a:prstGeom>
          <a:noFill/>
        </p:spPr>
        <p:txBody>
          <a:bodyPr wrap="square" lIns="0" tIns="0" rIns="0" bIns="0" anchor="ctr"/>
          <a:lstStyle/>
          <a:p>
            <a:pPr marL="0" indent="0">
              <a:buNone/>
            </a:pPr>
            <a:r>
              <a:rPr sz="1300">
                <a:solidFill>
                  <a:srgbClr val="A9C8D4"/>
                </a:solidFill>
              </a:rPr>
              <a:t>Oliver Haythornthwaite · 16 August 2026</a:t>
            </a:r>
            <a:endParaRPr sz="1300"/>
          </a:p>
        </p:txBody>
      </p:sp>
      <p:sp>
        <p:nvSpPr>
          <p:cNvPr id="24" name="Text 6">
            <a:extLst>
              <a:ext uri="{FF2B5EF4-FFF2-40B4-BE49-F238E27FC236}">
                <a16:creationId xmlns:a16="http://schemas.microsoft.com/office/drawing/2014/main" id="{01E67E43-7077-135A-F4E3-DCCB288CF95F}"/>
              </a:ext>
            </a:extLst>
          </p:cNvPr>
          <p:cNvSpPr>
            <a:spLocks noGrp="1"/>
          </p:cNvSpPr>
          <p:nvPr/>
        </p:nvSpPr>
        <p:spPr>
          <a:xfrm>
            <a:off x="394572" y="3515781"/>
            <a:ext cx="6784848" cy="786384"/>
          </a:xfrm>
          <a:prstGeom prst="rect">
            <a:avLst/>
          </a:prstGeom>
          <a:noFill/>
        </p:spPr>
        <p:txBody>
          <a:bodyPr wrap="square" lIns="0" tIns="0" rIns="0" bIns="0" anchor="ctr">
            <a:normAutofit/>
          </a:bodyPr>
          <a:lstStyle/>
          <a:p>
            <a:pPr marL="0" indent="0" algn="ctr">
              <a:buNone/>
            </a:pPr>
            <a:r>
              <a:rPr sz="1700" dirty="0">
                <a:solidFill>
                  <a:schemeClr val="bg1"/>
                </a:solidFill>
              </a:rPr>
              <a:t>Thesis: AI can support engineering and ML can be fielded only where authority, evidence, independence and configuration control remain explicit.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Current state of certification</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r>
              <a:rPr lang="en-GB" sz="1250" dirty="0">
                <a:solidFill>
                  <a:srgbClr val="35566B"/>
                </a:solidFill>
              </a:rPr>
              <a:t>Existing assurance frameworks remain the baseline; AI-specific approval material is still evolving.</a:t>
            </a:r>
            <a:endParaRPr lang="en-GB" sz="1250" dirty="0"/>
          </a:p>
        </p:txBody>
      </p:sp>
      <p:sp>
        <p:nvSpPr>
          <p:cNvPr id="6" name="Shape 4"/>
          <p:cNvSpPr/>
          <p:nvPr/>
        </p:nvSpPr>
        <p:spPr>
          <a:xfrm>
            <a:off x="731520" y="1508760"/>
            <a:ext cx="233172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7" name="Text 5"/>
          <p:cNvSpPr/>
          <p:nvPr/>
        </p:nvSpPr>
        <p:spPr>
          <a:xfrm>
            <a:off x="841248" y="1581912"/>
            <a:ext cx="211226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DO-178C baseline</a:t>
            </a:r>
            <a:endParaRPr lang="en-US" sz="1500" dirty="0"/>
          </a:p>
        </p:txBody>
      </p:sp>
      <p:sp>
        <p:nvSpPr>
          <p:cNvPr id="8" name="Shape 6"/>
          <p:cNvSpPr/>
          <p:nvPr/>
        </p:nvSpPr>
        <p:spPr>
          <a:xfrm>
            <a:off x="731520" y="2057400"/>
            <a:ext cx="2331720" cy="2057400"/>
          </a:xfrm>
          <a:prstGeom prst="roundRect">
            <a:avLst>
              <a:gd name="adj" fmla="val 3556"/>
            </a:avLst>
          </a:prstGeom>
          <a:solidFill>
            <a:srgbClr val="FFFFFF"/>
          </a:solidFill>
          <a:ln w="15240">
            <a:solidFill>
              <a:srgbClr val="0E2A3B"/>
            </a:solidFill>
            <a:prstDash val="solid"/>
          </a:ln>
        </p:spPr>
        <p:txBody>
          <a:bodyPr/>
          <a:lstStyle/>
          <a:p>
            <a:endParaRPr/>
          </a:p>
        </p:txBody>
      </p:sp>
      <p:sp>
        <p:nvSpPr>
          <p:cNvPr id="9" name="Text 7"/>
          <p:cNvSpPr/>
          <p:nvPr/>
        </p:nvSpPr>
        <p:spPr>
          <a:xfrm>
            <a:off x="896112" y="2185416"/>
            <a:ext cx="2002536" cy="1856232"/>
          </a:xfrm>
          <a:prstGeom prst="rect">
            <a:avLst/>
          </a:prstGeom>
          <a:noFill/>
          <a:ln/>
        </p:spPr>
        <p:txBody>
          <a:bodyPr wrap="square" lIns="254" tIns="254" rIns="254" bIns="254" rtlCol="0" anchor="ctr">
            <a:normAutofit/>
          </a:bodyPr>
          <a:lstStyle/>
          <a:p>
            <a:pPr marL="0" indent="0" algn="ctr">
              <a:buNone/>
            </a:pPr>
            <a:r>
              <a:rPr lang="en-US" sz="1550" dirty="0">
                <a:solidFill>
                  <a:srgbClr val="1E2B32"/>
                </a:solidFill>
              </a:rPr>
              <a:t>Mature lifecycle evidence for airborne software: requirements, verification, coverage, independence, CM and QA.</a:t>
            </a:r>
            <a:endParaRPr lang="en-US" sz="1550" dirty="0"/>
          </a:p>
        </p:txBody>
      </p:sp>
      <p:sp>
        <p:nvSpPr>
          <p:cNvPr id="10" name="Shape 8"/>
          <p:cNvSpPr/>
          <p:nvPr/>
        </p:nvSpPr>
        <p:spPr>
          <a:xfrm>
            <a:off x="3429000" y="1508760"/>
            <a:ext cx="233172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11" name="Text 9"/>
          <p:cNvSpPr/>
          <p:nvPr/>
        </p:nvSpPr>
        <p:spPr>
          <a:xfrm>
            <a:off x="3538728" y="1581912"/>
            <a:ext cx="211226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System safety baseline</a:t>
            </a:r>
            <a:endParaRPr lang="en-US" sz="1500" dirty="0"/>
          </a:p>
        </p:txBody>
      </p:sp>
      <p:sp>
        <p:nvSpPr>
          <p:cNvPr id="12" name="Shape 10"/>
          <p:cNvSpPr/>
          <p:nvPr/>
        </p:nvSpPr>
        <p:spPr>
          <a:xfrm>
            <a:off x="3429000" y="2057400"/>
            <a:ext cx="2331720" cy="2057400"/>
          </a:xfrm>
          <a:prstGeom prst="roundRect">
            <a:avLst>
              <a:gd name="adj" fmla="val 3556"/>
            </a:avLst>
          </a:prstGeom>
          <a:solidFill>
            <a:srgbClr val="FFFFFF"/>
          </a:solidFill>
          <a:ln w="15240">
            <a:solidFill>
              <a:srgbClr val="0E2A3B"/>
            </a:solidFill>
            <a:prstDash val="solid"/>
          </a:ln>
        </p:spPr>
        <p:txBody>
          <a:bodyPr/>
          <a:lstStyle/>
          <a:p>
            <a:endParaRPr/>
          </a:p>
        </p:txBody>
      </p:sp>
      <p:sp>
        <p:nvSpPr>
          <p:cNvPr id="13" name="Text 11"/>
          <p:cNvSpPr/>
          <p:nvPr/>
        </p:nvSpPr>
        <p:spPr>
          <a:xfrm>
            <a:off x="3593592" y="2185416"/>
            <a:ext cx="2002536" cy="1856232"/>
          </a:xfrm>
          <a:prstGeom prst="rect">
            <a:avLst/>
          </a:prstGeom>
          <a:noFill/>
          <a:ln/>
        </p:spPr>
        <p:txBody>
          <a:bodyPr wrap="square" lIns="254" tIns="254" rIns="254" bIns="254" rtlCol="0" anchor="ctr">
            <a:normAutofit/>
          </a:bodyPr>
          <a:lstStyle/>
          <a:p>
            <a:pPr algn="ctr"/>
            <a:r>
              <a:rPr lang="en-GB" sz="1550" dirty="0">
                <a:solidFill>
                  <a:srgbClr val="1E2B32"/>
                </a:solidFill>
              </a:rPr>
              <a:t>Hazard assessment establishes safety objectives and assurance levels; evidence closes the integrated safety argument.</a:t>
            </a:r>
            <a:endParaRPr lang="en-GB" sz="1550" dirty="0"/>
          </a:p>
        </p:txBody>
      </p:sp>
      <p:sp>
        <p:nvSpPr>
          <p:cNvPr id="14" name="Shape 12"/>
          <p:cNvSpPr/>
          <p:nvPr/>
        </p:nvSpPr>
        <p:spPr>
          <a:xfrm>
            <a:off x="6126480" y="1508760"/>
            <a:ext cx="233172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5" name="Text 13"/>
          <p:cNvSpPr/>
          <p:nvPr/>
        </p:nvSpPr>
        <p:spPr>
          <a:xfrm>
            <a:off x="6236208" y="1581912"/>
            <a:ext cx="211226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AI/ML guidance</a:t>
            </a:r>
            <a:endParaRPr lang="en-US" sz="1500" dirty="0"/>
          </a:p>
        </p:txBody>
      </p:sp>
      <p:sp>
        <p:nvSpPr>
          <p:cNvPr id="16" name="Shape 14"/>
          <p:cNvSpPr/>
          <p:nvPr/>
        </p:nvSpPr>
        <p:spPr>
          <a:xfrm>
            <a:off x="6126480" y="2057400"/>
            <a:ext cx="2331720" cy="2057400"/>
          </a:xfrm>
          <a:prstGeom prst="roundRect">
            <a:avLst>
              <a:gd name="adj" fmla="val 3556"/>
            </a:avLst>
          </a:prstGeom>
          <a:solidFill>
            <a:srgbClr val="FFFFFF"/>
          </a:solidFill>
          <a:ln w="15240">
            <a:solidFill>
              <a:srgbClr val="0F7C80"/>
            </a:solidFill>
            <a:prstDash val="solid"/>
          </a:ln>
        </p:spPr>
        <p:txBody>
          <a:bodyPr/>
          <a:lstStyle/>
          <a:p>
            <a:endParaRPr/>
          </a:p>
        </p:txBody>
      </p:sp>
      <p:sp>
        <p:nvSpPr>
          <p:cNvPr id="17" name="Text 15"/>
          <p:cNvSpPr/>
          <p:nvPr/>
        </p:nvSpPr>
        <p:spPr>
          <a:xfrm>
            <a:off x="6291072" y="2185416"/>
            <a:ext cx="2002536" cy="1856232"/>
          </a:xfrm>
          <a:prstGeom prst="rect">
            <a:avLst/>
          </a:prstGeom>
          <a:noFill/>
          <a:ln/>
        </p:spPr>
        <p:txBody>
          <a:bodyPr wrap="square" lIns="254" tIns="254" rIns="254" bIns="254" rtlCol="0" anchor="ctr">
            <a:normAutofit/>
          </a:bodyPr>
          <a:lstStyle/>
          <a:p>
            <a:pPr marL="0" indent="0" algn="ctr">
              <a:buNone/>
            </a:pPr>
            <a:r>
              <a:rPr lang="en-US" sz="1550" dirty="0">
                <a:solidFill>
                  <a:srgbClr val="1E2B32"/>
                </a:solidFill>
              </a:rPr>
              <a:t>EASA, JSP 936, MAA guidance recognises additional needs: learning assurance, explainability, data, drift and ethical implementation.</a:t>
            </a:r>
            <a:endParaRPr lang="en-US" sz="1550" dirty="0"/>
          </a:p>
        </p:txBody>
      </p:sp>
      <p:sp>
        <p:nvSpPr>
          <p:cNvPr id="18" name="Shape 16"/>
          <p:cNvSpPr/>
          <p:nvPr/>
        </p:nvSpPr>
        <p:spPr>
          <a:xfrm>
            <a:off x="8823960" y="1508760"/>
            <a:ext cx="233172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9" name="Text 17"/>
          <p:cNvSpPr/>
          <p:nvPr/>
        </p:nvSpPr>
        <p:spPr>
          <a:xfrm>
            <a:off x="8933688" y="1581912"/>
            <a:ext cx="211226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Emerging Material</a:t>
            </a:r>
            <a:endParaRPr lang="en-US" sz="1500" dirty="0"/>
          </a:p>
        </p:txBody>
      </p:sp>
      <p:sp>
        <p:nvSpPr>
          <p:cNvPr id="20" name="Shape 18"/>
          <p:cNvSpPr/>
          <p:nvPr/>
        </p:nvSpPr>
        <p:spPr>
          <a:xfrm>
            <a:off x="8823960" y="2057400"/>
            <a:ext cx="2331720" cy="2057400"/>
          </a:xfrm>
          <a:prstGeom prst="roundRect">
            <a:avLst>
              <a:gd name="adj" fmla="val 3556"/>
            </a:avLst>
          </a:prstGeom>
          <a:solidFill>
            <a:srgbClr val="FFFFFF"/>
          </a:solidFill>
          <a:ln w="15240">
            <a:solidFill>
              <a:srgbClr val="0F7C80"/>
            </a:solidFill>
            <a:prstDash val="solid"/>
          </a:ln>
        </p:spPr>
        <p:txBody>
          <a:bodyPr/>
          <a:lstStyle/>
          <a:p>
            <a:endParaRPr/>
          </a:p>
        </p:txBody>
      </p:sp>
      <p:sp>
        <p:nvSpPr>
          <p:cNvPr id="21" name="Text 19"/>
          <p:cNvSpPr/>
          <p:nvPr/>
        </p:nvSpPr>
        <p:spPr>
          <a:xfrm>
            <a:off x="8988552" y="2185416"/>
            <a:ext cx="2002536" cy="1856232"/>
          </a:xfrm>
          <a:prstGeom prst="rect">
            <a:avLst/>
          </a:prstGeom>
          <a:noFill/>
          <a:ln/>
        </p:spPr>
        <p:txBody>
          <a:bodyPr wrap="square" lIns="254" tIns="254" rIns="254" bIns="254" rtlCol="0" anchor="ctr">
            <a:normAutofit/>
          </a:bodyPr>
          <a:lstStyle/>
          <a:p>
            <a:pPr algn="ctr"/>
            <a:r>
              <a:rPr lang="en-GB" sz="1550" dirty="0">
                <a:solidFill>
                  <a:srgbClr val="1E2B32"/>
                </a:solidFill>
              </a:rPr>
              <a:t>EASA Proposed Issue 3 supplies actionable objectives but explicitly, is not published guidance.</a:t>
            </a:r>
            <a:endParaRPr lang="en-GB" sz="1550" dirty="0"/>
          </a:p>
        </p:txBody>
      </p:sp>
      <p:sp>
        <p:nvSpPr>
          <p:cNvPr id="22" name="Text 20"/>
          <p:cNvSpPr/>
          <p:nvPr/>
        </p:nvSpPr>
        <p:spPr>
          <a:xfrm>
            <a:off x="822960" y="4892040"/>
            <a:ext cx="10607040" cy="475488"/>
          </a:xfrm>
          <a:prstGeom prst="rect">
            <a:avLst/>
          </a:prstGeom>
          <a:noFill/>
          <a:ln/>
        </p:spPr>
        <p:txBody>
          <a:bodyPr wrap="square" lIns="0" tIns="0" rIns="0" bIns="0" rtlCol="0" anchor="ctr"/>
          <a:lstStyle/>
          <a:p>
            <a:pPr marL="0" indent="0" algn="ctr">
              <a:buNone/>
            </a:pPr>
            <a:r>
              <a:rPr lang="en-US" sz="2000" b="1" dirty="0">
                <a:solidFill>
                  <a:srgbClr val="0E2A3B"/>
                </a:solidFill>
              </a:rPr>
              <a:t>Implication: the field is not starting from zero. Instead adapting established assurance discipline to learned behaviour.</a:t>
            </a:r>
            <a:endParaRPr lang="en-US" sz="2000" dirty="0"/>
          </a:p>
        </p:txBody>
      </p:sp>
      <p:sp>
        <p:nvSpPr>
          <p:cNvPr id="23" name="Text 21"/>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External context: EASA AI Concept Paper Issue 2 (2024); FAA AI Safety Assurance Roadmap (2024); UK CAA AI principles/strategy; MAA/RN/2025/04.</a:t>
            </a:r>
            <a:endParaRPr lang="en-US" sz="750" dirty="0"/>
          </a:p>
        </p:txBody>
      </p:sp>
      <p:sp>
        <p:nvSpPr>
          <p:cNvPr id="24" name="Text 22"/>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25" name="Text 23"/>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Policy ecosystem</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Linking assurance claims to defence, civil aviation and software assurance sources.</a:t>
            </a:r>
            <a:endParaRPr lang="en-US" sz="1250" dirty="0"/>
          </a:p>
        </p:txBody>
      </p:sp>
      <p:sp>
        <p:nvSpPr>
          <p:cNvPr id="6" name="Shape 4"/>
          <p:cNvSpPr/>
          <p:nvPr/>
        </p:nvSpPr>
        <p:spPr>
          <a:xfrm>
            <a:off x="822960" y="1325880"/>
            <a:ext cx="3474720" cy="502920"/>
          </a:xfrm>
          <a:prstGeom prst="roundRect">
            <a:avLst>
              <a:gd name="adj" fmla="val 14545"/>
            </a:avLst>
          </a:prstGeom>
          <a:solidFill>
            <a:srgbClr val="0E2A3B"/>
          </a:solidFill>
          <a:ln w="12700">
            <a:solidFill>
              <a:srgbClr val="0E2A3B"/>
            </a:solidFill>
            <a:prstDash val="solid"/>
          </a:ln>
        </p:spPr>
        <p:txBody>
          <a:bodyPr/>
          <a:lstStyle/>
          <a:p>
            <a:endParaRPr/>
          </a:p>
        </p:txBody>
      </p:sp>
      <p:sp>
        <p:nvSpPr>
          <p:cNvPr id="7" name="Text 5"/>
          <p:cNvSpPr/>
          <p:nvPr/>
        </p:nvSpPr>
        <p:spPr>
          <a:xfrm>
            <a:off x="932688" y="1399032"/>
            <a:ext cx="3255264" cy="38404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MOD dependable AI / safety / HFI</a:t>
            </a:r>
            <a:endParaRPr lang="en-US" sz="1500" dirty="0"/>
          </a:p>
        </p:txBody>
      </p:sp>
      <p:sp>
        <p:nvSpPr>
          <p:cNvPr id="8" name="Shape 6"/>
          <p:cNvSpPr/>
          <p:nvPr/>
        </p:nvSpPr>
        <p:spPr>
          <a:xfrm>
            <a:off x="4572000" y="1325880"/>
            <a:ext cx="6537960" cy="502920"/>
          </a:xfrm>
          <a:prstGeom prst="roundRect">
            <a:avLst>
              <a:gd name="adj" fmla="val 14545"/>
            </a:avLst>
          </a:prstGeom>
          <a:solidFill>
            <a:srgbClr val="FFFFFF"/>
          </a:solidFill>
          <a:ln w="15240">
            <a:solidFill>
              <a:srgbClr val="0E2A3B"/>
            </a:solidFill>
            <a:prstDash val="solid"/>
          </a:ln>
        </p:spPr>
        <p:txBody>
          <a:bodyPr/>
          <a:lstStyle/>
          <a:p>
            <a:endParaRPr/>
          </a:p>
        </p:txBody>
      </p:sp>
      <p:sp>
        <p:nvSpPr>
          <p:cNvPr id="9" name="Text 7"/>
          <p:cNvSpPr/>
          <p:nvPr/>
        </p:nvSpPr>
        <p:spPr>
          <a:xfrm>
            <a:off x="4736592" y="1453896"/>
            <a:ext cx="6208776" cy="301752"/>
          </a:xfrm>
          <a:prstGeom prst="rect">
            <a:avLst/>
          </a:prstGeom>
          <a:noFill/>
          <a:ln/>
        </p:spPr>
        <p:txBody>
          <a:bodyPr wrap="square" lIns="254" tIns="254" rIns="254" bIns="254" rtlCol="0" anchor="ctr">
            <a:normAutofit fontScale="77500" lnSpcReduction="20000"/>
          </a:bodyPr>
          <a:lstStyle/>
          <a:p>
            <a:r>
              <a:rPr lang="en-US" sz="1550" dirty="0"/>
              <a:t> </a:t>
            </a:r>
            <a:r>
              <a:rPr lang="en-GB" sz="1600" b="1" dirty="0"/>
              <a:t>JSP 936 + JSP 912/815/945  </a:t>
            </a:r>
            <a:r>
              <a:rPr lang="en-US" sz="1550" dirty="0">
                <a:solidFill>
                  <a:srgbClr val="1E2B32"/>
                </a:solidFill>
              </a:rPr>
              <a:t>Governance, ethics, human factors and safety accountability</a:t>
            </a:r>
            <a:endParaRPr lang="en-US" sz="1550" dirty="0"/>
          </a:p>
        </p:txBody>
      </p:sp>
      <p:sp>
        <p:nvSpPr>
          <p:cNvPr id="10" name="Shape 8"/>
          <p:cNvSpPr/>
          <p:nvPr/>
        </p:nvSpPr>
        <p:spPr>
          <a:xfrm>
            <a:off x="822960" y="2377440"/>
            <a:ext cx="3474720" cy="502920"/>
          </a:xfrm>
          <a:prstGeom prst="roundRect">
            <a:avLst>
              <a:gd name="adj" fmla="val 14545"/>
            </a:avLst>
          </a:prstGeom>
          <a:solidFill>
            <a:srgbClr val="0F7C80"/>
          </a:solidFill>
          <a:ln w="12700">
            <a:solidFill>
              <a:srgbClr val="0F7C80"/>
            </a:solidFill>
            <a:prstDash val="solid"/>
          </a:ln>
        </p:spPr>
        <p:txBody>
          <a:bodyPr/>
          <a:lstStyle/>
          <a:p>
            <a:endParaRPr/>
          </a:p>
        </p:txBody>
      </p:sp>
      <p:sp>
        <p:nvSpPr>
          <p:cNvPr id="11" name="Text 9"/>
          <p:cNvSpPr/>
          <p:nvPr/>
        </p:nvSpPr>
        <p:spPr>
          <a:xfrm>
            <a:off x="932688" y="2450592"/>
            <a:ext cx="3255264" cy="38404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DO-178C + DO-330/331/332</a:t>
            </a:r>
            <a:endParaRPr lang="en-US" sz="1500" dirty="0"/>
          </a:p>
        </p:txBody>
      </p:sp>
      <p:sp>
        <p:nvSpPr>
          <p:cNvPr id="12" name="Shape 10"/>
          <p:cNvSpPr/>
          <p:nvPr/>
        </p:nvSpPr>
        <p:spPr>
          <a:xfrm>
            <a:off x="4572000" y="2377440"/>
            <a:ext cx="6537960" cy="502920"/>
          </a:xfrm>
          <a:prstGeom prst="roundRect">
            <a:avLst>
              <a:gd name="adj" fmla="val 14545"/>
            </a:avLst>
          </a:prstGeom>
          <a:solidFill>
            <a:srgbClr val="FFFFFF"/>
          </a:solidFill>
          <a:ln w="15240">
            <a:solidFill>
              <a:srgbClr val="0F7C80"/>
            </a:solidFill>
            <a:prstDash val="solid"/>
          </a:ln>
        </p:spPr>
        <p:txBody>
          <a:bodyPr/>
          <a:lstStyle/>
          <a:p>
            <a:endParaRPr/>
          </a:p>
        </p:txBody>
      </p:sp>
      <p:sp>
        <p:nvSpPr>
          <p:cNvPr id="13" name="Text 11"/>
          <p:cNvSpPr/>
          <p:nvPr/>
        </p:nvSpPr>
        <p:spPr>
          <a:xfrm>
            <a:off x="4736592" y="2505456"/>
            <a:ext cx="6208776" cy="301752"/>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Software lifecycle, tools, model-based development and OO techniques</a:t>
            </a:r>
            <a:endParaRPr lang="en-US" sz="1550" dirty="0"/>
          </a:p>
        </p:txBody>
      </p:sp>
      <p:sp>
        <p:nvSpPr>
          <p:cNvPr id="14" name="Shape 12"/>
          <p:cNvSpPr/>
          <p:nvPr/>
        </p:nvSpPr>
        <p:spPr>
          <a:xfrm>
            <a:off x="822960" y="3429000"/>
            <a:ext cx="3474720" cy="502920"/>
          </a:xfrm>
          <a:prstGeom prst="roundRect">
            <a:avLst>
              <a:gd name="adj" fmla="val 14545"/>
            </a:avLst>
          </a:prstGeom>
          <a:solidFill>
            <a:srgbClr val="0E2A3B"/>
          </a:solidFill>
          <a:ln w="12700">
            <a:solidFill>
              <a:srgbClr val="0E2A3B"/>
            </a:solidFill>
            <a:prstDash val="solid"/>
          </a:ln>
        </p:spPr>
        <p:txBody>
          <a:bodyPr/>
          <a:lstStyle/>
          <a:p>
            <a:endParaRPr/>
          </a:p>
        </p:txBody>
      </p:sp>
      <p:sp>
        <p:nvSpPr>
          <p:cNvPr id="15" name="Text 13"/>
          <p:cNvSpPr/>
          <p:nvPr/>
        </p:nvSpPr>
        <p:spPr>
          <a:xfrm>
            <a:off x="932688" y="3502152"/>
            <a:ext cx="3255264" cy="384048"/>
          </a:xfrm>
          <a:prstGeom prst="rect">
            <a:avLst/>
          </a:prstGeom>
          <a:noFill/>
          <a:ln/>
        </p:spPr>
        <p:txBody>
          <a:bodyPr wrap="square" lIns="0" tIns="0" rIns="0" bIns="0" rtlCol="0" anchor="ctr">
            <a:normAutofit/>
          </a:bodyPr>
          <a:lstStyle/>
          <a:p>
            <a:pPr algn="ctr"/>
            <a:r>
              <a:rPr lang="en-GB" sz="1500" b="1" dirty="0">
                <a:solidFill>
                  <a:srgbClr val="FFFFFF"/>
                </a:solidFill>
              </a:rPr>
              <a:t>System safety &amp; certification basis</a:t>
            </a:r>
            <a:endParaRPr lang="en-GB" sz="1500" dirty="0"/>
          </a:p>
        </p:txBody>
      </p:sp>
      <p:sp>
        <p:nvSpPr>
          <p:cNvPr id="16" name="Shape 14"/>
          <p:cNvSpPr/>
          <p:nvPr/>
        </p:nvSpPr>
        <p:spPr>
          <a:xfrm>
            <a:off x="4572000" y="3429000"/>
            <a:ext cx="6537960" cy="502920"/>
          </a:xfrm>
          <a:prstGeom prst="roundRect">
            <a:avLst>
              <a:gd name="adj" fmla="val 14545"/>
            </a:avLst>
          </a:prstGeom>
          <a:solidFill>
            <a:srgbClr val="FFFFFF"/>
          </a:solidFill>
          <a:ln w="15240">
            <a:solidFill>
              <a:srgbClr val="0E2A3B"/>
            </a:solidFill>
            <a:prstDash val="solid"/>
          </a:ln>
        </p:spPr>
        <p:txBody>
          <a:bodyPr/>
          <a:lstStyle/>
          <a:p>
            <a:endParaRPr/>
          </a:p>
        </p:txBody>
      </p:sp>
      <p:sp>
        <p:nvSpPr>
          <p:cNvPr id="17" name="Text 15"/>
          <p:cNvSpPr/>
          <p:nvPr/>
        </p:nvSpPr>
        <p:spPr>
          <a:xfrm>
            <a:off x="4736592" y="3557016"/>
            <a:ext cx="6208776" cy="301752"/>
          </a:xfrm>
          <a:prstGeom prst="rect">
            <a:avLst/>
          </a:prstGeom>
          <a:noFill/>
          <a:ln/>
        </p:spPr>
        <p:txBody>
          <a:bodyPr wrap="square" lIns="254" tIns="254" rIns="254" bIns="254" rtlCol="0" anchor="ctr">
            <a:normAutofit fontScale="85000" lnSpcReduction="10000"/>
          </a:bodyPr>
          <a:lstStyle/>
          <a:p>
            <a:r>
              <a:rPr lang="en-GB" sz="1550" dirty="0">
                <a:solidFill>
                  <a:srgbClr val="1E2B32"/>
                </a:solidFill>
              </a:rPr>
              <a:t>Hazards, performance objectives, derived requirements and integrated safety argument</a:t>
            </a:r>
            <a:endParaRPr lang="en-GB" sz="1550" dirty="0"/>
          </a:p>
        </p:txBody>
      </p:sp>
      <p:sp>
        <p:nvSpPr>
          <p:cNvPr id="18" name="Shape 16"/>
          <p:cNvSpPr/>
          <p:nvPr/>
        </p:nvSpPr>
        <p:spPr>
          <a:xfrm>
            <a:off x="822960" y="4480560"/>
            <a:ext cx="3474720" cy="502920"/>
          </a:xfrm>
          <a:prstGeom prst="roundRect">
            <a:avLst>
              <a:gd name="adj" fmla="val 14545"/>
            </a:avLst>
          </a:prstGeom>
          <a:solidFill>
            <a:srgbClr val="0F7C80"/>
          </a:solidFill>
          <a:ln w="12700">
            <a:solidFill>
              <a:srgbClr val="0F7C80"/>
            </a:solidFill>
            <a:prstDash val="solid"/>
          </a:ln>
        </p:spPr>
        <p:txBody>
          <a:bodyPr/>
          <a:lstStyle/>
          <a:p>
            <a:endParaRPr/>
          </a:p>
        </p:txBody>
      </p:sp>
      <p:sp>
        <p:nvSpPr>
          <p:cNvPr id="19" name="Text 17"/>
          <p:cNvSpPr/>
          <p:nvPr/>
        </p:nvSpPr>
        <p:spPr>
          <a:xfrm>
            <a:off x="932688" y="4553712"/>
            <a:ext cx="3255264" cy="384048"/>
          </a:xfrm>
          <a:prstGeom prst="rect">
            <a:avLst/>
          </a:prstGeom>
          <a:noFill/>
          <a:ln/>
        </p:spPr>
        <p:txBody>
          <a:bodyPr wrap="square" lIns="0" tIns="0" rIns="0" bIns="0" rtlCol="0" anchor="ctr">
            <a:normAutofit/>
          </a:bodyPr>
          <a:lstStyle/>
          <a:p>
            <a:pPr algn="ctr"/>
            <a:r>
              <a:rPr lang="en-GB" sz="1500" b="1" dirty="0">
                <a:solidFill>
                  <a:srgbClr val="FFFFFF"/>
                </a:solidFill>
              </a:rPr>
              <a:t>MAA RN / EASA Proposed Issue 3</a:t>
            </a:r>
            <a:endParaRPr lang="en-GB" sz="1500" dirty="0"/>
          </a:p>
        </p:txBody>
      </p:sp>
      <p:sp>
        <p:nvSpPr>
          <p:cNvPr id="20" name="Shape 18"/>
          <p:cNvSpPr/>
          <p:nvPr/>
        </p:nvSpPr>
        <p:spPr>
          <a:xfrm>
            <a:off x="4572000" y="4480560"/>
            <a:ext cx="6537960" cy="502920"/>
          </a:xfrm>
          <a:prstGeom prst="roundRect">
            <a:avLst>
              <a:gd name="adj" fmla="val 14545"/>
            </a:avLst>
          </a:prstGeom>
          <a:solidFill>
            <a:srgbClr val="FFFFFF"/>
          </a:solidFill>
          <a:ln w="15240">
            <a:solidFill>
              <a:srgbClr val="0F7C80"/>
            </a:solidFill>
            <a:prstDash val="solid"/>
          </a:ln>
        </p:spPr>
        <p:txBody>
          <a:bodyPr/>
          <a:lstStyle/>
          <a:p>
            <a:endParaRPr/>
          </a:p>
        </p:txBody>
      </p:sp>
      <p:sp>
        <p:nvSpPr>
          <p:cNvPr id="21" name="Text 19"/>
          <p:cNvSpPr/>
          <p:nvPr/>
        </p:nvSpPr>
        <p:spPr>
          <a:xfrm>
            <a:off x="4736592" y="4608576"/>
            <a:ext cx="6208776" cy="301752"/>
          </a:xfrm>
          <a:prstGeom prst="rect">
            <a:avLst/>
          </a:prstGeom>
          <a:noFill/>
          <a:ln/>
        </p:spPr>
        <p:txBody>
          <a:bodyPr wrap="square" lIns="254" tIns="254" rIns="254" bIns="254" rtlCol="0" anchor="ctr">
            <a:normAutofit/>
          </a:bodyPr>
          <a:lstStyle/>
          <a:p>
            <a:r>
              <a:rPr lang="en-GB" sz="1550" b="1" dirty="0">
                <a:solidFill>
                  <a:srgbClr val="1E2B32"/>
                </a:solidFill>
              </a:rPr>
              <a:t>Current</a:t>
            </a:r>
            <a:r>
              <a:rPr lang="en-GB" sz="1550" dirty="0">
                <a:solidFill>
                  <a:srgbClr val="1E2B32"/>
                </a:solidFill>
              </a:rPr>
              <a:t> MAA position and </a:t>
            </a:r>
            <a:r>
              <a:rPr lang="en-GB" sz="1550" b="1" dirty="0">
                <a:solidFill>
                  <a:srgbClr val="1E2B32"/>
                </a:solidFill>
              </a:rPr>
              <a:t>emerging</a:t>
            </a:r>
            <a:r>
              <a:rPr lang="en-GB" sz="1550" dirty="0">
                <a:solidFill>
                  <a:srgbClr val="1E2B32"/>
                </a:solidFill>
              </a:rPr>
              <a:t> EASA objectives.</a:t>
            </a:r>
            <a:endParaRPr lang="en-GB" sz="1550" dirty="0"/>
          </a:p>
        </p:txBody>
      </p:sp>
      <p:sp>
        <p:nvSpPr>
          <p:cNvPr id="22" name="Text 20"/>
          <p:cNvSpPr/>
          <p:nvPr/>
        </p:nvSpPr>
        <p:spPr>
          <a:xfrm>
            <a:off x="914400" y="5596128"/>
            <a:ext cx="10241280" cy="365760"/>
          </a:xfrm>
          <a:prstGeom prst="rect">
            <a:avLst/>
          </a:prstGeom>
          <a:noFill/>
          <a:ln/>
        </p:spPr>
        <p:txBody>
          <a:bodyPr wrap="square" lIns="0" tIns="0" rIns="0" bIns="0" rtlCol="0" anchor="ctr"/>
          <a:lstStyle/>
          <a:p>
            <a:pPr marL="0" indent="0" algn="ctr">
              <a:buNone/>
            </a:pPr>
            <a:r>
              <a:rPr lang="en-US" sz="1700" b="1" dirty="0">
                <a:solidFill>
                  <a:srgbClr val="0E2A3B"/>
                </a:solidFill>
              </a:rPr>
              <a:t>This stack aims towards a safety-case approach, not a generic model-accuracy argument.</a:t>
            </a:r>
            <a:endParaRPr lang="en-US" sz="1700" dirty="0"/>
          </a:p>
        </p:txBody>
      </p:sp>
      <p:sp>
        <p:nvSpPr>
          <p:cNvPr id="23" name="Text 21"/>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Based on the document policy-context table and policy-traced arguments.</a:t>
            </a:r>
            <a:endParaRPr lang="en-US" sz="750" dirty="0"/>
          </a:p>
        </p:txBody>
      </p:sp>
      <p:sp>
        <p:nvSpPr>
          <p:cNvPr id="24" name="Text 22"/>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25" name="Text 23"/>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The certification gap</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DO-178C evidence remains necessary - but is insufficient for learned </a:t>
            </a:r>
            <a:r>
              <a:rPr lang="en-US" sz="1250" dirty="0" err="1">
                <a:solidFill>
                  <a:srgbClr val="35566B"/>
                </a:solidFill>
              </a:rPr>
              <a:t>behaviour</a:t>
            </a:r>
            <a:r>
              <a:rPr lang="en-US" sz="1250" dirty="0">
                <a:solidFill>
                  <a:srgbClr val="35566B"/>
                </a:solidFill>
              </a:rPr>
              <a:t>.</a:t>
            </a:r>
            <a:endParaRPr lang="en-US" sz="1250" dirty="0"/>
          </a:p>
        </p:txBody>
      </p:sp>
      <p:sp>
        <p:nvSpPr>
          <p:cNvPr id="6" name="Shape 4"/>
          <p:cNvSpPr/>
          <p:nvPr/>
        </p:nvSpPr>
        <p:spPr>
          <a:xfrm>
            <a:off x="822960" y="1508760"/>
            <a:ext cx="4114800" cy="2011680"/>
          </a:xfrm>
          <a:prstGeom prst="roundRect">
            <a:avLst>
              <a:gd name="adj" fmla="val 3182"/>
            </a:avLst>
          </a:prstGeom>
          <a:solidFill>
            <a:srgbClr val="FFFFFF"/>
          </a:solidFill>
          <a:ln w="15240">
            <a:solidFill>
              <a:srgbClr val="2F67B1"/>
            </a:solidFill>
            <a:prstDash val="solid"/>
          </a:ln>
        </p:spPr>
        <p:txBody>
          <a:bodyPr/>
          <a:lstStyle/>
          <a:p>
            <a:endParaRPr/>
          </a:p>
        </p:txBody>
      </p:sp>
      <p:sp>
        <p:nvSpPr>
          <p:cNvPr id="7" name="Text 5"/>
          <p:cNvSpPr/>
          <p:nvPr/>
        </p:nvSpPr>
        <p:spPr>
          <a:xfrm>
            <a:off x="905256" y="1581912"/>
            <a:ext cx="3950208" cy="18836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Established software assurance</a:t>
            </a:r>
            <a:endParaRPr lang="en-US" sz="1600" dirty="0"/>
          </a:p>
          <a:p>
            <a:pPr marL="0" indent="0" algn="ctr">
              <a:buNone/>
            </a:pPr>
            <a:endParaRPr lang="en-US" sz="1600" dirty="0"/>
          </a:p>
          <a:p>
            <a:pPr marL="0" indent="0" algn="ctr">
              <a:buNone/>
            </a:pPr>
            <a:r>
              <a:rPr lang="en-US" sz="1600" dirty="0">
                <a:solidFill>
                  <a:srgbClr val="1E2B32"/>
                </a:solidFill>
              </a:rPr>
              <a:t>• Requirements-based tests</a:t>
            </a:r>
            <a:endParaRPr lang="en-US" sz="1600" dirty="0"/>
          </a:p>
          <a:p>
            <a:pPr marL="0" indent="0" algn="ctr">
              <a:buNone/>
            </a:pPr>
            <a:r>
              <a:rPr lang="en-US" sz="1600" dirty="0">
                <a:solidFill>
                  <a:srgbClr val="1E2B32"/>
                </a:solidFill>
              </a:rPr>
              <a:t>• Structural (MC/DC) coverage</a:t>
            </a:r>
            <a:endParaRPr lang="en-US" sz="1600" dirty="0"/>
          </a:p>
          <a:p>
            <a:pPr marL="0" indent="0" algn="ctr">
              <a:buNone/>
            </a:pPr>
            <a:r>
              <a:rPr lang="en-US" sz="1600" dirty="0">
                <a:solidFill>
                  <a:srgbClr val="1E2B32"/>
                </a:solidFill>
              </a:rPr>
              <a:t>• Tool qualification</a:t>
            </a:r>
            <a:endParaRPr lang="en-US" sz="1600" dirty="0"/>
          </a:p>
          <a:p>
            <a:pPr marL="0" indent="0" algn="ctr">
              <a:buNone/>
            </a:pPr>
            <a:r>
              <a:rPr lang="en-US" sz="1600" dirty="0">
                <a:solidFill>
                  <a:srgbClr val="1E2B32"/>
                </a:solidFill>
              </a:rPr>
              <a:t>• CM / QA / independence</a:t>
            </a:r>
            <a:endParaRPr lang="en-US" sz="1600" dirty="0"/>
          </a:p>
        </p:txBody>
      </p:sp>
      <p:sp>
        <p:nvSpPr>
          <p:cNvPr id="8" name="Shape 6"/>
          <p:cNvSpPr/>
          <p:nvPr/>
        </p:nvSpPr>
        <p:spPr>
          <a:xfrm>
            <a:off x="7269480" y="1508760"/>
            <a:ext cx="4114800" cy="2011680"/>
          </a:xfrm>
          <a:prstGeom prst="roundRect">
            <a:avLst>
              <a:gd name="adj" fmla="val 3182"/>
            </a:avLst>
          </a:prstGeom>
          <a:solidFill>
            <a:srgbClr val="FFFFFF"/>
          </a:solidFill>
          <a:ln w="15240">
            <a:solidFill>
              <a:srgbClr val="0F7C80"/>
            </a:solidFill>
            <a:prstDash val="solid"/>
          </a:ln>
        </p:spPr>
        <p:txBody>
          <a:bodyPr/>
          <a:lstStyle/>
          <a:p>
            <a:endParaRPr/>
          </a:p>
        </p:txBody>
      </p:sp>
      <p:sp>
        <p:nvSpPr>
          <p:cNvPr id="9" name="Text 7"/>
          <p:cNvSpPr/>
          <p:nvPr/>
        </p:nvSpPr>
        <p:spPr>
          <a:xfrm>
            <a:off x="7351776" y="1581912"/>
            <a:ext cx="3950208" cy="18836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MLA specific assurance</a:t>
            </a:r>
            <a:endParaRPr lang="en-US" sz="1600" dirty="0"/>
          </a:p>
          <a:p>
            <a:pPr marL="0" indent="0" algn="ctr">
              <a:buNone/>
            </a:pPr>
            <a:endParaRPr lang="en-US" sz="1600" dirty="0"/>
          </a:p>
          <a:p>
            <a:pPr marL="0" indent="0" algn="ctr">
              <a:buNone/>
            </a:pPr>
            <a:r>
              <a:rPr lang="en-US" sz="1600" dirty="0">
                <a:solidFill>
                  <a:srgbClr val="1E2B32"/>
                </a:solidFill>
              </a:rPr>
              <a:t>• Data provenance &amp; representativeness</a:t>
            </a:r>
            <a:endParaRPr lang="en-US" sz="1600" dirty="0"/>
          </a:p>
          <a:p>
            <a:pPr marL="0" indent="0" algn="ctr">
              <a:buNone/>
            </a:pPr>
            <a:r>
              <a:rPr lang="en-US" sz="1600" dirty="0">
                <a:solidFill>
                  <a:srgbClr val="1E2B32"/>
                </a:solidFill>
              </a:rPr>
              <a:t>• ODD coverage &amp; distribution shift</a:t>
            </a:r>
            <a:endParaRPr lang="en-US" sz="1600" dirty="0"/>
          </a:p>
          <a:p>
            <a:pPr marL="0" indent="0" algn="ctr">
              <a:buNone/>
            </a:pPr>
            <a:r>
              <a:rPr lang="en-US" sz="1600" dirty="0">
                <a:solidFill>
                  <a:srgbClr val="1E2B32"/>
                </a:solidFill>
              </a:rPr>
              <a:t>• Robustness &amp; uncertainty</a:t>
            </a:r>
            <a:endParaRPr lang="en-US" sz="1600" dirty="0"/>
          </a:p>
          <a:p>
            <a:pPr marL="0" indent="0" algn="ctr">
              <a:buNone/>
            </a:pPr>
            <a:r>
              <a:rPr lang="en-US" sz="1600" dirty="0">
                <a:solidFill>
                  <a:srgbClr val="1E2B32"/>
                </a:solidFill>
              </a:rPr>
              <a:t>• Explainability, monitoring &amp; security</a:t>
            </a:r>
            <a:endParaRPr lang="en-US" sz="1600" dirty="0"/>
          </a:p>
        </p:txBody>
      </p:sp>
      <p:sp>
        <p:nvSpPr>
          <p:cNvPr id="10" name="Shape 8"/>
          <p:cNvSpPr/>
          <p:nvPr/>
        </p:nvSpPr>
        <p:spPr>
          <a:xfrm>
            <a:off x="4937760" y="2514600"/>
            <a:ext cx="2331720" cy="0"/>
          </a:xfrm>
          <a:prstGeom prst="line">
            <a:avLst/>
          </a:prstGeom>
          <a:noFill/>
          <a:ln w="17780">
            <a:solidFill>
              <a:srgbClr val="F2A65A"/>
            </a:solidFill>
            <a:prstDash val="solid"/>
            <a:headEnd type="none"/>
            <a:tailEnd type="triangle"/>
          </a:ln>
        </p:spPr>
        <p:txBody>
          <a:bodyPr/>
          <a:lstStyle/>
          <a:p>
            <a:endParaRPr/>
          </a:p>
        </p:txBody>
      </p:sp>
      <p:sp>
        <p:nvSpPr>
          <p:cNvPr id="11" name="Shape 9"/>
          <p:cNvSpPr/>
          <p:nvPr/>
        </p:nvSpPr>
        <p:spPr>
          <a:xfrm>
            <a:off x="5303520" y="2350784"/>
            <a:ext cx="1554480" cy="320040"/>
          </a:xfrm>
          <a:prstGeom prst="roundRect">
            <a:avLst>
              <a:gd name="adj" fmla="val 17143"/>
            </a:avLst>
          </a:prstGeom>
          <a:solidFill>
            <a:srgbClr val="F2A65A"/>
          </a:solidFill>
          <a:ln w="12700">
            <a:solidFill>
              <a:srgbClr val="F2A65A"/>
            </a:solidFill>
            <a:prstDash val="solid"/>
          </a:ln>
        </p:spPr>
        <p:txBody>
          <a:bodyPr/>
          <a:lstStyle/>
          <a:p>
            <a:endParaRPr/>
          </a:p>
        </p:txBody>
      </p:sp>
      <p:sp>
        <p:nvSpPr>
          <p:cNvPr id="12" name="Text 10"/>
          <p:cNvSpPr/>
          <p:nvPr/>
        </p:nvSpPr>
        <p:spPr>
          <a:xfrm>
            <a:off x="5362956" y="2442224"/>
            <a:ext cx="1408176" cy="137160"/>
          </a:xfrm>
          <a:prstGeom prst="rect">
            <a:avLst/>
          </a:prstGeom>
          <a:noFill/>
          <a:ln/>
        </p:spPr>
        <p:txBody>
          <a:bodyPr wrap="square" lIns="0" tIns="0" rIns="0" bIns="0" rtlCol="0" anchor="ctr"/>
          <a:lstStyle/>
          <a:p>
            <a:pPr marL="0" indent="0" algn="ctr">
              <a:buNone/>
            </a:pPr>
            <a:r>
              <a:rPr lang="en-US" sz="900" b="1" dirty="0">
                <a:solidFill>
                  <a:srgbClr val="1E2B32"/>
                </a:solidFill>
              </a:rPr>
              <a:t>Assurance bridge</a:t>
            </a:r>
            <a:endParaRPr lang="en-US" sz="900" dirty="0"/>
          </a:p>
        </p:txBody>
      </p:sp>
      <p:sp>
        <p:nvSpPr>
          <p:cNvPr id="13" name="Shape 11"/>
          <p:cNvSpPr/>
          <p:nvPr/>
        </p:nvSpPr>
        <p:spPr>
          <a:xfrm>
            <a:off x="1188720" y="4251960"/>
            <a:ext cx="9875520" cy="868680"/>
          </a:xfrm>
          <a:prstGeom prst="roundRect">
            <a:avLst>
              <a:gd name="adj" fmla="val 8421"/>
            </a:avLst>
          </a:prstGeom>
          <a:solidFill>
            <a:srgbClr val="ECE9FF"/>
          </a:solidFill>
          <a:ln w="15240">
            <a:solidFill>
              <a:srgbClr val="7461D1"/>
            </a:solidFill>
            <a:prstDash val="solid"/>
          </a:ln>
        </p:spPr>
        <p:txBody>
          <a:bodyPr/>
          <a:lstStyle/>
          <a:p>
            <a:endParaRPr/>
          </a:p>
        </p:txBody>
      </p:sp>
      <p:sp>
        <p:nvSpPr>
          <p:cNvPr id="14" name="Text 12"/>
          <p:cNvSpPr/>
          <p:nvPr/>
        </p:nvSpPr>
        <p:spPr>
          <a:xfrm>
            <a:off x="1353312" y="4379976"/>
            <a:ext cx="9546336" cy="667512"/>
          </a:xfrm>
          <a:prstGeom prst="rect">
            <a:avLst/>
          </a:prstGeom>
          <a:noFill/>
          <a:ln/>
        </p:spPr>
        <p:txBody>
          <a:bodyPr wrap="square" lIns="254" tIns="254" rIns="254" bIns="254" rtlCol="0" anchor="ctr">
            <a:normAutofit/>
          </a:bodyPr>
          <a:lstStyle/>
          <a:p>
            <a:r>
              <a:rPr lang="en-US" sz="1550" dirty="0">
                <a:solidFill>
                  <a:srgbClr val="1E2B32"/>
                </a:solidFill>
              </a:rPr>
              <a:t>MLA must not be treated as a special exception. </a:t>
            </a:r>
            <a:r>
              <a:rPr lang="en-GB" sz="1550" dirty="0">
                <a:solidFill>
                  <a:srgbClr val="1E2B32"/>
                </a:solidFill>
              </a:rPr>
              <a:t>Existing principles continue to apply. Additional evidence must address data, learned behaviour, uncertainty and the integrated safety response.</a:t>
            </a:r>
            <a:endParaRPr lang="en-GB" sz="1550" dirty="0"/>
          </a:p>
        </p:txBody>
      </p:sp>
      <p:sp>
        <p:nvSpPr>
          <p:cNvPr id="15" name="Text 13"/>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abstract and preface: DO-178C is a baseline; additional evidence is required for model behaviour, data and operational drift.</a:t>
            </a:r>
            <a:endParaRPr lang="en-US" sz="750" dirty="0"/>
          </a:p>
        </p:txBody>
      </p:sp>
      <p:sp>
        <p:nvSpPr>
          <p:cNvPr id="16" name="Text 14"/>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7" name="Text 15"/>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3</a:t>
            </a:r>
          </a:p>
        </p:txBody>
      </p:sp>
      <p:sp>
        <p:nvSpPr>
          <p:cNvPr id="19" name="Plus Sign 18">
            <a:extLst>
              <a:ext uri="{FF2B5EF4-FFF2-40B4-BE49-F238E27FC236}">
                <a16:creationId xmlns:a16="http://schemas.microsoft.com/office/drawing/2014/main" id="{0412FC3B-CF95-2F01-D10D-8DA76F5C8B16}"/>
              </a:ext>
            </a:extLst>
          </p:cNvPr>
          <p:cNvSpPr/>
          <p:nvPr/>
        </p:nvSpPr>
        <p:spPr>
          <a:xfrm>
            <a:off x="5576460" y="2707400"/>
            <a:ext cx="1008600" cy="1008600"/>
          </a:xfrm>
          <a:prstGeom prst="mathPlus">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Purpose, scope and boundary conditions</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Definition of the scope of applicability.</a:t>
            </a:r>
            <a:endParaRPr lang="en-US" sz="1250" dirty="0"/>
          </a:p>
        </p:txBody>
      </p:sp>
      <p:sp>
        <p:nvSpPr>
          <p:cNvPr id="6" name="Shape 4"/>
          <p:cNvSpPr/>
          <p:nvPr/>
        </p:nvSpPr>
        <p:spPr>
          <a:xfrm>
            <a:off x="777240" y="1325880"/>
            <a:ext cx="5029200" cy="457200"/>
          </a:xfrm>
          <a:prstGeom prst="roundRect">
            <a:avLst>
              <a:gd name="adj" fmla="val 16000"/>
            </a:avLst>
          </a:prstGeom>
          <a:solidFill>
            <a:srgbClr val="4C9A5F"/>
          </a:solidFill>
          <a:ln w="12700">
            <a:solidFill>
              <a:srgbClr val="4C9A5F"/>
            </a:solidFill>
            <a:prstDash val="solid"/>
          </a:ln>
        </p:spPr>
        <p:txBody>
          <a:bodyPr/>
          <a:lstStyle/>
          <a:p>
            <a:endParaRPr/>
          </a:p>
        </p:txBody>
      </p:sp>
      <p:sp>
        <p:nvSpPr>
          <p:cNvPr id="7" name="Text 5"/>
          <p:cNvSpPr/>
          <p:nvPr/>
        </p:nvSpPr>
        <p:spPr>
          <a:xfrm>
            <a:off x="886968" y="1399032"/>
            <a:ext cx="480974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In scope</a:t>
            </a:r>
            <a:endParaRPr lang="en-US" sz="1500" dirty="0"/>
          </a:p>
        </p:txBody>
      </p:sp>
      <p:sp>
        <p:nvSpPr>
          <p:cNvPr id="8" name="Text 6"/>
          <p:cNvSpPr/>
          <p:nvPr/>
        </p:nvSpPr>
        <p:spPr>
          <a:xfrm>
            <a:off x="960120" y="1965960"/>
            <a:ext cx="4663440" cy="1645920"/>
          </a:xfrm>
          <a:prstGeom prst="rect">
            <a:avLst/>
          </a:prstGeom>
          <a:noFill/>
          <a:ln/>
        </p:spPr>
        <p:txBody>
          <a:bodyPr wrap="square" lIns="254" tIns="254" rIns="254" bIns="254" rtlCol="0" anchor="ctr">
            <a:normAutofit/>
          </a:bodyPr>
          <a:lstStyle/>
          <a:p>
            <a:r>
              <a:rPr lang="en-US" sz="1500" dirty="0">
                <a:solidFill>
                  <a:srgbClr val="1E2B32"/>
                </a:solidFill>
              </a:rPr>
              <a:t>Supervised, offline-trained ML models.</a:t>
            </a:r>
            <a:endParaRPr lang="en-US" sz="1500" dirty="0"/>
          </a:p>
          <a:p>
            <a:r>
              <a:rPr lang="en-US" sz="1500" dirty="0">
                <a:solidFill>
                  <a:srgbClr val="1E2B32"/>
                </a:solidFill>
              </a:rPr>
              <a:t>Classifiers, perception, decision support, anomaly detection and optimisation.</a:t>
            </a:r>
            <a:endParaRPr lang="en-US" sz="1500" dirty="0"/>
          </a:p>
          <a:p>
            <a:r>
              <a:rPr lang="en-US" sz="1500" dirty="0">
                <a:solidFill>
                  <a:srgbClr val="1E2B32"/>
                </a:solidFill>
              </a:rPr>
              <a:t>Airborne and operationally influencing systems including ground support, mission planning, maintenance and training.</a:t>
            </a:r>
            <a:endParaRPr lang="en-US" sz="1500" dirty="0"/>
          </a:p>
        </p:txBody>
      </p:sp>
      <p:sp>
        <p:nvSpPr>
          <p:cNvPr id="9" name="Shape 7"/>
          <p:cNvSpPr/>
          <p:nvPr/>
        </p:nvSpPr>
        <p:spPr>
          <a:xfrm>
            <a:off x="6400800" y="1325880"/>
            <a:ext cx="5029200" cy="457200"/>
          </a:xfrm>
          <a:prstGeom prst="roundRect">
            <a:avLst>
              <a:gd name="adj" fmla="val 16000"/>
            </a:avLst>
          </a:prstGeom>
          <a:solidFill>
            <a:srgbClr val="D34B43"/>
          </a:solidFill>
          <a:ln w="12700">
            <a:solidFill>
              <a:srgbClr val="D34B43"/>
            </a:solidFill>
            <a:prstDash val="solid"/>
          </a:ln>
        </p:spPr>
        <p:txBody>
          <a:bodyPr/>
          <a:lstStyle/>
          <a:p>
            <a:endParaRPr/>
          </a:p>
        </p:txBody>
      </p:sp>
      <p:sp>
        <p:nvSpPr>
          <p:cNvPr id="10" name="Text 8"/>
          <p:cNvSpPr/>
          <p:nvPr/>
        </p:nvSpPr>
        <p:spPr>
          <a:xfrm>
            <a:off x="6510528" y="1399032"/>
            <a:ext cx="480974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Out of scope / not approved by this argument</a:t>
            </a:r>
            <a:endParaRPr lang="en-US" sz="1500" dirty="0"/>
          </a:p>
        </p:txBody>
      </p:sp>
      <p:sp>
        <p:nvSpPr>
          <p:cNvPr id="11" name="Text 9"/>
          <p:cNvSpPr/>
          <p:nvPr/>
        </p:nvSpPr>
        <p:spPr>
          <a:xfrm>
            <a:off x="6583680" y="1965960"/>
            <a:ext cx="4663440" cy="1645920"/>
          </a:xfrm>
          <a:prstGeom prst="rect">
            <a:avLst/>
          </a:prstGeom>
          <a:noFill/>
          <a:ln/>
        </p:spPr>
        <p:txBody>
          <a:bodyPr wrap="square" lIns="254" tIns="254" rIns="254" bIns="254" rtlCol="0" anchor="ctr">
            <a:normAutofit/>
          </a:bodyPr>
          <a:lstStyle/>
          <a:p>
            <a:r>
              <a:rPr lang="en-US" sz="1500" dirty="0">
                <a:solidFill>
                  <a:srgbClr val="1E2B32"/>
                </a:solidFill>
              </a:rPr>
              <a:t>Adaptive in-service learning</a:t>
            </a:r>
            <a:endParaRPr lang="en-US" sz="1500" dirty="0"/>
          </a:p>
          <a:p>
            <a:r>
              <a:rPr lang="en-US" sz="1500" dirty="0">
                <a:solidFill>
                  <a:srgbClr val="1E2B32"/>
                </a:solidFill>
              </a:rPr>
              <a:t>Autonomous lethal decision-making</a:t>
            </a:r>
            <a:endParaRPr lang="en-US" sz="1500" dirty="0"/>
          </a:p>
          <a:p>
            <a:r>
              <a:rPr lang="en-US" sz="1500" dirty="0">
                <a:solidFill>
                  <a:srgbClr val="1E2B32"/>
                </a:solidFill>
              </a:rPr>
              <a:t>Uncontrolled online model updates</a:t>
            </a:r>
            <a:endParaRPr lang="en-US" sz="1500" dirty="0"/>
          </a:p>
          <a:p>
            <a:r>
              <a:rPr lang="en-US" sz="1500" dirty="0">
                <a:solidFill>
                  <a:srgbClr val="1E2B32"/>
                </a:solidFill>
              </a:rPr>
              <a:t>Opaque third-party foundation model dependency</a:t>
            </a:r>
            <a:endParaRPr lang="en-US" sz="1500" dirty="0"/>
          </a:p>
          <a:p>
            <a:r>
              <a:rPr lang="en-US" sz="1500" dirty="0">
                <a:solidFill>
                  <a:srgbClr val="1E2B32"/>
                </a:solidFill>
              </a:rPr>
              <a:t>Any deployment without agreed certification and safety basis</a:t>
            </a:r>
            <a:endParaRPr lang="en-US" sz="1500" dirty="0"/>
          </a:p>
        </p:txBody>
      </p:sp>
      <p:sp>
        <p:nvSpPr>
          <p:cNvPr id="12" name="Shape 10"/>
          <p:cNvSpPr/>
          <p:nvPr/>
        </p:nvSpPr>
        <p:spPr>
          <a:xfrm>
            <a:off x="1097280" y="4800600"/>
            <a:ext cx="9966960" cy="685800"/>
          </a:xfrm>
          <a:prstGeom prst="roundRect">
            <a:avLst>
              <a:gd name="adj" fmla="val 10667"/>
            </a:avLst>
          </a:prstGeom>
          <a:solidFill>
            <a:srgbClr val="FFFFFF"/>
          </a:solidFill>
          <a:ln w="15240">
            <a:solidFill>
              <a:srgbClr val="0F7C80"/>
            </a:solidFill>
            <a:prstDash val="solid"/>
          </a:ln>
        </p:spPr>
        <p:txBody>
          <a:bodyPr/>
          <a:lstStyle/>
          <a:p>
            <a:endParaRPr/>
          </a:p>
        </p:txBody>
      </p:sp>
      <p:sp>
        <p:nvSpPr>
          <p:cNvPr id="13" name="Text 11"/>
          <p:cNvSpPr/>
          <p:nvPr/>
        </p:nvSpPr>
        <p:spPr>
          <a:xfrm>
            <a:off x="1261872" y="4928616"/>
            <a:ext cx="9637776" cy="484632"/>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Default, safe stance: freeze the model, configuration control the datasets/tools/parameters, bound the output within a deterministic failsafe architecture, and treat retraining as a formal change.</a:t>
            </a:r>
            <a:endParaRPr lang="en-US" sz="1550" dirty="0"/>
          </a:p>
        </p:txBody>
      </p:sp>
      <p:sp>
        <p:nvSpPr>
          <p:cNvPr id="14" name="Text 12"/>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5" name="Text 13"/>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High-level certification flow</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Treat the flow as iterative, not as a simple waterfall schedule.</a:t>
            </a:r>
            <a:endParaRPr lang="en-US" sz="1250" dirty="0"/>
          </a:p>
        </p:txBody>
      </p:sp>
      <p:pic>
        <p:nvPicPr>
          <p:cNvPr id="6" name="Image 0" descr="/mnt/data/docx_media/image1.png"/>
          <p:cNvPicPr>
            <a:picLocks noChangeAspect="1"/>
          </p:cNvPicPr>
          <p:nvPr/>
        </p:nvPicPr>
        <p:blipFill>
          <a:blip r:embed="rId3"/>
          <a:stretch>
            <a:fillRect/>
          </a:stretch>
        </p:blipFill>
        <p:spPr>
          <a:xfrm>
            <a:off x="1492517" y="1143000"/>
            <a:ext cx="3050005" cy="5074920"/>
          </a:xfrm>
          <a:prstGeom prst="rect">
            <a:avLst/>
          </a:prstGeom>
        </p:spPr>
      </p:pic>
      <p:sp>
        <p:nvSpPr>
          <p:cNvPr id="7" name="Text 4"/>
          <p:cNvSpPr/>
          <p:nvPr/>
        </p:nvSpPr>
        <p:spPr>
          <a:xfrm>
            <a:off x="5760720" y="1325880"/>
            <a:ext cx="5715000" cy="2194560"/>
          </a:xfrm>
          <a:prstGeom prst="rect">
            <a:avLst/>
          </a:prstGeom>
          <a:noFill/>
          <a:ln/>
        </p:spPr>
        <p:txBody>
          <a:bodyPr wrap="square" lIns="254" tIns="254" rIns="254" bIns="254" rtlCol="0" anchor="ctr">
            <a:normAutofit fontScale="92500" lnSpcReduction="20000"/>
          </a:bodyPr>
          <a:lstStyle/>
          <a:p>
            <a:r>
              <a:rPr lang="en-US" sz="1600" dirty="0">
                <a:solidFill>
                  <a:srgbClr val="1E2B32"/>
                </a:solidFill>
              </a:rPr>
              <a:t>The initial concepting and provision of a safety assessment define the certification basis and DAL early.</a:t>
            </a:r>
          </a:p>
          <a:p>
            <a:endParaRPr lang="en-US" sz="1600" dirty="0"/>
          </a:p>
          <a:p>
            <a:r>
              <a:rPr lang="en-US" sz="1600" dirty="0">
                <a:solidFill>
                  <a:srgbClr val="1E2B32"/>
                </a:solidFill>
              </a:rPr>
              <a:t>ML requirements and dataset definition must sit alongside system requirements.</a:t>
            </a:r>
          </a:p>
          <a:p>
            <a:endParaRPr lang="en-US" sz="1600" dirty="0"/>
          </a:p>
          <a:p>
            <a:r>
              <a:rPr lang="en-US" sz="1600" dirty="0">
                <a:solidFill>
                  <a:srgbClr val="1E2B32"/>
                </a:solidFill>
              </a:rPr>
              <a:t>Model training, software implementation and integrated verification converge before SIL, HIL and flight test. </a:t>
            </a:r>
          </a:p>
          <a:p>
            <a:endParaRPr lang="en-US" sz="1600" dirty="0"/>
          </a:p>
          <a:p>
            <a:r>
              <a:rPr lang="en-US" sz="1600" dirty="0">
                <a:solidFill>
                  <a:srgbClr val="1E2B32"/>
                </a:solidFill>
              </a:rPr>
              <a:t>Authority engagement, issue closure and evidence funding are programme dependencies, not late-stage admin.</a:t>
            </a:r>
            <a:endParaRPr lang="en-US" sz="1600" dirty="0"/>
          </a:p>
        </p:txBody>
      </p:sp>
      <p:sp>
        <p:nvSpPr>
          <p:cNvPr id="8" name="Shape 5"/>
          <p:cNvSpPr/>
          <p:nvPr/>
        </p:nvSpPr>
        <p:spPr>
          <a:xfrm>
            <a:off x="5760720" y="3991442"/>
            <a:ext cx="5715000" cy="2061886"/>
          </a:xfrm>
          <a:prstGeom prst="roundRect">
            <a:avLst>
              <a:gd name="adj" fmla="val 8000"/>
            </a:avLst>
          </a:prstGeom>
          <a:solidFill>
            <a:srgbClr val="ECE9FF"/>
          </a:solidFill>
          <a:ln w="15240">
            <a:solidFill>
              <a:srgbClr val="7461D1"/>
            </a:solidFill>
            <a:prstDash val="solid"/>
          </a:ln>
        </p:spPr>
        <p:txBody>
          <a:bodyPr/>
          <a:lstStyle/>
          <a:p>
            <a:endParaRPr/>
          </a:p>
        </p:txBody>
      </p:sp>
      <p:sp>
        <p:nvSpPr>
          <p:cNvPr id="9" name="Text 6"/>
          <p:cNvSpPr/>
          <p:nvPr/>
        </p:nvSpPr>
        <p:spPr>
          <a:xfrm>
            <a:off x="5978106" y="4071667"/>
            <a:ext cx="5150142" cy="2091389"/>
          </a:xfrm>
          <a:prstGeom prst="rect">
            <a:avLst/>
          </a:prstGeom>
          <a:noFill/>
          <a:ln/>
        </p:spPr>
        <p:txBody>
          <a:bodyPr wrap="square" lIns="254" tIns="254" rIns="254" bIns="254" rtlCol="0" anchor="ctr">
            <a:normAutofit fontScale="92500"/>
          </a:bodyPr>
          <a:lstStyle/>
          <a:p>
            <a:pPr marL="0" indent="0">
              <a:buNone/>
            </a:pPr>
            <a:r>
              <a:rPr lang="en-US" sz="1550" dirty="0">
                <a:solidFill>
                  <a:srgbClr val="1E2B32"/>
                </a:solidFill>
              </a:rPr>
              <a:t>To support project level confidence: </a:t>
            </a:r>
          </a:p>
          <a:p>
            <a:pPr marL="285750" indent="-285750">
              <a:buFont typeface="Arial" panose="020B0604020202020204" pitchFamily="34" charset="0"/>
              <a:buChar char="•"/>
            </a:pPr>
            <a:r>
              <a:rPr lang="en-US" sz="1550" dirty="0">
                <a:solidFill>
                  <a:srgbClr val="1E2B32"/>
                </a:solidFill>
              </a:rPr>
              <a:t>Each box is an evidence decision point. </a:t>
            </a:r>
          </a:p>
          <a:p>
            <a:pPr marL="285750" indent="-285750">
              <a:buFont typeface="Arial" panose="020B0604020202020204" pitchFamily="34" charset="0"/>
              <a:buChar char="•"/>
            </a:pPr>
            <a:r>
              <a:rPr lang="en-US" sz="1550" dirty="0">
                <a:solidFill>
                  <a:srgbClr val="1E2B32"/>
                </a:solidFill>
              </a:rPr>
              <a:t>The question is not “did the model perform?” but “does the evidence still apply to the configured system?”</a:t>
            </a:r>
          </a:p>
          <a:p>
            <a:pPr marL="285750" indent="-285750">
              <a:buFont typeface="Arial" panose="020B0604020202020204" pitchFamily="34" charset="0"/>
              <a:buChar char="•"/>
            </a:pPr>
            <a:r>
              <a:rPr lang="en-US" sz="1550" dirty="0"/>
              <a:t>Software implementation progresses alongside ML training and validation allowing for </a:t>
            </a:r>
            <a:r>
              <a:rPr lang="en-US" sz="1550" dirty="0" err="1"/>
              <a:t>parallelised</a:t>
            </a:r>
            <a:r>
              <a:rPr lang="en-US" sz="1550" dirty="0"/>
              <a:t>, specialist team support.</a:t>
            </a:r>
          </a:p>
          <a:p>
            <a:pPr marL="285750" indent="-285750">
              <a:buFont typeface="Arial" panose="020B0604020202020204" pitchFamily="34" charset="0"/>
              <a:buChar char="•"/>
            </a:pPr>
            <a:r>
              <a:rPr lang="en-US" sz="1550" dirty="0"/>
              <a:t>Unit / SW/SW / HW/SW and Acceptance testing remains the point at which functional </a:t>
            </a:r>
            <a:r>
              <a:rPr lang="en-US" sz="1550" dirty="0" err="1"/>
              <a:t>behaviour</a:t>
            </a:r>
            <a:r>
              <a:rPr lang="en-US" sz="1550" dirty="0"/>
              <a:t> is confirmed across levels of integration maturity.</a:t>
            </a:r>
          </a:p>
          <a:p>
            <a:pPr marL="285750" indent="-285750">
              <a:buFont typeface="Arial" panose="020B0604020202020204" pitchFamily="34" charset="0"/>
              <a:buChar char="•"/>
            </a:pPr>
            <a:endParaRPr lang="en-US" sz="1550" dirty="0"/>
          </a:p>
        </p:txBody>
      </p:sp>
      <p:sp>
        <p:nvSpPr>
          <p:cNvPr id="10" name="Text 7"/>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Figure 1, p.11.</a:t>
            </a:r>
            <a:endParaRPr lang="en-US" sz="750" dirty="0"/>
          </a:p>
        </p:txBody>
      </p:sp>
      <p:sp>
        <p:nvSpPr>
          <p:cNvPr id="11" name="Text 8"/>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2" name="Text 9"/>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Safety assessment first</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MLA hazards must be explicit before safety functions are allocated.</a:t>
            </a:r>
            <a:endParaRPr lang="en-US" sz="1250" dirty="0"/>
          </a:p>
        </p:txBody>
      </p:sp>
      <p:pic>
        <p:nvPicPr>
          <p:cNvPr id="6" name="Image 0" descr="/mnt/data/docx_media/image2.png"/>
          <p:cNvPicPr>
            <a:picLocks noChangeAspect="1"/>
          </p:cNvPicPr>
          <p:nvPr/>
        </p:nvPicPr>
        <p:blipFill>
          <a:blip r:embed="rId3"/>
          <a:stretch>
            <a:fillRect/>
          </a:stretch>
        </p:blipFill>
        <p:spPr>
          <a:xfrm>
            <a:off x="594360" y="1608727"/>
            <a:ext cx="5303520" cy="577306"/>
          </a:xfrm>
          <a:prstGeom prst="rect">
            <a:avLst/>
          </a:prstGeom>
        </p:spPr>
      </p:pic>
      <p:sp>
        <p:nvSpPr>
          <p:cNvPr id="7" name="Shape 4"/>
          <p:cNvSpPr/>
          <p:nvPr/>
        </p:nvSpPr>
        <p:spPr>
          <a:xfrm>
            <a:off x="777240" y="3246120"/>
            <a:ext cx="1508760" cy="475488"/>
          </a:xfrm>
          <a:prstGeom prst="rect">
            <a:avLst/>
          </a:prstGeom>
          <a:solidFill>
            <a:srgbClr val="0E2A3B"/>
          </a:solidFill>
          <a:ln w="10160">
            <a:solidFill>
              <a:srgbClr val="FFFFFF"/>
            </a:solidFill>
            <a:prstDash val="solid"/>
          </a:ln>
        </p:spPr>
        <p:txBody>
          <a:bodyPr/>
          <a:lstStyle/>
          <a:p>
            <a:endParaRPr/>
          </a:p>
        </p:txBody>
      </p:sp>
      <p:sp>
        <p:nvSpPr>
          <p:cNvPr id="8" name="Text 5"/>
          <p:cNvSpPr/>
          <p:nvPr/>
        </p:nvSpPr>
        <p:spPr>
          <a:xfrm>
            <a:off x="822960" y="3328416"/>
            <a:ext cx="1417320" cy="365760"/>
          </a:xfrm>
          <a:prstGeom prst="rect">
            <a:avLst/>
          </a:prstGeom>
          <a:noFill/>
          <a:ln/>
        </p:spPr>
        <p:txBody>
          <a:bodyPr wrap="square" lIns="0" tIns="0" rIns="0" bIns="0" rtlCol="0" anchor="ctr">
            <a:normAutofit/>
          </a:bodyPr>
          <a:lstStyle/>
          <a:p>
            <a:pPr marL="0" indent="0">
              <a:buNone/>
            </a:pPr>
            <a:r>
              <a:rPr lang="en-US" sz="950" b="1" dirty="0">
                <a:solidFill>
                  <a:srgbClr val="FFFFFF"/>
                </a:solidFill>
              </a:rPr>
              <a:t>Factor</a:t>
            </a:r>
            <a:endParaRPr lang="en-US" sz="950" dirty="0"/>
          </a:p>
        </p:txBody>
      </p:sp>
      <p:sp>
        <p:nvSpPr>
          <p:cNvPr id="9" name="Shape 6"/>
          <p:cNvSpPr/>
          <p:nvPr/>
        </p:nvSpPr>
        <p:spPr>
          <a:xfrm>
            <a:off x="2286000" y="3246120"/>
            <a:ext cx="1143000" cy="475488"/>
          </a:xfrm>
          <a:prstGeom prst="rect">
            <a:avLst/>
          </a:prstGeom>
          <a:solidFill>
            <a:srgbClr val="0E2A3B"/>
          </a:solidFill>
          <a:ln w="10160">
            <a:solidFill>
              <a:srgbClr val="FFFFFF"/>
            </a:solidFill>
            <a:prstDash val="solid"/>
          </a:ln>
        </p:spPr>
        <p:txBody>
          <a:bodyPr/>
          <a:lstStyle/>
          <a:p>
            <a:endParaRPr/>
          </a:p>
        </p:txBody>
      </p:sp>
      <p:sp>
        <p:nvSpPr>
          <p:cNvPr id="10" name="Text 7"/>
          <p:cNvSpPr/>
          <p:nvPr/>
        </p:nvSpPr>
        <p:spPr>
          <a:xfrm>
            <a:off x="2331720" y="3328416"/>
            <a:ext cx="1051560" cy="365760"/>
          </a:xfrm>
          <a:prstGeom prst="rect">
            <a:avLst/>
          </a:prstGeom>
          <a:noFill/>
          <a:ln/>
        </p:spPr>
        <p:txBody>
          <a:bodyPr wrap="square" lIns="0" tIns="0" rIns="0" bIns="0" rtlCol="0" anchor="ctr">
            <a:normAutofit/>
          </a:bodyPr>
          <a:lstStyle/>
          <a:p>
            <a:pPr marL="0" indent="0">
              <a:buNone/>
            </a:pPr>
            <a:r>
              <a:rPr lang="en-US" sz="950" b="1" dirty="0">
                <a:solidFill>
                  <a:srgbClr val="FFFFFF"/>
                </a:solidFill>
              </a:rPr>
              <a:t>Low concern</a:t>
            </a:r>
            <a:endParaRPr lang="en-US" sz="950" dirty="0"/>
          </a:p>
        </p:txBody>
      </p:sp>
      <p:sp>
        <p:nvSpPr>
          <p:cNvPr id="11" name="Shape 8"/>
          <p:cNvSpPr/>
          <p:nvPr/>
        </p:nvSpPr>
        <p:spPr>
          <a:xfrm>
            <a:off x="3429000" y="3246120"/>
            <a:ext cx="1325880" cy="475488"/>
          </a:xfrm>
          <a:prstGeom prst="rect">
            <a:avLst/>
          </a:prstGeom>
          <a:solidFill>
            <a:srgbClr val="0E2A3B"/>
          </a:solidFill>
          <a:ln w="10160">
            <a:solidFill>
              <a:srgbClr val="FFFFFF"/>
            </a:solidFill>
            <a:prstDash val="solid"/>
          </a:ln>
        </p:spPr>
        <p:txBody>
          <a:bodyPr/>
          <a:lstStyle/>
          <a:p>
            <a:endParaRPr/>
          </a:p>
        </p:txBody>
      </p:sp>
      <p:sp>
        <p:nvSpPr>
          <p:cNvPr id="12" name="Text 9"/>
          <p:cNvSpPr/>
          <p:nvPr/>
        </p:nvSpPr>
        <p:spPr>
          <a:xfrm>
            <a:off x="3474720" y="3328416"/>
            <a:ext cx="1234440" cy="365760"/>
          </a:xfrm>
          <a:prstGeom prst="rect">
            <a:avLst/>
          </a:prstGeom>
          <a:noFill/>
          <a:ln/>
        </p:spPr>
        <p:txBody>
          <a:bodyPr wrap="square" lIns="0" tIns="0" rIns="0" bIns="0" rtlCol="0" anchor="ctr">
            <a:normAutofit/>
          </a:bodyPr>
          <a:lstStyle/>
          <a:p>
            <a:pPr marL="0" indent="0">
              <a:buNone/>
            </a:pPr>
            <a:r>
              <a:rPr lang="en-US" sz="950" b="1" dirty="0">
                <a:solidFill>
                  <a:srgbClr val="FFFFFF"/>
                </a:solidFill>
              </a:rPr>
              <a:t>Medium concern</a:t>
            </a:r>
            <a:endParaRPr lang="en-US" sz="950" dirty="0"/>
          </a:p>
        </p:txBody>
      </p:sp>
      <p:sp>
        <p:nvSpPr>
          <p:cNvPr id="13" name="Shape 10"/>
          <p:cNvSpPr/>
          <p:nvPr/>
        </p:nvSpPr>
        <p:spPr>
          <a:xfrm>
            <a:off x="4754880" y="3246120"/>
            <a:ext cx="1051560" cy="475488"/>
          </a:xfrm>
          <a:prstGeom prst="rect">
            <a:avLst/>
          </a:prstGeom>
          <a:solidFill>
            <a:srgbClr val="0E2A3B"/>
          </a:solidFill>
          <a:ln w="10160">
            <a:solidFill>
              <a:srgbClr val="FFFFFF"/>
            </a:solidFill>
            <a:prstDash val="solid"/>
          </a:ln>
        </p:spPr>
        <p:txBody>
          <a:bodyPr/>
          <a:lstStyle/>
          <a:p>
            <a:endParaRPr/>
          </a:p>
        </p:txBody>
      </p:sp>
      <p:sp>
        <p:nvSpPr>
          <p:cNvPr id="14" name="Text 11"/>
          <p:cNvSpPr/>
          <p:nvPr/>
        </p:nvSpPr>
        <p:spPr>
          <a:xfrm>
            <a:off x="4800600" y="3328416"/>
            <a:ext cx="960120" cy="365760"/>
          </a:xfrm>
          <a:prstGeom prst="rect">
            <a:avLst/>
          </a:prstGeom>
          <a:noFill/>
          <a:ln/>
        </p:spPr>
        <p:txBody>
          <a:bodyPr wrap="square" lIns="0" tIns="0" rIns="0" bIns="0" rtlCol="0" anchor="ctr">
            <a:normAutofit/>
          </a:bodyPr>
          <a:lstStyle/>
          <a:p>
            <a:pPr marL="0" indent="0">
              <a:buNone/>
            </a:pPr>
            <a:r>
              <a:rPr lang="en-US" sz="950" b="1" dirty="0">
                <a:solidFill>
                  <a:srgbClr val="FFFFFF"/>
                </a:solidFill>
              </a:rPr>
              <a:t>High concern</a:t>
            </a:r>
            <a:endParaRPr lang="en-US" sz="950" dirty="0"/>
          </a:p>
        </p:txBody>
      </p:sp>
      <p:sp>
        <p:nvSpPr>
          <p:cNvPr id="15" name="Shape 12"/>
          <p:cNvSpPr/>
          <p:nvPr/>
        </p:nvSpPr>
        <p:spPr>
          <a:xfrm>
            <a:off x="777240" y="3721608"/>
            <a:ext cx="1508760" cy="475488"/>
          </a:xfrm>
          <a:prstGeom prst="rect">
            <a:avLst/>
          </a:prstGeom>
          <a:solidFill>
            <a:srgbClr val="DCEAF6"/>
          </a:solidFill>
          <a:ln w="10160">
            <a:solidFill>
              <a:srgbClr val="FFFFFF"/>
            </a:solidFill>
            <a:prstDash val="solid"/>
          </a:ln>
        </p:spPr>
        <p:txBody>
          <a:bodyPr/>
          <a:lstStyle/>
          <a:p>
            <a:endParaRPr/>
          </a:p>
        </p:txBody>
      </p:sp>
      <p:sp>
        <p:nvSpPr>
          <p:cNvPr id="16" name="Text 13"/>
          <p:cNvSpPr/>
          <p:nvPr/>
        </p:nvSpPr>
        <p:spPr>
          <a:xfrm>
            <a:off x="822960" y="3803904"/>
            <a:ext cx="1417320" cy="365760"/>
          </a:xfrm>
          <a:prstGeom prst="rect">
            <a:avLst/>
          </a:prstGeom>
          <a:noFill/>
          <a:ln/>
        </p:spPr>
        <p:txBody>
          <a:bodyPr wrap="square" lIns="0" tIns="0" rIns="0" bIns="0" rtlCol="0" anchor="ctr">
            <a:normAutofit/>
          </a:bodyPr>
          <a:lstStyle/>
          <a:p>
            <a:pPr marL="0" indent="0">
              <a:buNone/>
            </a:pPr>
            <a:r>
              <a:rPr lang="en-US" sz="950" b="1" dirty="0">
                <a:solidFill>
                  <a:srgbClr val="1E2B32"/>
                </a:solidFill>
              </a:rPr>
              <a:t>Function criticality</a:t>
            </a:r>
            <a:endParaRPr lang="en-US" sz="950" dirty="0"/>
          </a:p>
        </p:txBody>
      </p:sp>
      <p:sp>
        <p:nvSpPr>
          <p:cNvPr id="17" name="Shape 14"/>
          <p:cNvSpPr/>
          <p:nvPr/>
        </p:nvSpPr>
        <p:spPr>
          <a:xfrm>
            <a:off x="2286000" y="3721608"/>
            <a:ext cx="1143000" cy="475488"/>
          </a:xfrm>
          <a:prstGeom prst="rect">
            <a:avLst/>
          </a:prstGeom>
          <a:solidFill>
            <a:srgbClr val="F8D868"/>
          </a:solidFill>
          <a:ln w="10160">
            <a:solidFill>
              <a:srgbClr val="FFFFFF"/>
            </a:solidFill>
            <a:prstDash val="solid"/>
          </a:ln>
        </p:spPr>
        <p:txBody>
          <a:bodyPr/>
          <a:lstStyle/>
          <a:p>
            <a:endParaRPr/>
          </a:p>
        </p:txBody>
      </p:sp>
      <p:sp>
        <p:nvSpPr>
          <p:cNvPr id="18" name="Text 15"/>
          <p:cNvSpPr/>
          <p:nvPr/>
        </p:nvSpPr>
        <p:spPr>
          <a:xfrm>
            <a:off x="2331720" y="3803904"/>
            <a:ext cx="105156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Advisory</a:t>
            </a:r>
            <a:endParaRPr lang="en-US" sz="950" dirty="0"/>
          </a:p>
        </p:txBody>
      </p:sp>
      <p:sp>
        <p:nvSpPr>
          <p:cNvPr id="19" name="Shape 16"/>
          <p:cNvSpPr/>
          <p:nvPr/>
        </p:nvSpPr>
        <p:spPr>
          <a:xfrm>
            <a:off x="3429000" y="3721608"/>
            <a:ext cx="1325880" cy="475488"/>
          </a:xfrm>
          <a:prstGeom prst="rect">
            <a:avLst/>
          </a:prstGeom>
          <a:solidFill>
            <a:srgbClr val="F2A65A"/>
          </a:solidFill>
          <a:ln w="10160">
            <a:solidFill>
              <a:srgbClr val="FFFFFF"/>
            </a:solidFill>
            <a:prstDash val="solid"/>
          </a:ln>
        </p:spPr>
        <p:txBody>
          <a:bodyPr/>
          <a:lstStyle/>
          <a:p>
            <a:endParaRPr/>
          </a:p>
        </p:txBody>
      </p:sp>
      <p:sp>
        <p:nvSpPr>
          <p:cNvPr id="20" name="Text 17"/>
          <p:cNvSpPr/>
          <p:nvPr/>
        </p:nvSpPr>
        <p:spPr>
          <a:xfrm>
            <a:off x="3474720" y="3803904"/>
            <a:ext cx="123444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Influences operator</a:t>
            </a:r>
            <a:endParaRPr lang="en-US" sz="950" dirty="0"/>
          </a:p>
        </p:txBody>
      </p:sp>
      <p:sp>
        <p:nvSpPr>
          <p:cNvPr id="21" name="Shape 18"/>
          <p:cNvSpPr/>
          <p:nvPr/>
        </p:nvSpPr>
        <p:spPr>
          <a:xfrm>
            <a:off x="4754880" y="3721608"/>
            <a:ext cx="1051560" cy="475488"/>
          </a:xfrm>
          <a:prstGeom prst="rect">
            <a:avLst/>
          </a:prstGeom>
          <a:solidFill>
            <a:srgbClr val="D34B43"/>
          </a:solidFill>
          <a:ln w="10160">
            <a:solidFill>
              <a:srgbClr val="FFFFFF"/>
            </a:solidFill>
            <a:prstDash val="solid"/>
          </a:ln>
        </p:spPr>
        <p:txBody>
          <a:bodyPr/>
          <a:lstStyle/>
          <a:p>
            <a:endParaRPr/>
          </a:p>
        </p:txBody>
      </p:sp>
      <p:sp>
        <p:nvSpPr>
          <p:cNvPr id="22" name="Text 19"/>
          <p:cNvSpPr/>
          <p:nvPr/>
        </p:nvSpPr>
        <p:spPr>
          <a:xfrm>
            <a:off x="4800600" y="3803904"/>
            <a:ext cx="96012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Affects control</a:t>
            </a:r>
            <a:endParaRPr lang="en-US" sz="950" dirty="0"/>
          </a:p>
        </p:txBody>
      </p:sp>
      <p:sp>
        <p:nvSpPr>
          <p:cNvPr id="23" name="Shape 20"/>
          <p:cNvSpPr/>
          <p:nvPr/>
        </p:nvSpPr>
        <p:spPr>
          <a:xfrm>
            <a:off x="777240" y="4197096"/>
            <a:ext cx="1508760" cy="475488"/>
          </a:xfrm>
          <a:prstGeom prst="rect">
            <a:avLst/>
          </a:prstGeom>
          <a:solidFill>
            <a:srgbClr val="DCEAF6"/>
          </a:solidFill>
          <a:ln w="10160">
            <a:solidFill>
              <a:srgbClr val="FFFFFF"/>
            </a:solidFill>
            <a:prstDash val="solid"/>
          </a:ln>
        </p:spPr>
        <p:txBody>
          <a:bodyPr/>
          <a:lstStyle/>
          <a:p>
            <a:endParaRPr/>
          </a:p>
        </p:txBody>
      </p:sp>
      <p:sp>
        <p:nvSpPr>
          <p:cNvPr id="24" name="Text 21"/>
          <p:cNvSpPr/>
          <p:nvPr/>
        </p:nvSpPr>
        <p:spPr>
          <a:xfrm>
            <a:off x="822960" y="4279392"/>
            <a:ext cx="1417320" cy="365760"/>
          </a:xfrm>
          <a:prstGeom prst="rect">
            <a:avLst/>
          </a:prstGeom>
          <a:noFill/>
          <a:ln/>
        </p:spPr>
        <p:txBody>
          <a:bodyPr wrap="square" lIns="0" tIns="0" rIns="0" bIns="0" rtlCol="0" anchor="ctr">
            <a:normAutofit/>
          </a:bodyPr>
          <a:lstStyle/>
          <a:p>
            <a:pPr marL="0" indent="0">
              <a:buNone/>
            </a:pPr>
            <a:r>
              <a:rPr lang="en-US" sz="950" b="1" dirty="0">
                <a:solidFill>
                  <a:srgbClr val="1E2B32"/>
                </a:solidFill>
              </a:rPr>
              <a:t>Model authority</a:t>
            </a:r>
            <a:endParaRPr lang="en-US" sz="950" dirty="0"/>
          </a:p>
        </p:txBody>
      </p:sp>
      <p:sp>
        <p:nvSpPr>
          <p:cNvPr id="25" name="Shape 22"/>
          <p:cNvSpPr/>
          <p:nvPr/>
        </p:nvSpPr>
        <p:spPr>
          <a:xfrm>
            <a:off x="2286000" y="4197096"/>
            <a:ext cx="1143000" cy="475488"/>
          </a:xfrm>
          <a:prstGeom prst="rect">
            <a:avLst/>
          </a:prstGeom>
          <a:solidFill>
            <a:srgbClr val="F8D868"/>
          </a:solidFill>
          <a:ln w="10160">
            <a:solidFill>
              <a:srgbClr val="FFFFFF"/>
            </a:solidFill>
            <a:prstDash val="solid"/>
          </a:ln>
        </p:spPr>
        <p:txBody>
          <a:bodyPr/>
          <a:lstStyle/>
          <a:p>
            <a:endParaRPr/>
          </a:p>
        </p:txBody>
      </p:sp>
      <p:sp>
        <p:nvSpPr>
          <p:cNvPr id="26" name="Text 23"/>
          <p:cNvSpPr/>
          <p:nvPr/>
        </p:nvSpPr>
        <p:spPr>
          <a:xfrm>
            <a:off x="2331720" y="4279392"/>
            <a:ext cx="105156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Recommendation</a:t>
            </a:r>
            <a:endParaRPr lang="en-US" sz="950" dirty="0"/>
          </a:p>
        </p:txBody>
      </p:sp>
      <p:sp>
        <p:nvSpPr>
          <p:cNvPr id="27" name="Shape 24"/>
          <p:cNvSpPr/>
          <p:nvPr/>
        </p:nvSpPr>
        <p:spPr>
          <a:xfrm>
            <a:off x="3429000" y="4197096"/>
            <a:ext cx="1325880" cy="475488"/>
          </a:xfrm>
          <a:prstGeom prst="rect">
            <a:avLst/>
          </a:prstGeom>
          <a:solidFill>
            <a:srgbClr val="F2A65A"/>
          </a:solidFill>
          <a:ln w="10160">
            <a:solidFill>
              <a:srgbClr val="FFFFFF"/>
            </a:solidFill>
            <a:prstDash val="solid"/>
          </a:ln>
        </p:spPr>
        <p:txBody>
          <a:bodyPr/>
          <a:lstStyle/>
          <a:p>
            <a:endParaRPr/>
          </a:p>
        </p:txBody>
      </p:sp>
      <p:sp>
        <p:nvSpPr>
          <p:cNvPr id="28" name="Text 25"/>
          <p:cNvSpPr/>
          <p:nvPr/>
        </p:nvSpPr>
        <p:spPr>
          <a:xfrm>
            <a:off x="3474720" y="4279392"/>
            <a:ext cx="123444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Bounded decision</a:t>
            </a:r>
            <a:endParaRPr lang="en-US" sz="950" dirty="0"/>
          </a:p>
        </p:txBody>
      </p:sp>
      <p:sp>
        <p:nvSpPr>
          <p:cNvPr id="29" name="Shape 26"/>
          <p:cNvSpPr/>
          <p:nvPr/>
        </p:nvSpPr>
        <p:spPr>
          <a:xfrm>
            <a:off x="4754880" y="4197096"/>
            <a:ext cx="1051560" cy="475488"/>
          </a:xfrm>
          <a:prstGeom prst="rect">
            <a:avLst/>
          </a:prstGeom>
          <a:solidFill>
            <a:srgbClr val="D34B43"/>
          </a:solidFill>
          <a:ln w="10160">
            <a:solidFill>
              <a:srgbClr val="FFFFFF"/>
            </a:solidFill>
            <a:prstDash val="solid"/>
          </a:ln>
        </p:spPr>
        <p:txBody>
          <a:bodyPr/>
          <a:lstStyle/>
          <a:p>
            <a:endParaRPr/>
          </a:p>
        </p:txBody>
      </p:sp>
      <p:sp>
        <p:nvSpPr>
          <p:cNvPr id="30" name="Text 27"/>
          <p:cNvSpPr/>
          <p:nvPr/>
        </p:nvSpPr>
        <p:spPr>
          <a:xfrm>
            <a:off x="4800600" y="4279392"/>
            <a:ext cx="96012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Autonomous action</a:t>
            </a:r>
            <a:endParaRPr lang="en-US" sz="950" dirty="0"/>
          </a:p>
        </p:txBody>
      </p:sp>
      <p:sp>
        <p:nvSpPr>
          <p:cNvPr id="31" name="Shape 28"/>
          <p:cNvSpPr/>
          <p:nvPr/>
        </p:nvSpPr>
        <p:spPr>
          <a:xfrm>
            <a:off x="777240" y="4672584"/>
            <a:ext cx="1508760" cy="475488"/>
          </a:xfrm>
          <a:prstGeom prst="rect">
            <a:avLst/>
          </a:prstGeom>
          <a:solidFill>
            <a:srgbClr val="DCEAF6"/>
          </a:solidFill>
          <a:ln w="10160">
            <a:solidFill>
              <a:srgbClr val="FFFFFF"/>
            </a:solidFill>
            <a:prstDash val="solid"/>
          </a:ln>
        </p:spPr>
        <p:txBody>
          <a:bodyPr/>
          <a:lstStyle/>
          <a:p>
            <a:endParaRPr/>
          </a:p>
        </p:txBody>
      </p:sp>
      <p:sp>
        <p:nvSpPr>
          <p:cNvPr id="32" name="Text 29"/>
          <p:cNvSpPr/>
          <p:nvPr/>
        </p:nvSpPr>
        <p:spPr>
          <a:xfrm>
            <a:off x="822960" y="4754880"/>
            <a:ext cx="1417320" cy="365760"/>
          </a:xfrm>
          <a:prstGeom prst="rect">
            <a:avLst/>
          </a:prstGeom>
          <a:noFill/>
          <a:ln/>
        </p:spPr>
        <p:txBody>
          <a:bodyPr wrap="square" lIns="0" tIns="0" rIns="0" bIns="0" rtlCol="0" anchor="ctr">
            <a:normAutofit/>
          </a:bodyPr>
          <a:lstStyle/>
          <a:p>
            <a:pPr marL="0" indent="0">
              <a:buNone/>
            </a:pPr>
            <a:r>
              <a:rPr lang="en-US" sz="950" b="1" dirty="0">
                <a:solidFill>
                  <a:srgbClr val="1E2B32"/>
                </a:solidFill>
              </a:rPr>
              <a:t>Explainability</a:t>
            </a:r>
            <a:endParaRPr lang="en-US" sz="950" dirty="0"/>
          </a:p>
        </p:txBody>
      </p:sp>
      <p:sp>
        <p:nvSpPr>
          <p:cNvPr id="33" name="Shape 30"/>
          <p:cNvSpPr/>
          <p:nvPr/>
        </p:nvSpPr>
        <p:spPr>
          <a:xfrm>
            <a:off x="2286000" y="4672584"/>
            <a:ext cx="1143000" cy="475488"/>
          </a:xfrm>
          <a:prstGeom prst="rect">
            <a:avLst/>
          </a:prstGeom>
          <a:solidFill>
            <a:srgbClr val="F8D868"/>
          </a:solidFill>
          <a:ln w="10160">
            <a:solidFill>
              <a:srgbClr val="FFFFFF"/>
            </a:solidFill>
            <a:prstDash val="solid"/>
          </a:ln>
        </p:spPr>
        <p:txBody>
          <a:bodyPr/>
          <a:lstStyle/>
          <a:p>
            <a:endParaRPr/>
          </a:p>
        </p:txBody>
      </p:sp>
      <p:sp>
        <p:nvSpPr>
          <p:cNvPr id="34" name="Text 31"/>
          <p:cNvSpPr/>
          <p:nvPr/>
        </p:nvSpPr>
        <p:spPr>
          <a:xfrm>
            <a:off x="2331720" y="4754880"/>
            <a:ext cx="105156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Clear rationale</a:t>
            </a:r>
            <a:endParaRPr lang="en-US" sz="950" dirty="0"/>
          </a:p>
        </p:txBody>
      </p:sp>
      <p:sp>
        <p:nvSpPr>
          <p:cNvPr id="35" name="Shape 32"/>
          <p:cNvSpPr/>
          <p:nvPr/>
        </p:nvSpPr>
        <p:spPr>
          <a:xfrm>
            <a:off x="3429000" y="4672584"/>
            <a:ext cx="1325880" cy="475488"/>
          </a:xfrm>
          <a:prstGeom prst="rect">
            <a:avLst/>
          </a:prstGeom>
          <a:solidFill>
            <a:srgbClr val="F2A65A"/>
          </a:solidFill>
          <a:ln w="10160">
            <a:solidFill>
              <a:srgbClr val="FFFFFF"/>
            </a:solidFill>
            <a:prstDash val="solid"/>
          </a:ln>
        </p:spPr>
        <p:txBody>
          <a:bodyPr/>
          <a:lstStyle/>
          <a:p>
            <a:endParaRPr/>
          </a:p>
        </p:txBody>
      </p:sp>
      <p:sp>
        <p:nvSpPr>
          <p:cNvPr id="36" name="Text 33"/>
          <p:cNvSpPr/>
          <p:nvPr/>
        </p:nvSpPr>
        <p:spPr>
          <a:xfrm>
            <a:off x="3474720" y="4754880"/>
            <a:ext cx="123444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Partial rationale</a:t>
            </a:r>
            <a:endParaRPr lang="en-US" sz="950" dirty="0"/>
          </a:p>
        </p:txBody>
      </p:sp>
      <p:sp>
        <p:nvSpPr>
          <p:cNvPr id="37" name="Shape 34"/>
          <p:cNvSpPr/>
          <p:nvPr/>
        </p:nvSpPr>
        <p:spPr>
          <a:xfrm>
            <a:off x="4754880" y="4672584"/>
            <a:ext cx="1051560" cy="475488"/>
          </a:xfrm>
          <a:prstGeom prst="rect">
            <a:avLst/>
          </a:prstGeom>
          <a:solidFill>
            <a:srgbClr val="D34B43"/>
          </a:solidFill>
          <a:ln w="10160">
            <a:solidFill>
              <a:srgbClr val="FFFFFF"/>
            </a:solidFill>
            <a:prstDash val="solid"/>
          </a:ln>
        </p:spPr>
        <p:txBody>
          <a:bodyPr/>
          <a:lstStyle/>
          <a:p>
            <a:endParaRPr/>
          </a:p>
        </p:txBody>
      </p:sp>
      <p:sp>
        <p:nvSpPr>
          <p:cNvPr id="38" name="Text 35"/>
          <p:cNvSpPr/>
          <p:nvPr/>
        </p:nvSpPr>
        <p:spPr>
          <a:xfrm>
            <a:off x="4800600" y="4754880"/>
            <a:ext cx="96012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Opaque output</a:t>
            </a:r>
            <a:endParaRPr lang="en-US" sz="950" dirty="0"/>
          </a:p>
        </p:txBody>
      </p:sp>
      <p:sp>
        <p:nvSpPr>
          <p:cNvPr id="39" name="Shape 36"/>
          <p:cNvSpPr/>
          <p:nvPr/>
        </p:nvSpPr>
        <p:spPr>
          <a:xfrm>
            <a:off x="777240" y="5148072"/>
            <a:ext cx="1508760" cy="475488"/>
          </a:xfrm>
          <a:prstGeom prst="rect">
            <a:avLst/>
          </a:prstGeom>
          <a:solidFill>
            <a:srgbClr val="DCEAF6"/>
          </a:solidFill>
          <a:ln w="10160">
            <a:solidFill>
              <a:srgbClr val="FFFFFF"/>
            </a:solidFill>
            <a:prstDash val="solid"/>
          </a:ln>
        </p:spPr>
        <p:txBody>
          <a:bodyPr/>
          <a:lstStyle/>
          <a:p>
            <a:endParaRPr/>
          </a:p>
        </p:txBody>
      </p:sp>
      <p:sp>
        <p:nvSpPr>
          <p:cNvPr id="40" name="Text 37"/>
          <p:cNvSpPr/>
          <p:nvPr/>
        </p:nvSpPr>
        <p:spPr>
          <a:xfrm>
            <a:off x="822960" y="5230368"/>
            <a:ext cx="1417320" cy="365760"/>
          </a:xfrm>
          <a:prstGeom prst="rect">
            <a:avLst/>
          </a:prstGeom>
          <a:noFill/>
          <a:ln/>
        </p:spPr>
        <p:txBody>
          <a:bodyPr wrap="square" lIns="0" tIns="0" rIns="0" bIns="0" rtlCol="0" anchor="ctr">
            <a:normAutofit/>
          </a:bodyPr>
          <a:lstStyle/>
          <a:p>
            <a:pPr marL="0" indent="0">
              <a:buNone/>
            </a:pPr>
            <a:r>
              <a:rPr lang="en-US" sz="950" b="1" dirty="0">
                <a:solidFill>
                  <a:srgbClr val="1E2B32"/>
                </a:solidFill>
              </a:rPr>
              <a:t>ODD containment</a:t>
            </a:r>
            <a:endParaRPr lang="en-US" sz="950" dirty="0"/>
          </a:p>
        </p:txBody>
      </p:sp>
      <p:sp>
        <p:nvSpPr>
          <p:cNvPr id="41" name="Shape 38"/>
          <p:cNvSpPr/>
          <p:nvPr/>
        </p:nvSpPr>
        <p:spPr>
          <a:xfrm>
            <a:off x="2286000" y="5148072"/>
            <a:ext cx="1143000" cy="475488"/>
          </a:xfrm>
          <a:prstGeom prst="rect">
            <a:avLst/>
          </a:prstGeom>
          <a:solidFill>
            <a:srgbClr val="F8D868"/>
          </a:solidFill>
          <a:ln w="10160">
            <a:solidFill>
              <a:srgbClr val="FFFFFF"/>
            </a:solidFill>
            <a:prstDash val="solid"/>
          </a:ln>
        </p:spPr>
        <p:txBody>
          <a:bodyPr/>
          <a:lstStyle/>
          <a:p>
            <a:endParaRPr/>
          </a:p>
        </p:txBody>
      </p:sp>
      <p:sp>
        <p:nvSpPr>
          <p:cNvPr id="42" name="Text 39"/>
          <p:cNvSpPr/>
          <p:nvPr/>
        </p:nvSpPr>
        <p:spPr>
          <a:xfrm>
            <a:off x="2331720" y="5230368"/>
            <a:ext cx="105156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Well defined</a:t>
            </a:r>
            <a:endParaRPr lang="en-US" sz="950" dirty="0"/>
          </a:p>
        </p:txBody>
      </p:sp>
      <p:sp>
        <p:nvSpPr>
          <p:cNvPr id="43" name="Shape 40"/>
          <p:cNvSpPr/>
          <p:nvPr/>
        </p:nvSpPr>
        <p:spPr>
          <a:xfrm>
            <a:off x="3429000" y="5148072"/>
            <a:ext cx="1325880" cy="475488"/>
          </a:xfrm>
          <a:prstGeom prst="rect">
            <a:avLst/>
          </a:prstGeom>
          <a:solidFill>
            <a:srgbClr val="F2A65A"/>
          </a:solidFill>
          <a:ln w="10160">
            <a:solidFill>
              <a:srgbClr val="FFFFFF"/>
            </a:solidFill>
            <a:prstDash val="solid"/>
          </a:ln>
        </p:spPr>
        <p:txBody>
          <a:bodyPr/>
          <a:lstStyle/>
          <a:p>
            <a:endParaRPr/>
          </a:p>
        </p:txBody>
      </p:sp>
      <p:sp>
        <p:nvSpPr>
          <p:cNvPr id="44" name="Text 41"/>
          <p:cNvSpPr/>
          <p:nvPr/>
        </p:nvSpPr>
        <p:spPr>
          <a:xfrm>
            <a:off x="3474720" y="5230368"/>
            <a:ext cx="123444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Partially monitored</a:t>
            </a:r>
            <a:endParaRPr lang="en-US" sz="950" dirty="0"/>
          </a:p>
        </p:txBody>
      </p:sp>
      <p:sp>
        <p:nvSpPr>
          <p:cNvPr id="45" name="Shape 42"/>
          <p:cNvSpPr/>
          <p:nvPr/>
        </p:nvSpPr>
        <p:spPr>
          <a:xfrm>
            <a:off x="4754880" y="5148072"/>
            <a:ext cx="1051560" cy="475488"/>
          </a:xfrm>
          <a:prstGeom prst="rect">
            <a:avLst/>
          </a:prstGeom>
          <a:solidFill>
            <a:srgbClr val="D34B43"/>
          </a:solidFill>
          <a:ln w="10160">
            <a:solidFill>
              <a:srgbClr val="FFFFFF"/>
            </a:solidFill>
            <a:prstDash val="solid"/>
          </a:ln>
        </p:spPr>
        <p:txBody>
          <a:bodyPr/>
          <a:lstStyle/>
          <a:p>
            <a:endParaRPr/>
          </a:p>
        </p:txBody>
      </p:sp>
      <p:sp>
        <p:nvSpPr>
          <p:cNvPr id="46" name="Text 43"/>
          <p:cNvSpPr/>
          <p:nvPr/>
        </p:nvSpPr>
        <p:spPr>
          <a:xfrm>
            <a:off x="4800600" y="5230368"/>
            <a:ext cx="96012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Poorly bounded</a:t>
            </a:r>
            <a:endParaRPr lang="en-US" sz="950" dirty="0"/>
          </a:p>
        </p:txBody>
      </p:sp>
      <p:sp>
        <p:nvSpPr>
          <p:cNvPr id="47" name="Shape 44"/>
          <p:cNvSpPr/>
          <p:nvPr/>
        </p:nvSpPr>
        <p:spPr>
          <a:xfrm>
            <a:off x="777240" y="5623560"/>
            <a:ext cx="1508760" cy="475488"/>
          </a:xfrm>
          <a:prstGeom prst="rect">
            <a:avLst/>
          </a:prstGeom>
          <a:solidFill>
            <a:srgbClr val="DCEAF6"/>
          </a:solidFill>
          <a:ln w="10160">
            <a:solidFill>
              <a:srgbClr val="FFFFFF"/>
            </a:solidFill>
            <a:prstDash val="solid"/>
          </a:ln>
        </p:spPr>
        <p:txBody>
          <a:bodyPr/>
          <a:lstStyle/>
          <a:p>
            <a:endParaRPr/>
          </a:p>
        </p:txBody>
      </p:sp>
      <p:sp>
        <p:nvSpPr>
          <p:cNvPr id="48" name="Text 45"/>
          <p:cNvSpPr/>
          <p:nvPr/>
        </p:nvSpPr>
        <p:spPr>
          <a:xfrm>
            <a:off x="822960" y="5705856"/>
            <a:ext cx="1417320" cy="365760"/>
          </a:xfrm>
          <a:prstGeom prst="rect">
            <a:avLst/>
          </a:prstGeom>
          <a:noFill/>
          <a:ln/>
        </p:spPr>
        <p:txBody>
          <a:bodyPr wrap="square" lIns="0" tIns="0" rIns="0" bIns="0" rtlCol="0" anchor="ctr">
            <a:normAutofit/>
          </a:bodyPr>
          <a:lstStyle/>
          <a:p>
            <a:pPr marL="0" indent="0">
              <a:buNone/>
            </a:pPr>
            <a:r>
              <a:rPr lang="en-US" sz="950" b="1" dirty="0">
                <a:solidFill>
                  <a:srgbClr val="1E2B32"/>
                </a:solidFill>
              </a:rPr>
              <a:t>Fallback</a:t>
            </a:r>
            <a:endParaRPr lang="en-US" sz="950" dirty="0"/>
          </a:p>
        </p:txBody>
      </p:sp>
      <p:sp>
        <p:nvSpPr>
          <p:cNvPr id="49" name="Shape 46"/>
          <p:cNvSpPr/>
          <p:nvPr/>
        </p:nvSpPr>
        <p:spPr>
          <a:xfrm>
            <a:off x="2286000" y="5623560"/>
            <a:ext cx="1143000" cy="475488"/>
          </a:xfrm>
          <a:prstGeom prst="rect">
            <a:avLst/>
          </a:prstGeom>
          <a:solidFill>
            <a:srgbClr val="F8D868"/>
          </a:solidFill>
          <a:ln w="10160">
            <a:solidFill>
              <a:srgbClr val="FFFFFF"/>
            </a:solidFill>
            <a:prstDash val="solid"/>
          </a:ln>
        </p:spPr>
        <p:txBody>
          <a:bodyPr/>
          <a:lstStyle/>
          <a:p>
            <a:endParaRPr/>
          </a:p>
        </p:txBody>
      </p:sp>
      <p:sp>
        <p:nvSpPr>
          <p:cNvPr id="50" name="Text 47"/>
          <p:cNvSpPr/>
          <p:nvPr/>
        </p:nvSpPr>
        <p:spPr>
          <a:xfrm>
            <a:off x="2331720" y="5705856"/>
            <a:ext cx="105156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Deterministic</a:t>
            </a:r>
            <a:endParaRPr lang="en-US" sz="950" dirty="0"/>
          </a:p>
        </p:txBody>
      </p:sp>
      <p:sp>
        <p:nvSpPr>
          <p:cNvPr id="51" name="Shape 48"/>
          <p:cNvSpPr/>
          <p:nvPr/>
        </p:nvSpPr>
        <p:spPr>
          <a:xfrm>
            <a:off x="3429000" y="5623560"/>
            <a:ext cx="1325880" cy="475488"/>
          </a:xfrm>
          <a:prstGeom prst="rect">
            <a:avLst/>
          </a:prstGeom>
          <a:solidFill>
            <a:srgbClr val="F2A65A"/>
          </a:solidFill>
          <a:ln w="10160">
            <a:solidFill>
              <a:srgbClr val="FFFFFF"/>
            </a:solidFill>
            <a:prstDash val="solid"/>
          </a:ln>
        </p:spPr>
        <p:txBody>
          <a:bodyPr/>
          <a:lstStyle/>
          <a:p>
            <a:endParaRPr/>
          </a:p>
        </p:txBody>
      </p:sp>
      <p:sp>
        <p:nvSpPr>
          <p:cNvPr id="52" name="Text 49"/>
          <p:cNvSpPr/>
          <p:nvPr/>
        </p:nvSpPr>
        <p:spPr>
          <a:xfrm>
            <a:off x="3474720" y="5705856"/>
            <a:ext cx="123444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Verified human</a:t>
            </a:r>
            <a:endParaRPr lang="en-US" sz="950" dirty="0"/>
          </a:p>
        </p:txBody>
      </p:sp>
      <p:sp>
        <p:nvSpPr>
          <p:cNvPr id="53" name="Shape 50"/>
          <p:cNvSpPr/>
          <p:nvPr/>
        </p:nvSpPr>
        <p:spPr>
          <a:xfrm>
            <a:off x="4754880" y="5623560"/>
            <a:ext cx="1051560" cy="475488"/>
          </a:xfrm>
          <a:prstGeom prst="rect">
            <a:avLst/>
          </a:prstGeom>
          <a:solidFill>
            <a:srgbClr val="D34B43"/>
          </a:solidFill>
          <a:ln w="10160">
            <a:solidFill>
              <a:srgbClr val="FFFFFF"/>
            </a:solidFill>
            <a:prstDash val="solid"/>
          </a:ln>
        </p:spPr>
        <p:txBody>
          <a:bodyPr/>
          <a:lstStyle/>
          <a:p>
            <a:endParaRPr/>
          </a:p>
        </p:txBody>
      </p:sp>
      <p:sp>
        <p:nvSpPr>
          <p:cNvPr id="54" name="Text 51"/>
          <p:cNvSpPr/>
          <p:nvPr/>
        </p:nvSpPr>
        <p:spPr>
          <a:xfrm>
            <a:off x="4800600" y="5705856"/>
            <a:ext cx="960120" cy="365760"/>
          </a:xfrm>
          <a:prstGeom prst="rect">
            <a:avLst/>
          </a:prstGeom>
          <a:noFill/>
          <a:ln/>
        </p:spPr>
        <p:txBody>
          <a:bodyPr wrap="square" lIns="0" tIns="0" rIns="0" bIns="0" rtlCol="0" anchor="ctr">
            <a:normAutofit/>
          </a:bodyPr>
          <a:lstStyle/>
          <a:p>
            <a:pPr marL="0" indent="0">
              <a:buNone/>
            </a:pPr>
            <a:r>
              <a:rPr lang="en-US" sz="950" dirty="0">
                <a:solidFill>
                  <a:srgbClr val="1E2B32"/>
                </a:solidFill>
              </a:rPr>
              <a:t>No fallback</a:t>
            </a:r>
            <a:endParaRPr lang="en-US" sz="950" dirty="0"/>
          </a:p>
        </p:txBody>
      </p:sp>
      <p:sp>
        <p:nvSpPr>
          <p:cNvPr id="55" name="Text 52"/>
          <p:cNvSpPr/>
          <p:nvPr/>
        </p:nvSpPr>
        <p:spPr>
          <a:xfrm>
            <a:off x="6172200" y="1325880"/>
            <a:ext cx="5303520" cy="1920240"/>
          </a:xfrm>
          <a:prstGeom prst="rect">
            <a:avLst/>
          </a:prstGeom>
          <a:noFill/>
          <a:ln/>
        </p:spPr>
        <p:txBody>
          <a:bodyPr wrap="square" lIns="254" tIns="254" rIns="254" bIns="254" rtlCol="0" anchor="ctr">
            <a:normAutofit lnSpcReduction="10000"/>
          </a:bodyPr>
          <a:lstStyle/>
          <a:p>
            <a:r>
              <a:rPr lang="en-US" sz="1600" dirty="0">
                <a:solidFill>
                  <a:srgbClr val="1E2B32"/>
                </a:solidFill>
              </a:rPr>
              <a:t>The application of a suitability matrix provides a concrete decision screen.</a:t>
            </a:r>
          </a:p>
          <a:p>
            <a:endParaRPr lang="en-US" sz="1600" dirty="0"/>
          </a:p>
          <a:p>
            <a:r>
              <a:rPr lang="en-US" sz="1600" dirty="0">
                <a:solidFill>
                  <a:srgbClr val="1E2B32"/>
                </a:solidFill>
              </a:rPr>
              <a:t>High-criticality, opaque, unbounded or no-fallback cases should be de-scoped, downgraded or isolated.</a:t>
            </a:r>
          </a:p>
          <a:p>
            <a:endParaRPr lang="en-US" sz="1600" dirty="0"/>
          </a:p>
          <a:p>
            <a:r>
              <a:rPr lang="en-US" sz="1600" dirty="0">
                <a:solidFill>
                  <a:srgbClr val="1E2B32"/>
                </a:solidFill>
              </a:rPr>
              <a:t>The safety architecture (not model confidence alone) determines whether MLA can be credited.</a:t>
            </a:r>
            <a:endParaRPr lang="en-US" sz="1600" dirty="0"/>
          </a:p>
        </p:txBody>
      </p:sp>
      <p:sp>
        <p:nvSpPr>
          <p:cNvPr id="56" name="Shape 53"/>
          <p:cNvSpPr/>
          <p:nvPr/>
        </p:nvSpPr>
        <p:spPr>
          <a:xfrm>
            <a:off x="6309360" y="4096512"/>
            <a:ext cx="4983480" cy="1609344"/>
          </a:xfrm>
          <a:prstGeom prst="roundRect">
            <a:avLst>
              <a:gd name="adj" fmla="val 8000"/>
            </a:avLst>
          </a:prstGeom>
          <a:solidFill>
            <a:srgbClr val="FFFFFF"/>
          </a:solidFill>
          <a:ln w="15240">
            <a:solidFill>
              <a:srgbClr val="D34B43"/>
            </a:solidFill>
            <a:prstDash val="solid"/>
          </a:ln>
        </p:spPr>
        <p:txBody>
          <a:bodyPr/>
          <a:lstStyle/>
          <a:p>
            <a:endParaRPr/>
          </a:p>
        </p:txBody>
      </p:sp>
      <p:sp>
        <p:nvSpPr>
          <p:cNvPr id="57" name="Text 54"/>
          <p:cNvSpPr/>
          <p:nvPr/>
        </p:nvSpPr>
        <p:spPr>
          <a:xfrm>
            <a:off x="6473952" y="4197096"/>
            <a:ext cx="4654296" cy="1426464"/>
          </a:xfrm>
          <a:prstGeom prst="rect">
            <a:avLst/>
          </a:prstGeom>
          <a:noFill/>
          <a:ln/>
        </p:spPr>
        <p:txBody>
          <a:bodyPr wrap="square" lIns="254" tIns="254" rIns="254" bIns="254" rtlCol="0" anchor="ctr">
            <a:normAutofit fontScale="92500" lnSpcReduction="10000"/>
          </a:bodyPr>
          <a:lstStyle/>
          <a:p>
            <a:pPr marL="0" indent="0">
              <a:buNone/>
            </a:pPr>
            <a:r>
              <a:rPr lang="en-US" sz="1550" dirty="0">
                <a:solidFill>
                  <a:srgbClr val="1E2B32"/>
                </a:solidFill>
              </a:rPr>
              <a:t>Need for action: projects need a repeatable “go / constrain / stop” mechanism before AI becomes embedded in the design.</a:t>
            </a:r>
          </a:p>
          <a:p>
            <a:pPr marL="0" indent="0">
              <a:buNone/>
            </a:pPr>
            <a:endParaRPr lang="en-US" sz="1550" dirty="0">
              <a:solidFill>
                <a:srgbClr val="1E2B32"/>
              </a:solidFill>
            </a:endParaRPr>
          </a:p>
          <a:p>
            <a:pPr marL="0" indent="0">
              <a:buNone/>
            </a:pPr>
            <a:r>
              <a:rPr lang="en-US" sz="1550" dirty="0">
                <a:solidFill>
                  <a:srgbClr val="1E2B32"/>
                </a:solidFill>
              </a:rPr>
              <a:t>Successfully performing this assessment, establishing a concern threshold, and applying this consistently, will avoid pitfalls around the individual consideration of any factor.</a:t>
            </a:r>
            <a:endParaRPr lang="en-US" sz="1550" dirty="0"/>
          </a:p>
        </p:txBody>
      </p:sp>
      <p:sp>
        <p:nvSpPr>
          <p:cNvPr id="58" name="Text 55"/>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Figure 2, p.12 and Table 2, p.13.</a:t>
            </a:r>
            <a:endParaRPr lang="en-US" sz="750" dirty="0"/>
          </a:p>
        </p:txBody>
      </p:sp>
      <p:sp>
        <p:nvSpPr>
          <p:cNvPr id="59" name="Text 56"/>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60" name="Text 57"/>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Architecture principle</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Make the system boundary deterministic even when the model is statistical.</a:t>
            </a:r>
            <a:endParaRPr lang="en-US" sz="1250" dirty="0"/>
          </a:p>
        </p:txBody>
      </p:sp>
      <p:sp>
        <p:nvSpPr>
          <p:cNvPr id="6" name="Shape 4"/>
          <p:cNvSpPr/>
          <p:nvPr/>
        </p:nvSpPr>
        <p:spPr>
          <a:xfrm>
            <a:off x="2194560" y="1874520"/>
            <a:ext cx="1645920" cy="0"/>
          </a:xfrm>
          <a:prstGeom prst="line">
            <a:avLst/>
          </a:prstGeom>
          <a:noFill/>
          <a:ln w="17780">
            <a:solidFill>
              <a:srgbClr val="35566B"/>
            </a:solidFill>
            <a:prstDash val="solid"/>
            <a:headEnd type="none"/>
            <a:tailEnd type="triangle"/>
          </a:ln>
        </p:spPr>
        <p:txBody>
          <a:bodyPr/>
          <a:lstStyle/>
          <a:p>
            <a:endParaRPr/>
          </a:p>
        </p:txBody>
      </p:sp>
      <p:sp>
        <p:nvSpPr>
          <p:cNvPr id="7" name="Shape 5"/>
          <p:cNvSpPr/>
          <p:nvPr/>
        </p:nvSpPr>
        <p:spPr>
          <a:xfrm>
            <a:off x="4983480" y="1874520"/>
            <a:ext cx="2610612" cy="0"/>
          </a:xfrm>
          <a:prstGeom prst="line">
            <a:avLst/>
          </a:prstGeom>
          <a:noFill/>
          <a:ln w="17780">
            <a:solidFill>
              <a:srgbClr val="35566B"/>
            </a:solidFill>
            <a:prstDash val="solid"/>
            <a:headEnd type="none"/>
            <a:tailEnd type="triangle"/>
          </a:ln>
        </p:spPr>
        <p:txBody>
          <a:bodyPr/>
          <a:lstStyle/>
          <a:p>
            <a:endParaRPr/>
          </a:p>
        </p:txBody>
      </p:sp>
      <p:sp>
        <p:nvSpPr>
          <p:cNvPr id="8" name="Shape 6"/>
          <p:cNvSpPr/>
          <p:nvPr/>
        </p:nvSpPr>
        <p:spPr>
          <a:xfrm>
            <a:off x="8778240" y="1874520"/>
            <a:ext cx="1280160" cy="0"/>
          </a:xfrm>
          <a:prstGeom prst="line">
            <a:avLst/>
          </a:prstGeom>
          <a:noFill/>
          <a:ln w="17780">
            <a:solidFill>
              <a:srgbClr val="35566B"/>
            </a:solidFill>
            <a:prstDash val="solid"/>
            <a:headEnd type="none"/>
            <a:tailEnd type="triangle"/>
          </a:ln>
        </p:spPr>
        <p:txBody>
          <a:bodyPr/>
          <a:lstStyle/>
          <a:p>
            <a:endParaRPr/>
          </a:p>
        </p:txBody>
      </p:sp>
      <p:sp>
        <p:nvSpPr>
          <p:cNvPr id="9" name="Shape 7"/>
          <p:cNvSpPr/>
          <p:nvPr/>
        </p:nvSpPr>
        <p:spPr>
          <a:xfrm>
            <a:off x="4232119" y="2240280"/>
            <a:ext cx="0" cy="1463040"/>
          </a:xfrm>
          <a:prstGeom prst="line">
            <a:avLst/>
          </a:prstGeom>
          <a:noFill/>
          <a:ln w="17780">
            <a:solidFill>
              <a:srgbClr val="0F7C80"/>
            </a:solidFill>
            <a:prstDash val="solid"/>
            <a:headEnd type="none"/>
            <a:tailEnd type="triangle"/>
          </a:ln>
        </p:spPr>
        <p:txBody>
          <a:bodyPr/>
          <a:lstStyle/>
          <a:p>
            <a:endParaRPr/>
          </a:p>
        </p:txBody>
      </p:sp>
      <p:sp>
        <p:nvSpPr>
          <p:cNvPr id="10" name="Shape 8"/>
          <p:cNvSpPr/>
          <p:nvPr/>
        </p:nvSpPr>
        <p:spPr>
          <a:xfrm>
            <a:off x="731520" y="1508760"/>
            <a:ext cx="1737360" cy="731520"/>
          </a:xfrm>
          <a:prstGeom prst="roundRect">
            <a:avLst>
              <a:gd name="adj" fmla="val 8750"/>
            </a:avLst>
          </a:prstGeom>
          <a:solidFill>
            <a:srgbClr val="DCEAF6"/>
          </a:solidFill>
          <a:ln w="15240">
            <a:solidFill>
              <a:srgbClr val="2F67B1"/>
            </a:solidFill>
            <a:prstDash val="solid"/>
          </a:ln>
        </p:spPr>
        <p:txBody>
          <a:bodyPr/>
          <a:lstStyle/>
          <a:p>
            <a:endParaRPr/>
          </a:p>
        </p:txBody>
      </p:sp>
      <p:sp>
        <p:nvSpPr>
          <p:cNvPr id="11" name="Text 9"/>
          <p:cNvSpPr/>
          <p:nvPr/>
        </p:nvSpPr>
        <p:spPr>
          <a:xfrm>
            <a:off x="813816" y="1581912"/>
            <a:ext cx="1572768" cy="603504"/>
          </a:xfrm>
          <a:prstGeom prst="rect">
            <a:avLst/>
          </a:prstGeom>
          <a:noFill/>
          <a:ln/>
        </p:spPr>
        <p:txBody>
          <a:bodyPr wrap="square" lIns="0" tIns="0" rIns="0" bIns="0" rtlCol="0" anchor="ctr">
            <a:normAutofit/>
          </a:bodyPr>
          <a:lstStyle/>
          <a:p>
            <a:pPr marL="0" indent="0" algn="ctr">
              <a:buNone/>
            </a:pPr>
            <a:r>
              <a:rPr lang="en-US" sz="1400" dirty="0">
                <a:solidFill>
                  <a:srgbClr val="1E2B32"/>
                </a:solidFill>
              </a:rPr>
              <a:t>Constrained</a:t>
            </a:r>
            <a:endParaRPr lang="en-US" sz="1400" dirty="0"/>
          </a:p>
          <a:p>
            <a:pPr marL="0" indent="0" algn="ctr">
              <a:buNone/>
            </a:pPr>
            <a:r>
              <a:rPr lang="en-US" sz="1400" dirty="0">
                <a:solidFill>
                  <a:srgbClr val="1E2B32"/>
                </a:solidFill>
              </a:rPr>
              <a:t>inputs</a:t>
            </a:r>
            <a:endParaRPr lang="en-US" sz="1400" dirty="0"/>
          </a:p>
        </p:txBody>
      </p:sp>
      <p:sp>
        <p:nvSpPr>
          <p:cNvPr id="12" name="Shape 10"/>
          <p:cNvSpPr/>
          <p:nvPr/>
        </p:nvSpPr>
        <p:spPr>
          <a:xfrm>
            <a:off x="2971800" y="1508760"/>
            <a:ext cx="2011680" cy="731520"/>
          </a:xfrm>
          <a:prstGeom prst="roundRect">
            <a:avLst>
              <a:gd name="adj" fmla="val 8750"/>
            </a:avLst>
          </a:prstGeom>
          <a:solidFill>
            <a:srgbClr val="ECE9FF"/>
          </a:solidFill>
          <a:ln w="15240">
            <a:solidFill>
              <a:srgbClr val="7461D1"/>
            </a:solidFill>
            <a:prstDash val="solid"/>
          </a:ln>
        </p:spPr>
        <p:txBody>
          <a:bodyPr/>
          <a:lstStyle/>
          <a:p>
            <a:endParaRPr/>
          </a:p>
        </p:txBody>
      </p:sp>
      <p:sp>
        <p:nvSpPr>
          <p:cNvPr id="13" name="Text 11"/>
          <p:cNvSpPr/>
          <p:nvPr/>
        </p:nvSpPr>
        <p:spPr>
          <a:xfrm>
            <a:off x="2980944" y="1558276"/>
            <a:ext cx="1847088" cy="603504"/>
          </a:xfrm>
          <a:prstGeom prst="rect">
            <a:avLst/>
          </a:prstGeom>
          <a:noFill/>
          <a:ln/>
        </p:spPr>
        <p:txBody>
          <a:bodyPr wrap="square" lIns="0" tIns="0" rIns="0" bIns="0" rtlCol="0" anchor="ctr">
            <a:normAutofit/>
          </a:bodyPr>
          <a:lstStyle/>
          <a:p>
            <a:pPr marL="0" indent="0" algn="ctr">
              <a:buNone/>
            </a:pPr>
            <a:r>
              <a:rPr lang="en-US" sz="1400" dirty="0">
                <a:solidFill>
                  <a:srgbClr val="1E2B32"/>
                </a:solidFill>
              </a:rPr>
              <a:t>MLA model</a:t>
            </a:r>
            <a:endParaRPr lang="en-US" sz="1400" dirty="0"/>
          </a:p>
          <a:p>
            <a:pPr marL="0" indent="0" algn="ctr">
              <a:buNone/>
            </a:pPr>
            <a:r>
              <a:rPr lang="en-US" sz="1400" dirty="0">
                <a:solidFill>
                  <a:srgbClr val="1E2B32"/>
                </a:solidFill>
              </a:rPr>
              <a:t>(frozen baseline)</a:t>
            </a:r>
            <a:endParaRPr lang="en-US" sz="1400" dirty="0"/>
          </a:p>
        </p:txBody>
      </p:sp>
      <p:sp>
        <p:nvSpPr>
          <p:cNvPr id="14" name="Shape 12"/>
          <p:cNvSpPr/>
          <p:nvPr/>
        </p:nvSpPr>
        <p:spPr>
          <a:xfrm>
            <a:off x="7594092" y="1517904"/>
            <a:ext cx="1783080" cy="731520"/>
          </a:xfrm>
          <a:prstGeom prst="roundRect">
            <a:avLst>
              <a:gd name="adj" fmla="val 8750"/>
            </a:avLst>
          </a:prstGeom>
          <a:solidFill>
            <a:srgbClr val="DCEAF6"/>
          </a:solidFill>
          <a:ln w="15240">
            <a:solidFill>
              <a:srgbClr val="0F7C80"/>
            </a:solidFill>
            <a:prstDash val="solid"/>
          </a:ln>
        </p:spPr>
        <p:txBody>
          <a:bodyPr/>
          <a:lstStyle/>
          <a:p>
            <a:endParaRPr/>
          </a:p>
        </p:txBody>
      </p:sp>
      <p:sp>
        <p:nvSpPr>
          <p:cNvPr id="15" name="Text 13"/>
          <p:cNvSpPr/>
          <p:nvPr/>
        </p:nvSpPr>
        <p:spPr>
          <a:xfrm>
            <a:off x="7676388" y="1567765"/>
            <a:ext cx="1618488" cy="603504"/>
          </a:xfrm>
          <a:prstGeom prst="rect">
            <a:avLst/>
          </a:prstGeom>
          <a:noFill/>
          <a:ln/>
        </p:spPr>
        <p:txBody>
          <a:bodyPr wrap="square" lIns="0" tIns="0" rIns="0" bIns="0" rtlCol="0" anchor="ctr">
            <a:normAutofit/>
          </a:bodyPr>
          <a:lstStyle/>
          <a:p>
            <a:pPr marL="0" indent="0" algn="ctr">
              <a:buNone/>
            </a:pPr>
            <a:r>
              <a:rPr lang="en-US" sz="1400" dirty="0">
                <a:solidFill>
                  <a:srgbClr val="1E2B32"/>
                </a:solidFill>
              </a:rPr>
              <a:t>Runtime</a:t>
            </a:r>
            <a:endParaRPr lang="en-US" sz="1400" dirty="0"/>
          </a:p>
          <a:p>
            <a:pPr marL="0" indent="0" algn="ctr">
              <a:buNone/>
            </a:pPr>
            <a:r>
              <a:rPr lang="en-US" sz="1400" dirty="0">
                <a:solidFill>
                  <a:srgbClr val="1E2B32"/>
                </a:solidFill>
              </a:rPr>
              <a:t>monitor</a:t>
            </a:r>
            <a:endParaRPr lang="en-US" sz="1400" dirty="0"/>
          </a:p>
        </p:txBody>
      </p:sp>
      <p:sp>
        <p:nvSpPr>
          <p:cNvPr id="16" name="Shape 14"/>
          <p:cNvSpPr/>
          <p:nvPr/>
        </p:nvSpPr>
        <p:spPr>
          <a:xfrm>
            <a:off x="9875520" y="1508760"/>
            <a:ext cx="1737360" cy="731520"/>
          </a:xfrm>
          <a:prstGeom prst="roundRect">
            <a:avLst>
              <a:gd name="adj" fmla="val 8750"/>
            </a:avLst>
          </a:prstGeom>
          <a:solidFill>
            <a:srgbClr val="FFFFFF"/>
          </a:solidFill>
          <a:ln w="15240">
            <a:solidFill>
              <a:srgbClr val="0F7C80"/>
            </a:solidFill>
            <a:prstDash val="solid"/>
          </a:ln>
        </p:spPr>
        <p:txBody>
          <a:bodyPr/>
          <a:lstStyle/>
          <a:p>
            <a:endParaRPr/>
          </a:p>
        </p:txBody>
      </p:sp>
      <p:sp>
        <p:nvSpPr>
          <p:cNvPr id="17" name="Text 15"/>
          <p:cNvSpPr/>
          <p:nvPr/>
        </p:nvSpPr>
        <p:spPr>
          <a:xfrm>
            <a:off x="9957816" y="1581912"/>
            <a:ext cx="1572768" cy="603504"/>
          </a:xfrm>
          <a:prstGeom prst="rect">
            <a:avLst/>
          </a:prstGeom>
          <a:noFill/>
          <a:ln/>
        </p:spPr>
        <p:txBody>
          <a:bodyPr wrap="square" lIns="0" tIns="0" rIns="0" bIns="0" rtlCol="0" anchor="ctr">
            <a:normAutofit/>
          </a:bodyPr>
          <a:lstStyle/>
          <a:p>
            <a:pPr marL="0" indent="0" algn="ctr">
              <a:buNone/>
            </a:pPr>
            <a:r>
              <a:rPr lang="en-US" sz="1400" dirty="0">
                <a:solidFill>
                  <a:srgbClr val="1E2B32"/>
                </a:solidFill>
              </a:rPr>
              <a:t>Safe output</a:t>
            </a:r>
            <a:endParaRPr lang="en-US" sz="1400" dirty="0"/>
          </a:p>
          <a:p>
            <a:pPr marL="0" indent="0" algn="ctr">
              <a:buNone/>
            </a:pPr>
            <a:r>
              <a:rPr lang="en-US" sz="1400" dirty="0">
                <a:solidFill>
                  <a:srgbClr val="1E2B32"/>
                </a:solidFill>
              </a:rPr>
              <a:t>interface</a:t>
            </a:r>
            <a:endParaRPr lang="en-US" sz="1400" dirty="0"/>
          </a:p>
        </p:txBody>
      </p:sp>
      <p:sp>
        <p:nvSpPr>
          <p:cNvPr id="18" name="Shape 16"/>
          <p:cNvSpPr/>
          <p:nvPr/>
        </p:nvSpPr>
        <p:spPr>
          <a:xfrm>
            <a:off x="3840480" y="3703320"/>
            <a:ext cx="4709160" cy="777240"/>
          </a:xfrm>
          <a:prstGeom prst="roundRect">
            <a:avLst>
              <a:gd name="adj" fmla="val 8235"/>
            </a:avLst>
          </a:prstGeom>
          <a:solidFill>
            <a:srgbClr val="FFFFFF"/>
          </a:solidFill>
          <a:ln w="15240">
            <a:solidFill>
              <a:srgbClr val="D34B43"/>
            </a:solidFill>
            <a:prstDash val="solid"/>
          </a:ln>
        </p:spPr>
        <p:txBody>
          <a:bodyPr/>
          <a:lstStyle/>
          <a:p>
            <a:endParaRPr/>
          </a:p>
        </p:txBody>
      </p:sp>
      <p:sp>
        <p:nvSpPr>
          <p:cNvPr id="19" name="Text 17"/>
          <p:cNvSpPr/>
          <p:nvPr/>
        </p:nvSpPr>
        <p:spPr>
          <a:xfrm>
            <a:off x="4082796" y="3776472"/>
            <a:ext cx="4224528" cy="649224"/>
          </a:xfrm>
          <a:prstGeom prst="rect">
            <a:avLst/>
          </a:prstGeom>
          <a:noFill/>
          <a:ln/>
        </p:spPr>
        <p:txBody>
          <a:bodyPr wrap="square" lIns="0" tIns="0" rIns="0" bIns="0" rtlCol="0" anchor="ctr">
            <a:normAutofit/>
          </a:bodyPr>
          <a:lstStyle/>
          <a:p>
            <a:pPr marL="0" indent="0" algn="ctr">
              <a:buNone/>
            </a:pPr>
            <a:r>
              <a:rPr lang="en-US" sz="1500" dirty="0">
                <a:solidFill>
                  <a:srgbClr val="1E2B32"/>
                </a:solidFill>
              </a:rPr>
              <a:t>Fallback / rejection / degraded mode / human review stage.</a:t>
            </a:r>
            <a:endParaRPr lang="en-US" sz="1500" dirty="0"/>
          </a:p>
        </p:txBody>
      </p:sp>
      <p:sp>
        <p:nvSpPr>
          <p:cNvPr id="20" name="Text 18"/>
          <p:cNvSpPr/>
          <p:nvPr/>
        </p:nvSpPr>
        <p:spPr>
          <a:xfrm>
            <a:off x="1005840" y="4692771"/>
            <a:ext cx="10149840" cy="1682150"/>
          </a:xfrm>
          <a:prstGeom prst="rect">
            <a:avLst/>
          </a:prstGeom>
          <a:noFill/>
          <a:ln/>
        </p:spPr>
        <p:txBody>
          <a:bodyPr wrap="square" lIns="254" tIns="254" rIns="254" bIns="254" rtlCol="0" anchor="ctr">
            <a:normAutofit/>
          </a:bodyPr>
          <a:lstStyle/>
          <a:p>
            <a:r>
              <a:rPr lang="en-US" sz="1450" dirty="0">
                <a:solidFill>
                  <a:srgbClr val="1E2B32"/>
                </a:solidFill>
              </a:rPr>
              <a:t>Isolate and partition MLA components like other safety-related items.</a:t>
            </a:r>
          </a:p>
          <a:p>
            <a:endParaRPr lang="en-US" sz="1450" dirty="0"/>
          </a:p>
          <a:p>
            <a:r>
              <a:rPr lang="en-US" sz="1450" dirty="0">
                <a:solidFill>
                  <a:srgbClr val="1E2B32"/>
                </a:solidFill>
              </a:rPr>
              <a:t>Expose safely interpreted information: enumerated states, mapped classes or constrained confidence bands.</a:t>
            </a:r>
          </a:p>
          <a:p>
            <a:endParaRPr lang="en-US" sz="1450" dirty="0"/>
          </a:p>
          <a:p>
            <a:r>
              <a:rPr lang="en-US" sz="1450" dirty="0">
                <a:solidFill>
                  <a:srgbClr val="1E2B32"/>
                </a:solidFill>
              </a:rPr>
              <a:t>Verify rejection logic, fallback paths and monitor behaviour as part of the safety architecture.</a:t>
            </a:r>
          </a:p>
          <a:p>
            <a:endParaRPr lang="en-US" sz="1450" dirty="0"/>
          </a:p>
          <a:p>
            <a:r>
              <a:rPr lang="en-US" sz="1450" dirty="0">
                <a:solidFill>
                  <a:srgbClr val="1E2B32"/>
                </a:solidFill>
              </a:rPr>
              <a:t>Range limits alone do not demonstrate contextual validity or safe recovery.</a:t>
            </a:r>
            <a:endParaRPr lang="en-US" sz="1450" dirty="0"/>
          </a:p>
        </p:txBody>
      </p:sp>
      <p:sp>
        <p:nvSpPr>
          <p:cNvPr id="21" name="Text 19"/>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22" name="Text 20"/>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8</a:t>
            </a:r>
          </a:p>
        </p:txBody>
      </p:sp>
      <p:sp>
        <p:nvSpPr>
          <p:cNvPr id="23" name="TextBox 22">
            <a:extLst>
              <a:ext uri="{FF2B5EF4-FFF2-40B4-BE49-F238E27FC236}">
                <a16:creationId xmlns:a16="http://schemas.microsoft.com/office/drawing/2014/main" id="{E774FBC1-29B0-CC6A-38CF-3C2DFC81F1E4}"/>
              </a:ext>
            </a:extLst>
          </p:cNvPr>
          <p:cNvSpPr txBox="1"/>
          <p:nvPr/>
        </p:nvSpPr>
        <p:spPr>
          <a:xfrm>
            <a:off x="5545233" y="1365562"/>
            <a:ext cx="1555687" cy="461665"/>
          </a:xfrm>
          <a:prstGeom prst="rect">
            <a:avLst/>
          </a:prstGeom>
          <a:noFill/>
        </p:spPr>
        <p:txBody>
          <a:bodyPr wrap="square" rtlCol="0">
            <a:spAutoFit/>
          </a:bodyPr>
          <a:lstStyle/>
          <a:p>
            <a:r>
              <a:rPr lang="en-GB" sz="1200" dirty="0"/>
              <a:t>Guard: Confidence threshold met.</a:t>
            </a:r>
          </a:p>
        </p:txBody>
      </p:sp>
      <p:sp>
        <p:nvSpPr>
          <p:cNvPr id="25" name="TextBox 24">
            <a:extLst>
              <a:ext uri="{FF2B5EF4-FFF2-40B4-BE49-F238E27FC236}">
                <a16:creationId xmlns:a16="http://schemas.microsoft.com/office/drawing/2014/main" id="{E65F7259-E87A-5D7A-2F06-33198BD138F3}"/>
              </a:ext>
            </a:extLst>
          </p:cNvPr>
          <p:cNvSpPr txBox="1"/>
          <p:nvPr/>
        </p:nvSpPr>
        <p:spPr>
          <a:xfrm>
            <a:off x="5326380" y="1895148"/>
            <a:ext cx="1783079" cy="461665"/>
          </a:xfrm>
          <a:prstGeom prst="rect">
            <a:avLst/>
          </a:prstGeom>
          <a:noFill/>
        </p:spPr>
        <p:txBody>
          <a:bodyPr wrap="square" rtlCol="0">
            <a:spAutoFit/>
          </a:bodyPr>
          <a:lstStyle/>
          <a:p>
            <a:r>
              <a:rPr lang="en-GB" sz="1200" dirty="0"/>
              <a:t>Guard: Output validated successfully.</a:t>
            </a:r>
          </a:p>
        </p:txBody>
      </p:sp>
      <p:sp>
        <p:nvSpPr>
          <p:cNvPr id="27" name="Shape 7">
            <a:extLst>
              <a:ext uri="{FF2B5EF4-FFF2-40B4-BE49-F238E27FC236}">
                <a16:creationId xmlns:a16="http://schemas.microsoft.com/office/drawing/2014/main" id="{6CABCD67-B091-339B-4DE9-659EA3169329}"/>
              </a:ext>
            </a:extLst>
          </p:cNvPr>
          <p:cNvSpPr/>
          <p:nvPr/>
        </p:nvSpPr>
        <p:spPr>
          <a:xfrm flipV="1">
            <a:off x="8147304" y="2231137"/>
            <a:ext cx="0" cy="1472183"/>
          </a:xfrm>
          <a:prstGeom prst="line">
            <a:avLst/>
          </a:prstGeom>
          <a:noFill/>
          <a:ln w="17780">
            <a:solidFill>
              <a:srgbClr val="0F7C80"/>
            </a:solidFill>
            <a:prstDash val="solid"/>
            <a:headEnd type="none"/>
            <a:tailEnd type="triangle"/>
          </a:ln>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MLDevOps for certification</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A controlled assurance pipeline, not a rapid model-improvement loop.</a:t>
            </a:r>
            <a:endParaRPr lang="en-US" sz="1250" dirty="0"/>
          </a:p>
        </p:txBody>
      </p:sp>
      <p:pic>
        <p:nvPicPr>
          <p:cNvPr id="6" name="Image 0" descr="/mnt/data/docx_media/image3.png"/>
          <p:cNvPicPr>
            <a:picLocks noChangeAspect="1"/>
          </p:cNvPicPr>
          <p:nvPr/>
        </p:nvPicPr>
        <p:blipFill>
          <a:blip r:embed="rId3"/>
          <a:stretch>
            <a:fillRect/>
          </a:stretch>
        </p:blipFill>
        <p:spPr>
          <a:xfrm>
            <a:off x="763629" y="1143000"/>
            <a:ext cx="1901743" cy="4937760"/>
          </a:xfrm>
          <a:prstGeom prst="rect">
            <a:avLst/>
          </a:prstGeom>
        </p:spPr>
      </p:pic>
      <p:sp>
        <p:nvSpPr>
          <p:cNvPr id="7" name="Shape 4"/>
          <p:cNvSpPr/>
          <p:nvPr/>
        </p:nvSpPr>
        <p:spPr>
          <a:xfrm>
            <a:off x="3246120" y="1325880"/>
            <a:ext cx="914400" cy="475488"/>
          </a:xfrm>
          <a:prstGeom prst="roundRect">
            <a:avLst>
              <a:gd name="adj" fmla="val 15385"/>
            </a:avLst>
          </a:prstGeom>
          <a:solidFill>
            <a:srgbClr val="0F7C80"/>
          </a:solidFill>
          <a:ln w="12700">
            <a:solidFill>
              <a:srgbClr val="0F7C80"/>
            </a:solidFill>
            <a:prstDash val="solid"/>
          </a:ln>
        </p:spPr>
        <p:txBody>
          <a:bodyPr/>
          <a:lstStyle/>
          <a:p>
            <a:endParaRPr/>
          </a:p>
        </p:txBody>
      </p:sp>
      <p:sp>
        <p:nvSpPr>
          <p:cNvPr id="8" name="Text 5"/>
          <p:cNvSpPr/>
          <p:nvPr/>
        </p:nvSpPr>
        <p:spPr>
          <a:xfrm>
            <a:off x="3355848" y="1399032"/>
            <a:ext cx="69494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ML</a:t>
            </a:r>
            <a:endParaRPr lang="en-US" sz="1500" dirty="0"/>
          </a:p>
        </p:txBody>
      </p:sp>
      <p:sp>
        <p:nvSpPr>
          <p:cNvPr id="9" name="Shape 6"/>
          <p:cNvSpPr/>
          <p:nvPr/>
        </p:nvSpPr>
        <p:spPr>
          <a:xfrm>
            <a:off x="4343400" y="1325880"/>
            <a:ext cx="6720840" cy="594360"/>
          </a:xfrm>
          <a:prstGeom prst="roundRect">
            <a:avLst>
              <a:gd name="adj" fmla="val 12308"/>
            </a:avLst>
          </a:prstGeom>
          <a:solidFill>
            <a:srgbClr val="FFFFFF"/>
          </a:solidFill>
          <a:ln w="15240">
            <a:solidFill>
              <a:srgbClr val="0F7C80"/>
            </a:solidFill>
            <a:prstDash val="solid"/>
          </a:ln>
        </p:spPr>
        <p:txBody>
          <a:bodyPr/>
          <a:lstStyle/>
          <a:p>
            <a:endParaRPr/>
          </a:p>
        </p:txBody>
      </p:sp>
      <p:sp>
        <p:nvSpPr>
          <p:cNvPr id="10" name="Text 7"/>
          <p:cNvSpPr/>
          <p:nvPr/>
        </p:nvSpPr>
        <p:spPr>
          <a:xfrm>
            <a:off x="4507992" y="1453896"/>
            <a:ext cx="6391656" cy="393192"/>
          </a:xfrm>
          <a:prstGeom prst="rect">
            <a:avLst/>
          </a:prstGeom>
          <a:noFill/>
          <a:ln/>
        </p:spPr>
        <p:txBody>
          <a:bodyPr wrap="square" lIns="254" tIns="254" rIns="254" bIns="254" rtlCol="0" anchor="ctr">
            <a:normAutofit fontScale="92500" lnSpcReduction="10000"/>
          </a:bodyPr>
          <a:lstStyle/>
          <a:p>
            <a:pPr marL="0" indent="0">
              <a:buNone/>
            </a:pPr>
            <a:r>
              <a:rPr lang="en-US" sz="1550" dirty="0">
                <a:solidFill>
                  <a:srgbClr val="1E2B32"/>
                </a:solidFill>
              </a:rPr>
              <a:t>Datasets, provenance, ODD coverage, bias, training configuration, robustness and known failure modes</a:t>
            </a:r>
            <a:endParaRPr lang="en-US" sz="1550" dirty="0"/>
          </a:p>
        </p:txBody>
      </p:sp>
      <p:sp>
        <p:nvSpPr>
          <p:cNvPr id="11" name="Shape 8"/>
          <p:cNvSpPr/>
          <p:nvPr/>
        </p:nvSpPr>
        <p:spPr>
          <a:xfrm>
            <a:off x="3246120" y="2651760"/>
            <a:ext cx="914400" cy="475488"/>
          </a:xfrm>
          <a:prstGeom prst="roundRect">
            <a:avLst>
              <a:gd name="adj" fmla="val 15385"/>
            </a:avLst>
          </a:prstGeom>
          <a:solidFill>
            <a:srgbClr val="2F67B1"/>
          </a:solidFill>
          <a:ln w="12700">
            <a:solidFill>
              <a:srgbClr val="2F67B1"/>
            </a:solidFill>
            <a:prstDash val="solid"/>
          </a:ln>
        </p:spPr>
        <p:txBody>
          <a:bodyPr/>
          <a:lstStyle/>
          <a:p>
            <a:endParaRPr/>
          </a:p>
        </p:txBody>
      </p:sp>
      <p:sp>
        <p:nvSpPr>
          <p:cNvPr id="12" name="Text 9"/>
          <p:cNvSpPr/>
          <p:nvPr/>
        </p:nvSpPr>
        <p:spPr>
          <a:xfrm>
            <a:off x="3355848" y="2724912"/>
            <a:ext cx="69494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DEV</a:t>
            </a:r>
            <a:endParaRPr lang="en-US" sz="1500" dirty="0"/>
          </a:p>
        </p:txBody>
      </p:sp>
      <p:sp>
        <p:nvSpPr>
          <p:cNvPr id="13" name="Shape 10"/>
          <p:cNvSpPr/>
          <p:nvPr/>
        </p:nvSpPr>
        <p:spPr>
          <a:xfrm>
            <a:off x="4343400" y="2651760"/>
            <a:ext cx="6720840" cy="594360"/>
          </a:xfrm>
          <a:prstGeom prst="roundRect">
            <a:avLst>
              <a:gd name="adj" fmla="val 12308"/>
            </a:avLst>
          </a:prstGeom>
          <a:solidFill>
            <a:srgbClr val="FFFFFF"/>
          </a:solidFill>
          <a:ln w="15240">
            <a:solidFill>
              <a:srgbClr val="2F67B1"/>
            </a:solidFill>
            <a:prstDash val="solid"/>
          </a:ln>
        </p:spPr>
        <p:txBody>
          <a:bodyPr/>
          <a:lstStyle/>
          <a:p>
            <a:endParaRPr/>
          </a:p>
        </p:txBody>
      </p:sp>
      <p:sp>
        <p:nvSpPr>
          <p:cNvPr id="14" name="Text 11"/>
          <p:cNvSpPr/>
          <p:nvPr/>
        </p:nvSpPr>
        <p:spPr>
          <a:xfrm>
            <a:off x="4507992" y="2779776"/>
            <a:ext cx="6391656" cy="393192"/>
          </a:xfrm>
          <a:prstGeom prst="rect">
            <a:avLst/>
          </a:prstGeom>
          <a:noFill/>
          <a:ln/>
        </p:spPr>
        <p:txBody>
          <a:bodyPr wrap="square" lIns="254" tIns="254" rIns="254" bIns="254" rtlCol="0" anchor="ctr">
            <a:normAutofit fontScale="92500" lnSpcReduction="10000"/>
          </a:bodyPr>
          <a:lstStyle/>
          <a:p>
            <a:pPr marL="0" indent="0">
              <a:buNone/>
            </a:pPr>
            <a:r>
              <a:rPr lang="en-US" sz="1550" dirty="0">
                <a:solidFill>
                  <a:srgbClr val="1E2B32"/>
                </a:solidFill>
              </a:rPr>
              <a:t>Interfaces, monitors, deterministic safety controls, fallback, integration and portability</a:t>
            </a:r>
            <a:endParaRPr lang="en-US" sz="1550" dirty="0"/>
          </a:p>
        </p:txBody>
      </p:sp>
      <p:sp>
        <p:nvSpPr>
          <p:cNvPr id="15" name="Shape 12"/>
          <p:cNvSpPr/>
          <p:nvPr/>
        </p:nvSpPr>
        <p:spPr>
          <a:xfrm>
            <a:off x="3246120" y="3977640"/>
            <a:ext cx="914400" cy="475488"/>
          </a:xfrm>
          <a:prstGeom prst="roundRect">
            <a:avLst>
              <a:gd name="adj" fmla="val 15385"/>
            </a:avLst>
          </a:prstGeom>
          <a:solidFill>
            <a:srgbClr val="0E2A3B"/>
          </a:solidFill>
          <a:ln w="12700">
            <a:solidFill>
              <a:srgbClr val="0E2A3B"/>
            </a:solidFill>
            <a:prstDash val="solid"/>
          </a:ln>
        </p:spPr>
        <p:txBody>
          <a:bodyPr/>
          <a:lstStyle/>
          <a:p>
            <a:endParaRPr/>
          </a:p>
        </p:txBody>
      </p:sp>
      <p:sp>
        <p:nvSpPr>
          <p:cNvPr id="16" name="Text 13"/>
          <p:cNvSpPr/>
          <p:nvPr/>
        </p:nvSpPr>
        <p:spPr>
          <a:xfrm>
            <a:off x="3355848" y="4050792"/>
            <a:ext cx="69494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OPS</a:t>
            </a:r>
            <a:endParaRPr lang="en-US" sz="1500" dirty="0"/>
          </a:p>
        </p:txBody>
      </p:sp>
      <p:sp>
        <p:nvSpPr>
          <p:cNvPr id="17" name="Shape 14"/>
          <p:cNvSpPr/>
          <p:nvPr/>
        </p:nvSpPr>
        <p:spPr>
          <a:xfrm>
            <a:off x="4343400" y="3977640"/>
            <a:ext cx="6720840" cy="594360"/>
          </a:xfrm>
          <a:prstGeom prst="roundRect">
            <a:avLst>
              <a:gd name="adj" fmla="val 12308"/>
            </a:avLst>
          </a:prstGeom>
          <a:solidFill>
            <a:srgbClr val="FFFFFF"/>
          </a:solidFill>
          <a:ln w="15240">
            <a:solidFill>
              <a:srgbClr val="0E2A3B"/>
            </a:solidFill>
            <a:prstDash val="solid"/>
          </a:ln>
        </p:spPr>
        <p:txBody>
          <a:bodyPr/>
          <a:lstStyle/>
          <a:p>
            <a:endParaRPr/>
          </a:p>
        </p:txBody>
      </p:sp>
      <p:sp>
        <p:nvSpPr>
          <p:cNvPr id="18" name="Text 15"/>
          <p:cNvSpPr/>
          <p:nvPr/>
        </p:nvSpPr>
        <p:spPr>
          <a:xfrm>
            <a:off x="4507992" y="4105656"/>
            <a:ext cx="6391656" cy="393192"/>
          </a:xfrm>
          <a:prstGeom prst="rect">
            <a:avLst/>
          </a:prstGeom>
          <a:noFill/>
          <a:ln/>
        </p:spPr>
        <p:txBody>
          <a:bodyPr wrap="square" lIns="254" tIns="254" rIns="254" bIns="254" rtlCol="0" anchor="ctr">
            <a:normAutofit fontScale="92500" lnSpcReduction="10000"/>
          </a:bodyPr>
          <a:lstStyle/>
          <a:p>
            <a:pPr marL="0" indent="0">
              <a:buNone/>
            </a:pPr>
            <a:r>
              <a:rPr lang="en-US" sz="1550" dirty="0">
                <a:solidFill>
                  <a:srgbClr val="1E2B32"/>
                </a:solidFill>
              </a:rPr>
              <a:t>Release baselines, evidence packs, drift monitoring, change control and continued approval</a:t>
            </a:r>
            <a:endParaRPr lang="en-US" sz="1550" dirty="0"/>
          </a:p>
        </p:txBody>
      </p:sp>
      <p:sp>
        <p:nvSpPr>
          <p:cNvPr id="19" name="Shape 16"/>
          <p:cNvSpPr/>
          <p:nvPr/>
        </p:nvSpPr>
        <p:spPr>
          <a:xfrm>
            <a:off x="3291840" y="5056633"/>
            <a:ext cx="7818120" cy="978407"/>
          </a:xfrm>
          <a:prstGeom prst="roundRect">
            <a:avLst>
              <a:gd name="adj" fmla="val 13333"/>
            </a:avLst>
          </a:prstGeom>
          <a:solidFill>
            <a:srgbClr val="ECE9FF"/>
          </a:solidFill>
          <a:ln w="15240">
            <a:solidFill>
              <a:srgbClr val="7461D1"/>
            </a:solidFill>
            <a:prstDash val="solid"/>
          </a:ln>
        </p:spPr>
        <p:txBody>
          <a:bodyPr/>
          <a:lstStyle/>
          <a:p>
            <a:endParaRPr/>
          </a:p>
        </p:txBody>
      </p:sp>
      <p:sp>
        <p:nvSpPr>
          <p:cNvPr id="20" name="Text 17"/>
          <p:cNvSpPr/>
          <p:nvPr/>
        </p:nvSpPr>
        <p:spPr>
          <a:xfrm>
            <a:off x="3456432" y="5175505"/>
            <a:ext cx="7488936" cy="786383"/>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The pipeline must produce evidence as a </a:t>
            </a:r>
            <a:r>
              <a:rPr lang="en-US" sz="1550" dirty="0" err="1">
                <a:solidFill>
                  <a:srgbClr val="1E2B32"/>
                </a:solidFill>
              </a:rPr>
              <a:t>reproducable</a:t>
            </a:r>
            <a:r>
              <a:rPr lang="en-US" sz="1550" dirty="0">
                <a:solidFill>
                  <a:srgbClr val="1E2B32"/>
                </a:solidFill>
              </a:rPr>
              <a:t> output: datasets, tools, parameters, environment definitions and model baselines must be reconstructable.</a:t>
            </a:r>
            <a:endParaRPr lang="en-US" sz="1550" dirty="0"/>
          </a:p>
        </p:txBody>
      </p:sp>
      <p:sp>
        <p:nvSpPr>
          <p:cNvPr id="21" name="Text 18"/>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model implementation and MLDevOps sections, pp.14–18.</a:t>
            </a:r>
            <a:endParaRPr lang="en-US" sz="750" dirty="0"/>
          </a:p>
        </p:txBody>
      </p:sp>
      <p:sp>
        <p:nvSpPr>
          <p:cNvPr id="22" name="Text 19"/>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23" name="Text 20"/>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Specific recommendations: design</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Design the MLA as a bounded system item, not a free-standing algorithm.</a:t>
            </a:r>
            <a:endParaRPr lang="en-US" sz="1250" dirty="0"/>
          </a:p>
        </p:txBody>
      </p:sp>
      <p:sp>
        <p:nvSpPr>
          <p:cNvPr id="6" name="Shape 4"/>
          <p:cNvSpPr/>
          <p:nvPr/>
        </p:nvSpPr>
        <p:spPr>
          <a:xfrm>
            <a:off x="731520" y="123444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7" name="Text 5"/>
          <p:cNvSpPr/>
          <p:nvPr/>
        </p:nvSpPr>
        <p:spPr>
          <a:xfrm>
            <a:off x="841248" y="1307592"/>
            <a:ext cx="183794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Modular item</a:t>
            </a:r>
            <a:endParaRPr lang="en-US" sz="1500" dirty="0"/>
          </a:p>
        </p:txBody>
      </p:sp>
      <p:sp>
        <p:nvSpPr>
          <p:cNvPr id="8" name="Shape 6"/>
          <p:cNvSpPr/>
          <p:nvPr/>
        </p:nvSpPr>
        <p:spPr>
          <a:xfrm>
            <a:off x="2971800" y="123444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9" name="Text 7"/>
          <p:cNvSpPr/>
          <p:nvPr/>
        </p:nvSpPr>
        <p:spPr>
          <a:xfrm>
            <a:off x="3136392" y="1362456"/>
            <a:ext cx="2459736" cy="512064"/>
          </a:xfrm>
          <a:prstGeom prst="rect">
            <a:avLst/>
          </a:prstGeom>
          <a:noFill/>
          <a:ln/>
        </p:spPr>
        <p:txBody>
          <a:bodyPr wrap="square" lIns="254" tIns="254" rIns="254" bIns="254" rtlCol="0" anchor="ctr">
            <a:normAutofit fontScale="70000" lnSpcReduction="20000"/>
          </a:bodyPr>
          <a:lstStyle/>
          <a:p>
            <a:pPr marL="0" indent="0">
              <a:buNone/>
            </a:pPr>
            <a:r>
              <a:rPr lang="en-US" sz="1550" dirty="0">
                <a:solidFill>
                  <a:srgbClr val="1E2B32"/>
                </a:solidFill>
              </a:rPr>
              <a:t>Allocate explicit requirements, interfaces, input constraints and output meanings to the MLA component.</a:t>
            </a:r>
            <a:endParaRPr lang="en-US" sz="1550" dirty="0"/>
          </a:p>
        </p:txBody>
      </p:sp>
      <p:sp>
        <p:nvSpPr>
          <p:cNvPr id="10" name="Shape 8"/>
          <p:cNvSpPr/>
          <p:nvPr/>
        </p:nvSpPr>
        <p:spPr>
          <a:xfrm>
            <a:off x="731520" y="2560320"/>
            <a:ext cx="205740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1" name="Text 9"/>
          <p:cNvSpPr/>
          <p:nvPr/>
        </p:nvSpPr>
        <p:spPr>
          <a:xfrm>
            <a:off x="841248" y="2633472"/>
            <a:ext cx="1837944" cy="338328"/>
          </a:xfrm>
          <a:prstGeom prst="rect">
            <a:avLst/>
          </a:prstGeom>
          <a:noFill/>
          <a:ln/>
        </p:spPr>
        <p:txBody>
          <a:bodyPr wrap="square" lIns="0" tIns="0" rIns="0" bIns="0" rtlCol="0" anchor="ctr">
            <a:normAutofit fontScale="85000" lnSpcReduction="10000"/>
          </a:bodyPr>
          <a:lstStyle/>
          <a:p>
            <a:pPr marL="0" indent="0" algn="ctr">
              <a:buNone/>
            </a:pPr>
            <a:r>
              <a:rPr lang="en-US" sz="1500" b="1" dirty="0">
                <a:solidFill>
                  <a:srgbClr val="FFFFFF"/>
                </a:solidFill>
              </a:rPr>
              <a:t>Deterministic boundary</a:t>
            </a:r>
            <a:endParaRPr lang="en-US" sz="1500" dirty="0"/>
          </a:p>
        </p:txBody>
      </p:sp>
      <p:sp>
        <p:nvSpPr>
          <p:cNvPr id="12" name="Shape 10"/>
          <p:cNvSpPr/>
          <p:nvPr/>
        </p:nvSpPr>
        <p:spPr>
          <a:xfrm>
            <a:off x="2971800" y="2560320"/>
            <a:ext cx="2788920" cy="713232"/>
          </a:xfrm>
          <a:prstGeom prst="roundRect">
            <a:avLst>
              <a:gd name="adj" fmla="val 10256"/>
            </a:avLst>
          </a:prstGeom>
          <a:solidFill>
            <a:srgbClr val="FFFFFF"/>
          </a:solidFill>
          <a:ln w="15240">
            <a:solidFill>
              <a:srgbClr val="0F7C80"/>
            </a:solidFill>
            <a:prstDash val="solid"/>
          </a:ln>
        </p:spPr>
        <p:txBody>
          <a:bodyPr/>
          <a:lstStyle/>
          <a:p>
            <a:endParaRPr/>
          </a:p>
        </p:txBody>
      </p:sp>
      <p:sp>
        <p:nvSpPr>
          <p:cNvPr id="13" name="Text 11"/>
          <p:cNvSpPr/>
          <p:nvPr/>
        </p:nvSpPr>
        <p:spPr>
          <a:xfrm>
            <a:off x="3136392" y="2688336"/>
            <a:ext cx="2459736" cy="512064"/>
          </a:xfrm>
          <a:prstGeom prst="rect">
            <a:avLst/>
          </a:prstGeom>
          <a:noFill/>
          <a:ln/>
        </p:spPr>
        <p:txBody>
          <a:bodyPr wrap="square" lIns="254" tIns="254" rIns="254" bIns="254" rtlCol="0" anchor="ctr">
            <a:normAutofit fontScale="70000" lnSpcReduction="20000"/>
          </a:bodyPr>
          <a:lstStyle/>
          <a:p>
            <a:pPr marL="0" indent="0">
              <a:buNone/>
            </a:pPr>
            <a:r>
              <a:rPr lang="en-US" sz="1550" dirty="0">
                <a:solidFill>
                  <a:srgbClr val="1E2B32"/>
                </a:solidFill>
              </a:rPr>
              <a:t>Expose only safely interpreted outputs: enumerated states, mapped classes or constrained confidence bands.</a:t>
            </a:r>
            <a:endParaRPr lang="en-US" sz="1550" dirty="0"/>
          </a:p>
        </p:txBody>
      </p:sp>
      <p:sp>
        <p:nvSpPr>
          <p:cNvPr id="14" name="Shape 12"/>
          <p:cNvSpPr/>
          <p:nvPr/>
        </p:nvSpPr>
        <p:spPr>
          <a:xfrm>
            <a:off x="731520" y="388620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15" name="Text 13"/>
          <p:cNvSpPr/>
          <p:nvPr/>
        </p:nvSpPr>
        <p:spPr>
          <a:xfrm>
            <a:off x="841248" y="3959352"/>
            <a:ext cx="1837944" cy="338328"/>
          </a:xfrm>
          <a:prstGeom prst="rect">
            <a:avLst/>
          </a:prstGeom>
          <a:noFill/>
          <a:ln/>
        </p:spPr>
        <p:txBody>
          <a:bodyPr wrap="square" lIns="0" tIns="0" rIns="0" bIns="0" rtlCol="0" anchor="ctr">
            <a:normAutofit fontScale="85000" lnSpcReduction="10000"/>
          </a:bodyPr>
          <a:lstStyle/>
          <a:p>
            <a:pPr marL="0" indent="0" algn="ctr">
              <a:buNone/>
            </a:pPr>
            <a:r>
              <a:rPr lang="en-US" sz="1500" b="1" dirty="0">
                <a:solidFill>
                  <a:srgbClr val="FFFFFF"/>
                </a:solidFill>
              </a:rPr>
              <a:t>Isolation &amp; partitioning</a:t>
            </a:r>
            <a:endParaRPr lang="en-US" sz="1500" dirty="0"/>
          </a:p>
        </p:txBody>
      </p:sp>
      <p:sp>
        <p:nvSpPr>
          <p:cNvPr id="16" name="Shape 14"/>
          <p:cNvSpPr/>
          <p:nvPr/>
        </p:nvSpPr>
        <p:spPr>
          <a:xfrm>
            <a:off x="2971800" y="388620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17" name="Text 15"/>
          <p:cNvSpPr/>
          <p:nvPr/>
        </p:nvSpPr>
        <p:spPr>
          <a:xfrm>
            <a:off x="3136392" y="4014216"/>
            <a:ext cx="2459736" cy="512064"/>
          </a:xfrm>
          <a:prstGeom prst="rect">
            <a:avLst/>
          </a:prstGeom>
          <a:noFill/>
          <a:ln/>
        </p:spPr>
        <p:txBody>
          <a:bodyPr wrap="square" lIns="254" tIns="254" rIns="254" bIns="254" rtlCol="0" anchor="ctr">
            <a:normAutofit fontScale="85000" lnSpcReduction="20000"/>
          </a:bodyPr>
          <a:lstStyle/>
          <a:p>
            <a:pPr marL="0" indent="0">
              <a:buNone/>
            </a:pPr>
            <a:r>
              <a:rPr lang="en-US" sz="1550" dirty="0">
                <a:solidFill>
                  <a:srgbClr val="1E2B32"/>
                </a:solidFill>
              </a:rPr>
              <a:t>Use loose coupling, partitioning and redundancy where the safety assessment requires it.</a:t>
            </a:r>
            <a:endParaRPr lang="en-US" sz="1550" dirty="0"/>
          </a:p>
        </p:txBody>
      </p:sp>
      <p:sp>
        <p:nvSpPr>
          <p:cNvPr id="18" name="Shape 16"/>
          <p:cNvSpPr/>
          <p:nvPr/>
        </p:nvSpPr>
        <p:spPr>
          <a:xfrm>
            <a:off x="6355080" y="1234440"/>
            <a:ext cx="205740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9" name="Text 17"/>
          <p:cNvSpPr/>
          <p:nvPr/>
        </p:nvSpPr>
        <p:spPr>
          <a:xfrm>
            <a:off x="6464808" y="1307592"/>
            <a:ext cx="183794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Monitor + fallback</a:t>
            </a:r>
            <a:endParaRPr lang="en-US" sz="1500" dirty="0"/>
          </a:p>
        </p:txBody>
      </p:sp>
      <p:sp>
        <p:nvSpPr>
          <p:cNvPr id="20" name="Shape 18"/>
          <p:cNvSpPr/>
          <p:nvPr/>
        </p:nvSpPr>
        <p:spPr>
          <a:xfrm>
            <a:off x="8595360" y="1234440"/>
            <a:ext cx="2788920" cy="713232"/>
          </a:xfrm>
          <a:prstGeom prst="roundRect">
            <a:avLst>
              <a:gd name="adj" fmla="val 10256"/>
            </a:avLst>
          </a:prstGeom>
          <a:solidFill>
            <a:srgbClr val="FFFFFF"/>
          </a:solidFill>
          <a:ln w="15240">
            <a:solidFill>
              <a:srgbClr val="0F7C80"/>
            </a:solidFill>
            <a:prstDash val="solid"/>
          </a:ln>
        </p:spPr>
        <p:txBody>
          <a:bodyPr/>
          <a:lstStyle/>
          <a:p>
            <a:endParaRPr/>
          </a:p>
        </p:txBody>
      </p:sp>
      <p:sp>
        <p:nvSpPr>
          <p:cNvPr id="21" name="Text 19"/>
          <p:cNvSpPr/>
          <p:nvPr/>
        </p:nvSpPr>
        <p:spPr>
          <a:xfrm>
            <a:off x="8759952" y="1362456"/>
            <a:ext cx="2459736" cy="512064"/>
          </a:xfrm>
          <a:prstGeom prst="rect">
            <a:avLst/>
          </a:prstGeom>
          <a:noFill/>
          <a:ln/>
        </p:spPr>
        <p:txBody>
          <a:bodyPr wrap="square" lIns="254" tIns="254" rIns="254" bIns="254" rtlCol="0" anchor="ctr">
            <a:normAutofit fontScale="77500" lnSpcReduction="20000"/>
          </a:bodyPr>
          <a:lstStyle/>
          <a:p>
            <a:pPr marL="0" indent="0">
              <a:buNone/>
            </a:pPr>
            <a:r>
              <a:rPr lang="en-US" sz="1550" dirty="0">
                <a:solidFill>
                  <a:srgbClr val="1E2B32"/>
                </a:solidFill>
              </a:rPr>
              <a:t>Design runtime monitors, rejection logic, degraded modes and verified fallback paths from the outset.</a:t>
            </a:r>
            <a:endParaRPr lang="en-US" sz="1550" dirty="0"/>
          </a:p>
        </p:txBody>
      </p:sp>
      <p:sp>
        <p:nvSpPr>
          <p:cNvPr id="22" name="Shape 20"/>
          <p:cNvSpPr/>
          <p:nvPr/>
        </p:nvSpPr>
        <p:spPr>
          <a:xfrm>
            <a:off x="6355080" y="256032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23" name="Text 21"/>
          <p:cNvSpPr/>
          <p:nvPr/>
        </p:nvSpPr>
        <p:spPr>
          <a:xfrm>
            <a:off x="6464808" y="2633472"/>
            <a:ext cx="183794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Suitability gate</a:t>
            </a:r>
            <a:endParaRPr lang="en-US" sz="1500" dirty="0"/>
          </a:p>
        </p:txBody>
      </p:sp>
      <p:sp>
        <p:nvSpPr>
          <p:cNvPr id="24" name="Shape 22"/>
          <p:cNvSpPr/>
          <p:nvPr/>
        </p:nvSpPr>
        <p:spPr>
          <a:xfrm>
            <a:off x="8595360" y="256032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25" name="Text 23"/>
          <p:cNvSpPr/>
          <p:nvPr/>
        </p:nvSpPr>
        <p:spPr>
          <a:xfrm>
            <a:off x="8759952" y="2688336"/>
            <a:ext cx="2459736" cy="512064"/>
          </a:xfrm>
          <a:prstGeom prst="rect">
            <a:avLst/>
          </a:prstGeom>
          <a:noFill/>
          <a:ln/>
        </p:spPr>
        <p:txBody>
          <a:bodyPr wrap="square" lIns="254" tIns="254" rIns="254" bIns="254" rtlCol="0" anchor="ctr">
            <a:normAutofit fontScale="77500" lnSpcReduction="20000"/>
          </a:bodyPr>
          <a:lstStyle/>
          <a:p>
            <a:pPr marL="0" indent="0">
              <a:buNone/>
            </a:pPr>
            <a:r>
              <a:rPr lang="en-US" sz="1550" dirty="0">
                <a:solidFill>
                  <a:srgbClr val="1E2B32"/>
                </a:solidFill>
              </a:rPr>
              <a:t>If criticality, autonomy, opacity or ODD uncertainty is high, de-scope, downgrade or isolate the function.</a:t>
            </a:r>
            <a:endParaRPr lang="en-US" sz="1550" dirty="0"/>
          </a:p>
        </p:txBody>
      </p:sp>
      <p:sp>
        <p:nvSpPr>
          <p:cNvPr id="26" name="Shape 24"/>
          <p:cNvSpPr/>
          <p:nvPr/>
        </p:nvSpPr>
        <p:spPr>
          <a:xfrm>
            <a:off x="1005840" y="5257800"/>
            <a:ext cx="10149840" cy="896112"/>
          </a:xfrm>
          <a:prstGeom prst="roundRect">
            <a:avLst>
              <a:gd name="adj" fmla="val 11765"/>
            </a:avLst>
          </a:prstGeom>
          <a:solidFill>
            <a:srgbClr val="ECE9FF"/>
          </a:solidFill>
          <a:ln w="15240">
            <a:solidFill>
              <a:srgbClr val="7461D1"/>
            </a:solidFill>
            <a:prstDash val="solid"/>
          </a:ln>
        </p:spPr>
        <p:txBody>
          <a:bodyPr/>
          <a:lstStyle/>
          <a:p>
            <a:endParaRPr/>
          </a:p>
        </p:txBody>
      </p:sp>
      <p:sp>
        <p:nvSpPr>
          <p:cNvPr id="27" name="Text 25"/>
          <p:cNvSpPr/>
          <p:nvPr/>
        </p:nvSpPr>
        <p:spPr>
          <a:xfrm>
            <a:off x="1170432" y="5367528"/>
            <a:ext cx="9820656" cy="713232"/>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Design test for adoption: can the surrounding architecture keep the aircraft or aviation system safe when the model is wrong, uncertain, stale, unavailable or adversarially influenced?</a:t>
            </a:r>
            <a:endParaRPr lang="en-US" sz="1550" dirty="0"/>
          </a:p>
        </p:txBody>
      </p:sp>
      <p:sp>
        <p:nvSpPr>
          <p:cNvPr id="28" name="Text 26"/>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Drawn from Architecture Design and suitability matrix recommendations, pp.13–14.</a:t>
            </a:r>
            <a:endParaRPr lang="en-US" sz="750" dirty="0"/>
          </a:p>
        </p:txBody>
      </p:sp>
      <p:sp>
        <p:nvSpPr>
          <p:cNvPr id="29" name="Text 27"/>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30" name="Text 28"/>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Specific recommendations: implementation</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Make repeatability and configuration control part of the model build.</a:t>
            </a:r>
            <a:endParaRPr lang="en-US" sz="1250" dirty="0"/>
          </a:p>
        </p:txBody>
      </p:sp>
      <p:sp>
        <p:nvSpPr>
          <p:cNvPr id="6" name="Shape 4"/>
          <p:cNvSpPr/>
          <p:nvPr/>
        </p:nvSpPr>
        <p:spPr>
          <a:xfrm>
            <a:off x="777240" y="1234440"/>
            <a:ext cx="498348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7" name="Text 5"/>
          <p:cNvSpPr/>
          <p:nvPr/>
        </p:nvSpPr>
        <p:spPr>
          <a:xfrm>
            <a:off x="886968" y="1307592"/>
            <a:ext cx="476402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Data and model build</a:t>
            </a:r>
            <a:endParaRPr lang="en-US" sz="1500" dirty="0"/>
          </a:p>
        </p:txBody>
      </p:sp>
      <p:sp>
        <p:nvSpPr>
          <p:cNvPr id="8" name="Text 6"/>
          <p:cNvSpPr/>
          <p:nvPr/>
        </p:nvSpPr>
        <p:spPr>
          <a:xfrm>
            <a:off x="960120" y="1874520"/>
            <a:ext cx="4572000" cy="2240280"/>
          </a:xfrm>
          <a:prstGeom prst="rect">
            <a:avLst/>
          </a:prstGeom>
          <a:noFill/>
          <a:ln/>
        </p:spPr>
        <p:txBody>
          <a:bodyPr wrap="square" lIns="254" tIns="254" rIns="254" bIns="254" rtlCol="0" anchor="ctr">
            <a:normAutofit/>
          </a:bodyPr>
          <a:lstStyle/>
          <a:p>
            <a:r>
              <a:rPr lang="en-US" sz="1450" dirty="0">
                <a:solidFill>
                  <a:srgbClr val="1E2B32"/>
                </a:solidFill>
              </a:rPr>
              <a:t>Validated, configuration-controlled datasets</a:t>
            </a:r>
            <a:endParaRPr lang="en-US" sz="1450" dirty="0"/>
          </a:p>
          <a:p>
            <a:r>
              <a:rPr lang="en-US" sz="1450" dirty="0">
                <a:solidFill>
                  <a:srgbClr val="1E2B32"/>
                </a:solidFill>
              </a:rPr>
              <a:t>Documented provenance, ownership, licensing and suitability</a:t>
            </a:r>
            <a:endParaRPr lang="en-US" sz="1450" dirty="0"/>
          </a:p>
          <a:p>
            <a:r>
              <a:rPr lang="en-US" sz="1450" dirty="0">
                <a:solidFill>
                  <a:srgbClr val="1E2B32"/>
                </a:solidFill>
              </a:rPr>
              <a:t>Bias, imbalance, under-representation and over-representation analysis</a:t>
            </a:r>
            <a:endParaRPr lang="en-US" sz="1450" dirty="0"/>
          </a:p>
          <a:p>
            <a:r>
              <a:rPr lang="en-US" sz="1450" dirty="0">
                <a:solidFill>
                  <a:srgbClr val="1E2B32"/>
                </a:solidFill>
              </a:rPr>
              <a:t>Model architecture, hyperparameters, tooling and environment baselines</a:t>
            </a:r>
            <a:endParaRPr lang="en-US" sz="1450" dirty="0"/>
          </a:p>
          <a:p>
            <a:r>
              <a:rPr lang="en-US" sz="1450" dirty="0">
                <a:solidFill>
                  <a:srgbClr val="1E2B32"/>
                </a:solidFill>
              </a:rPr>
              <a:t>Repeatable training pipeline with reconstructable outputs</a:t>
            </a:r>
            <a:endParaRPr lang="en-US" sz="1450" dirty="0"/>
          </a:p>
        </p:txBody>
      </p:sp>
      <p:sp>
        <p:nvSpPr>
          <p:cNvPr id="9" name="Shape 7"/>
          <p:cNvSpPr/>
          <p:nvPr/>
        </p:nvSpPr>
        <p:spPr>
          <a:xfrm>
            <a:off x="6400800" y="1234440"/>
            <a:ext cx="4983480" cy="457200"/>
          </a:xfrm>
          <a:prstGeom prst="roundRect">
            <a:avLst>
              <a:gd name="adj" fmla="val 16000"/>
            </a:avLst>
          </a:prstGeom>
          <a:solidFill>
            <a:srgbClr val="2F67B1"/>
          </a:solidFill>
          <a:ln w="12700">
            <a:solidFill>
              <a:srgbClr val="2F67B1"/>
            </a:solidFill>
            <a:prstDash val="solid"/>
          </a:ln>
        </p:spPr>
        <p:txBody>
          <a:bodyPr/>
          <a:lstStyle/>
          <a:p>
            <a:endParaRPr/>
          </a:p>
        </p:txBody>
      </p:sp>
      <p:sp>
        <p:nvSpPr>
          <p:cNvPr id="10" name="Text 8"/>
          <p:cNvSpPr/>
          <p:nvPr/>
        </p:nvSpPr>
        <p:spPr>
          <a:xfrm>
            <a:off x="6510528" y="1307592"/>
            <a:ext cx="476402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Deployment and environment</a:t>
            </a:r>
            <a:endParaRPr lang="en-US" sz="1500" dirty="0"/>
          </a:p>
        </p:txBody>
      </p:sp>
      <p:sp>
        <p:nvSpPr>
          <p:cNvPr id="11" name="Text 9"/>
          <p:cNvSpPr/>
          <p:nvPr/>
        </p:nvSpPr>
        <p:spPr>
          <a:xfrm>
            <a:off x="6583680" y="1874520"/>
            <a:ext cx="4572000" cy="2240280"/>
          </a:xfrm>
          <a:prstGeom prst="rect">
            <a:avLst/>
          </a:prstGeom>
          <a:noFill/>
          <a:ln/>
        </p:spPr>
        <p:txBody>
          <a:bodyPr wrap="square" lIns="254" tIns="254" rIns="254" bIns="254" rtlCol="0" anchor="ctr">
            <a:normAutofit/>
          </a:bodyPr>
          <a:lstStyle/>
          <a:p>
            <a:r>
              <a:rPr lang="en-US" sz="1450" dirty="0">
                <a:solidFill>
                  <a:srgbClr val="1E2B32"/>
                </a:solidFill>
              </a:rPr>
              <a:t>Demonstrate functional equivalence between development and target-equivalent environments</a:t>
            </a:r>
            <a:endParaRPr lang="en-US" sz="1450" dirty="0"/>
          </a:p>
          <a:p>
            <a:r>
              <a:rPr lang="en-US" sz="1450" dirty="0">
                <a:solidFill>
                  <a:srgbClr val="1E2B32"/>
                </a:solidFill>
              </a:rPr>
              <a:t>Analyse portability where GPUs, TPUs or high-memory embedded processors are used</a:t>
            </a:r>
            <a:endParaRPr lang="en-US" sz="1450" dirty="0"/>
          </a:p>
          <a:p>
            <a:r>
              <a:rPr lang="en-US" sz="1450" dirty="0">
                <a:solidFill>
                  <a:srgbClr val="1E2B32"/>
                </a:solidFill>
              </a:rPr>
              <a:t>Control preprocessing, post-processing, model files, thresholds and generated artefacts</a:t>
            </a:r>
            <a:endParaRPr lang="en-US" sz="1450" dirty="0"/>
          </a:p>
          <a:p>
            <a:r>
              <a:rPr lang="en-US" sz="1450" dirty="0">
                <a:solidFill>
                  <a:srgbClr val="1E2B32"/>
                </a:solidFill>
              </a:rPr>
              <a:t>Prevent technical debt from compromising verification or evidence traceability</a:t>
            </a:r>
            <a:endParaRPr lang="en-US" sz="1450" dirty="0"/>
          </a:p>
          <a:p>
            <a:r>
              <a:rPr lang="en-US" sz="1450" dirty="0">
                <a:solidFill>
                  <a:srgbClr val="1E2B32"/>
                </a:solidFill>
              </a:rPr>
              <a:t>Freeze model baselines before certification evidence is credited</a:t>
            </a:r>
            <a:endParaRPr lang="en-US" sz="1450" dirty="0"/>
          </a:p>
        </p:txBody>
      </p:sp>
      <p:sp>
        <p:nvSpPr>
          <p:cNvPr id="12" name="Shape 10"/>
          <p:cNvSpPr/>
          <p:nvPr/>
        </p:nvSpPr>
        <p:spPr>
          <a:xfrm>
            <a:off x="1051560" y="5010912"/>
            <a:ext cx="10058400" cy="932688"/>
          </a:xfrm>
          <a:prstGeom prst="roundRect">
            <a:avLst>
              <a:gd name="adj" fmla="val 10667"/>
            </a:avLst>
          </a:prstGeom>
          <a:solidFill>
            <a:srgbClr val="FFFFFF"/>
          </a:solidFill>
          <a:ln w="15240">
            <a:solidFill>
              <a:srgbClr val="0F7C80"/>
            </a:solidFill>
            <a:prstDash val="solid"/>
          </a:ln>
        </p:spPr>
        <p:txBody>
          <a:bodyPr/>
          <a:lstStyle/>
          <a:p>
            <a:endParaRPr/>
          </a:p>
        </p:txBody>
      </p:sp>
      <p:sp>
        <p:nvSpPr>
          <p:cNvPr id="13" name="Text 11"/>
          <p:cNvSpPr/>
          <p:nvPr/>
        </p:nvSpPr>
        <p:spPr>
          <a:xfrm>
            <a:off x="1216152" y="5098211"/>
            <a:ext cx="9729216" cy="772237"/>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Implementation recommendation: establish the MLDevOps/CAS pipeline before substantive model development, so evidence can be produced upfront or generated regressively rather than reconstructed after the fact.</a:t>
            </a:r>
            <a:endParaRPr lang="en-US" sz="1550" dirty="0"/>
          </a:p>
        </p:txBody>
      </p:sp>
      <p:sp>
        <p:nvSpPr>
          <p:cNvPr id="14" name="Text 12"/>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Drawn from Model Implementation and MLDevOps process sections, pp.14–18.</a:t>
            </a:r>
            <a:endParaRPr lang="en-US" sz="750" dirty="0"/>
          </a:p>
        </p:txBody>
      </p:sp>
      <p:sp>
        <p:nvSpPr>
          <p:cNvPr id="15" name="Text 13"/>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6" name="Text 14"/>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Specific recommendations: testing</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Verify both model performance and safe integrated </a:t>
            </a:r>
            <a:r>
              <a:rPr lang="en-US" sz="1250" dirty="0" err="1">
                <a:solidFill>
                  <a:srgbClr val="35566B"/>
                </a:solidFill>
              </a:rPr>
              <a:t>behaviour</a:t>
            </a:r>
            <a:r>
              <a:rPr lang="en-US" sz="1250" dirty="0">
                <a:solidFill>
                  <a:srgbClr val="35566B"/>
                </a:solidFill>
              </a:rPr>
              <a:t>.</a:t>
            </a:r>
            <a:endParaRPr lang="en-US" sz="1250" dirty="0"/>
          </a:p>
        </p:txBody>
      </p:sp>
      <p:sp>
        <p:nvSpPr>
          <p:cNvPr id="6" name="Shape 4"/>
          <p:cNvSpPr/>
          <p:nvPr/>
        </p:nvSpPr>
        <p:spPr>
          <a:xfrm>
            <a:off x="822960" y="1234440"/>
            <a:ext cx="1325880" cy="475488"/>
          </a:xfrm>
          <a:prstGeom prst="roundRect">
            <a:avLst>
              <a:gd name="adj" fmla="val 15385"/>
            </a:avLst>
          </a:prstGeom>
          <a:solidFill>
            <a:srgbClr val="0E2A3B"/>
          </a:solidFill>
          <a:ln w="12700">
            <a:solidFill>
              <a:srgbClr val="0E2A3B"/>
            </a:solidFill>
            <a:prstDash val="solid"/>
          </a:ln>
        </p:spPr>
        <p:txBody>
          <a:bodyPr/>
          <a:lstStyle/>
          <a:p>
            <a:endParaRPr/>
          </a:p>
        </p:txBody>
      </p:sp>
      <p:sp>
        <p:nvSpPr>
          <p:cNvPr id="7" name="Text 5"/>
          <p:cNvSpPr/>
          <p:nvPr/>
        </p:nvSpPr>
        <p:spPr>
          <a:xfrm>
            <a:off x="932688" y="1307592"/>
            <a:ext cx="110642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Unit</a:t>
            </a:r>
            <a:endParaRPr lang="en-US" sz="1500" dirty="0"/>
          </a:p>
        </p:txBody>
      </p:sp>
      <p:sp>
        <p:nvSpPr>
          <p:cNvPr id="8" name="Shape 6"/>
          <p:cNvSpPr/>
          <p:nvPr/>
        </p:nvSpPr>
        <p:spPr>
          <a:xfrm>
            <a:off x="2423160" y="1234440"/>
            <a:ext cx="8823960" cy="640080"/>
          </a:xfrm>
          <a:prstGeom prst="roundRect">
            <a:avLst>
              <a:gd name="adj" fmla="val 11429"/>
            </a:avLst>
          </a:prstGeom>
          <a:solidFill>
            <a:srgbClr val="FFFFFF"/>
          </a:solidFill>
          <a:ln w="15240">
            <a:solidFill>
              <a:srgbClr val="0E2A3B"/>
            </a:solidFill>
            <a:prstDash val="solid"/>
          </a:ln>
        </p:spPr>
        <p:txBody>
          <a:bodyPr/>
          <a:lstStyle/>
          <a:p>
            <a:endParaRPr/>
          </a:p>
        </p:txBody>
      </p:sp>
      <p:sp>
        <p:nvSpPr>
          <p:cNvPr id="9" name="Text 7"/>
          <p:cNvSpPr/>
          <p:nvPr/>
        </p:nvSpPr>
        <p:spPr>
          <a:xfrm>
            <a:off x="2587752" y="1362456"/>
            <a:ext cx="8494776" cy="438912"/>
          </a:xfrm>
          <a:prstGeom prst="rect">
            <a:avLst/>
          </a:prstGeom>
          <a:noFill/>
          <a:ln/>
        </p:spPr>
        <p:txBody>
          <a:bodyPr wrap="square" lIns="254" tIns="254" rIns="254" bIns="254" rtlCol="0" anchor="ctr">
            <a:normAutofit lnSpcReduction="10000"/>
          </a:bodyPr>
          <a:lstStyle/>
          <a:p>
            <a:pPr marL="0" indent="0">
              <a:buNone/>
            </a:pPr>
            <a:r>
              <a:rPr lang="en-US" sz="1550" dirty="0">
                <a:solidFill>
                  <a:srgbClr val="1E2B32"/>
                </a:solidFill>
              </a:rPr>
              <a:t>Preprocessing, feature extraction, input validation, post-processing, confidence handling, monitor logic, model loading, boundary values and malformed inputs.</a:t>
            </a:r>
            <a:endParaRPr lang="en-US" sz="1550" dirty="0"/>
          </a:p>
        </p:txBody>
      </p:sp>
      <p:sp>
        <p:nvSpPr>
          <p:cNvPr id="10" name="Shape 8"/>
          <p:cNvSpPr/>
          <p:nvPr/>
        </p:nvSpPr>
        <p:spPr>
          <a:xfrm>
            <a:off x="822960" y="2258568"/>
            <a:ext cx="1325880" cy="475488"/>
          </a:xfrm>
          <a:prstGeom prst="roundRect">
            <a:avLst>
              <a:gd name="adj" fmla="val 15385"/>
            </a:avLst>
          </a:prstGeom>
          <a:solidFill>
            <a:srgbClr val="0F7C80"/>
          </a:solidFill>
          <a:ln w="12700">
            <a:solidFill>
              <a:srgbClr val="0F7C80"/>
            </a:solidFill>
            <a:prstDash val="solid"/>
          </a:ln>
        </p:spPr>
        <p:txBody>
          <a:bodyPr/>
          <a:lstStyle/>
          <a:p>
            <a:endParaRPr/>
          </a:p>
        </p:txBody>
      </p:sp>
      <p:sp>
        <p:nvSpPr>
          <p:cNvPr id="11" name="Text 9"/>
          <p:cNvSpPr/>
          <p:nvPr/>
        </p:nvSpPr>
        <p:spPr>
          <a:xfrm>
            <a:off x="932688" y="2331720"/>
            <a:ext cx="110642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SIL</a:t>
            </a:r>
            <a:endParaRPr lang="en-US" sz="1500" dirty="0"/>
          </a:p>
        </p:txBody>
      </p:sp>
      <p:sp>
        <p:nvSpPr>
          <p:cNvPr id="12" name="Shape 10"/>
          <p:cNvSpPr/>
          <p:nvPr/>
        </p:nvSpPr>
        <p:spPr>
          <a:xfrm>
            <a:off x="2423160" y="2258568"/>
            <a:ext cx="8823960" cy="640080"/>
          </a:xfrm>
          <a:prstGeom prst="roundRect">
            <a:avLst>
              <a:gd name="adj" fmla="val 11429"/>
            </a:avLst>
          </a:prstGeom>
          <a:solidFill>
            <a:srgbClr val="FFFFFF"/>
          </a:solidFill>
          <a:ln w="15240">
            <a:solidFill>
              <a:srgbClr val="0F7C80"/>
            </a:solidFill>
            <a:prstDash val="solid"/>
          </a:ln>
        </p:spPr>
        <p:txBody>
          <a:bodyPr/>
          <a:lstStyle/>
          <a:p>
            <a:endParaRPr/>
          </a:p>
        </p:txBody>
      </p:sp>
      <p:sp>
        <p:nvSpPr>
          <p:cNvPr id="13" name="Text 11"/>
          <p:cNvSpPr/>
          <p:nvPr/>
        </p:nvSpPr>
        <p:spPr>
          <a:xfrm>
            <a:off x="2587752" y="2386584"/>
            <a:ext cx="8494776" cy="438912"/>
          </a:xfrm>
          <a:prstGeom prst="rect">
            <a:avLst/>
          </a:prstGeom>
          <a:noFill/>
          <a:ln/>
        </p:spPr>
        <p:txBody>
          <a:bodyPr wrap="square" lIns="254" tIns="254" rIns="254" bIns="254" rtlCol="0" anchor="ctr">
            <a:normAutofit lnSpcReduction="10000"/>
          </a:bodyPr>
          <a:lstStyle/>
          <a:p>
            <a:pPr marL="0" indent="0">
              <a:buNone/>
            </a:pPr>
            <a:r>
              <a:rPr lang="en-US" sz="1550" dirty="0">
                <a:solidFill>
                  <a:srgbClr val="1E2B32"/>
                </a:solidFill>
              </a:rPr>
              <a:t>Nominal scenarios, edge cases, degraded data, simulated sensor failures, out-of-distribution inputs and regression datasets.</a:t>
            </a:r>
            <a:endParaRPr lang="en-US" sz="1550" dirty="0"/>
          </a:p>
        </p:txBody>
      </p:sp>
      <p:sp>
        <p:nvSpPr>
          <p:cNvPr id="14" name="Shape 12"/>
          <p:cNvSpPr/>
          <p:nvPr/>
        </p:nvSpPr>
        <p:spPr>
          <a:xfrm>
            <a:off x="822960" y="3282696"/>
            <a:ext cx="1325880" cy="475488"/>
          </a:xfrm>
          <a:prstGeom prst="roundRect">
            <a:avLst>
              <a:gd name="adj" fmla="val 15385"/>
            </a:avLst>
          </a:prstGeom>
          <a:solidFill>
            <a:srgbClr val="2F67B1"/>
          </a:solidFill>
          <a:ln w="12700">
            <a:solidFill>
              <a:srgbClr val="2F67B1"/>
            </a:solidFill>
            <a:prstDash val="solid"/>
          </a:ln>
        </p:spPr>
        <p:txBody>
          <a:bodyPr/>
          <a:lstStyle/>
          <a:p>
            <a:endParaRPr/>
          </a:p>
        </p:txBody>
      </p:sp>
      <p:sp>
        <p:nvSpPr>
          <p:cNvPr id="15" name="Text 13"/>
          <p:cNvSpPr/>
          <p:nvPr/>
        </p:nvSpPr>
        <p:spPr>
          <a:xfrm>
            <a:off x="932688" y="3355848"/>
            <a:ext cx="110642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HIL</a:t>
            </a:r>
            <a:endParaRPr lang="en-US" sz="1500" dirty="0"/>
          </a:p>
        </p:txBody>
      </p:sp>
      <p:sp>
        <p:nvSpPr>
          <p:cNvPr id="16" name="Shape 14"/>
          <p:cNvSpPr/>
          <p:nvPr/>
        </p:nvSpPr>
        <p:spPr>
          <a:xfrm>
            <a:off x="2423160" y="3282696"/>
            <a:ext cx="8823960" cy="640080"/>
          </a:xfrm>
          <a:prstGeom prst="roundRect">
            <a:avLst>
              <a:gd name="adj" fmla="val 11429"/>
            </a:avLst>
          </a:prstGeom>
          <a:solidFill>
            <a:srgbClr val="FFFFFF"/>
          </a:solidFill>
          <a:ln w="15240">
            <a:solidFill>
              <a:srgbClr val="2F67B1"/>
            </a:solidFill>
            <a:prstDash val="solid"/>
          </a:ln>
        </p:spPr>
        <p:txBody>
          <a:bodyPr/>
          <a:lstStyle/>
          <a:p>
            <a:endParaRPr/>
          </a:p>
        </p:txBody>
      </p:sp>
      <p:sp>
        <p:nvSpPr>
          <p:cNvPr id="17" name="Text 15"/>
          <p:cNvSpPr/>
          <p:nvPr/>
        </p:nvSpPr>
        <p:spPr>
          <a:xfrm>
            <a:off x="2587752" y="3410712"/>
            <a:ext cx="8494776" cy="438912"/>
          </a:xfrm>
          <a:prstGeom prst="rect">
            <a:avLst/>
          </a:prstGeom>
          <a:noFill/>
          <a:ln/>
        </p:spPr>
        <p:txBody>
          <a:bodyPr wrap="square" lIns="254" tIns="254" rIns="254" bIns="254" rtlCol="0" anchor="ctr">
            <a:normAutofit lnSpcReduction="10000"/>
          </a:bodyPr>
          <a:lstStyle/>
          <a:p>
            <a:pPr marL="0" indent="0">
              <a:buNone/>
            </a:pPr>
            <a:r>
              <a:rPr lang="en-US" sz="1550" dirty="0">
                <a:solidFill>
                  <a:srgbClr val="1E2B32"/>
                </a:solidFill>
              </a:rPr>
              <a:t>Timing, memory, processing constraints, bus behaviour, sensor effects and target-equivalent hardware performance.</a:t>
            </a:r>
            <a:endParaRPr lang="en-US" sz="1550" dirty="0"/>
          </a:p>
        </p:txBody>
      </p:sp>
      <p:sp>
        <p:nvSpPr>
          <p:cNvPr id="18" name="Shape 16"/>
          <p:cNvSpPr/>
          <p:nvPr/>
        </p:nvSpPr>
        <p:spPr>
          <a:xfrm>
            <a:off x="822960" y="4306824"/>
            <a:ext cx="1325880" cy="475488"/>
          </a:xfrm>
          <a:prstGeom prst="roundRect">
            <a:avLst>
              <a:gd name="adj" fmla="val 15385"/>
            </a:avLst>
          </a:prstGeom>
          <a:solidFill>
            <a:srgbClr val="7461D1"/>
          </a:solidFill>
          <a:ln w="12700">
            <a:solidFill>
              <a:srgbClr val="7461D1"/>
            </a:solidFill>
            <a:prstDash val="solid"/>
          </a:ln>
        </p:spPr>
        <p:txBody>
          <a:bodyPr/>
          <a:lstStyle/>
          <a:p>
            <a:endParaRPr/>
          </a:p>
        </p:txBody>
      </p:sp>
      <p:sp>
        <p:nvSpPr>
          <p:cNvPr id="19" name="Text 17"/>
          <p:cNvSpPr/>
          <p:nvPr/>
        </p:nvSpPr>
        <p:spPr>
          <a:xfrm>
            <a:off x="932688" y="4379976"/>
            <a:ext cx="1106424" cy="35661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Flight</a:t>
            </a:r>
            <a:endParaRPr lang="en-US" sz="1500" dirty="0"/>
          </a:p>
        </p:txBody>
      </p:sp>
      <p:sp>
        <p:nvSpPr>
          <p:cNvPr id="20" name="Shape 18"/>
          <p:cNvSpPr/>
          <p:nvPr/>
        </p:nvSpPr>
        <p:spPr>
          <a:xfrm>
            <a:off x="2423160" y="4306824"/>
            <a:ext cx="8823960" cy="640080"/>
          </a:xfrm>
          <a:prstGeom prst="roundRect">
            <a:avLst>
              <a:gd name="adj" fmla="val 11429"/>
            </a:avLst>
          </a:prstGeom>
          <a:solidFill>
            <a:srgbClr val="FFFFFF"/>
          </a:solidFill>
          <a:ln w="15240">
            <a:solidFill>
              <a:srgbClr val="7461D1"/>
            </a:solidFill>
            <a:prstDash val="solid"/>
          </a:ln>
        </p:spPr>
        <p:txBody>
          <a:bodyPr/>
          <a:lstStyle/>
          <a:p>
            <a:endParaRPr/>
          </a:p>
        </p:txBody>
      </p:sp>
      <p:sp>
        <p:nvSpPr>
          <p:cNvPr id="21" name="Text 19"/>
          <p:cNvSpPr/>
          <p:nvPr/>
        </p:nvSpPr>
        <p:spPr>
          <a:xfrm>
            <a:off x="2587752" y="4434840"/>
            <a:ext cx="8494776" cy="438912"/>
          </a:xfrm>
          <a:prstGeom prst="rect">
            <a:avLst/>
          </a:prstGeom>
          <a:noFill/>
          <a:ln/>
        </p:spPr>
        <p:txBody>
          <a:bodyPr wrap="square" lIns="254" tIns="254" rIns="254" bIns="254" rtlCol="0" anchor="ctr">
            <a:normAutofit lnSpcReduction="10000"/>
          </a:bodyPr>
          <a:lstStyle/>
          <a:p>
            <a:pPr marL="0" indent="0">
              <a:buNone/>
            </a:pPr>
            <a:r>
              <a:rPr lang="en-US" sz="1550" dirty="0">
                <a:solidFill>
                  <a:srgbClr val="1E2B32"/>
                </a:solidFill>
              </a:rPr>
              <a:t>Real-world validation, HMI assessment, certification data collection, clear test boundaries, fallback procedures, independent monitoring and abort criteria.</a:t>
            </a:r>
            <a:endParaRPr lang="en-US" sz="1550" dirty="0"/>
          </a:p>
        </p:txBody>
      </p:sp>
      <p:sp>
        <p:nvSpPr>
          <p:cNvPr id="22" name="Shape 20"/>
          <p:cNvSpPr/>
          <p:nvPr/>
        </p:nvSpPr>
        <p:spPr>
          <a:xfrm>
            <a:off x="1097280" y="5623560"/>
            <a:ext cx="10012680" cy="566928"/>
          </a:xfrm>
          <a:prstGeom prst="roundRect">
            <a:avLst>
              <a:gd name="adj" fmla="val 12903"/>
            </a:avLst>
          </a:prstGeom>
          <a:solidFill>
            <a:srgbClr val="ECE9FF"/>
          </a:solidFill>
          <a:ln w="15240">
            <a:solidFill>
              <a:srgbClr val="7461D1"/>
            </a:solidFill>
            <a:prstDash val="solid"/>
          </a:ln>
        </p:spPr>
        <p:txBody>
          <a:bodyPr/>
          <a:lstStyle/>
          <a:p>
            <a:endParaRPr/>
          </a:p>
        </p:txBody>
      </p:sp>
      <p:sp>
        <p:nvSpPr>
          <p:cNvPr id="23" name="Text 21"/>
          <p:cNvSpPr/>
          <p:nvPr/>
        </p:nvSpPr>
        <p:spPr>
          <a:xfrm>
            <a:off x="1261872" y="5751576"/>
            <a:ext cx="9683496" cy="365760"/>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Testing recommendation: demonstrate safe system response when the model is correct, incorrect, uncertain, unavailable, degraded or exposed to unexpected inputs.</a:t>
            </a:r>
            <a:endParaRPr lang="en-US" sz="1550" dirty="0"/>
          </a:p>
        </p:txBody>
      </p:sp>
      <p:sp>
        <p:nvSpPr>
          <p:cNvPr id="24" name="Text 22"/>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Drawn from Verification of the Model and Integrated System and System Integration and Flight Testing sections, pp.18–23.</a:t>
            </a:r>
            <a:endParaRPr lang="en-US" sz="750" dirty="0"/>
          </a:p>
        </p:txBody>
      </p:sp>
      <p:sp>
        <p:nvSpPr>
          <p:cNvPr id="25" name="Text 23"/>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26" name="Text 24"/>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DFCE3BF-CD59-462D-9B06-D683A0043EF8}"/>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FFB057DD-6410-45A8-A738-1A728E54706D}"/>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AE18939B-B57F-4479-A0DC-3580CD9B95C2}"/>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a:solidFill>
                  <a:srgbClr val="0E2A3B"/>
                </a:solidFill>
                <a:latin typeface="Aptos Display"/>
                <a:ea typeface="Aptos Display"/>
                <a:cs typeface="Aptos Display"/>
              </a:rPr>
              <a:t>AI changes the evidence—not the discipline</a:t>
            </a:r>
            <a:endParaRPr sz="2800"/>
          </a:p>
        </p:txBody>
      </p:sp>
      <p:sp>
        <p:nvSpPr>
          <p:cNvPr id="5" name="Text 3">
            <a:extLst>
              <a:ext uri="{FF2B5EF4-FFF2-40B4-BE49-F238E27FC236}">
                <a16:creationId xmlns:a16="http://schemas.microsoft.com/office/drawing/2014/main" id="{6526CFEF-4513-4112-B6C2-38AC96F20061}"/>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Traditional practices remain; learning introduces additional evidence.</a:t>
            </a:r>
            <a:endParaRPr sz="1250"/>
          </a:p>
        </p:txBody>
      </p:sp>
      <p:sp>
        <p:nvSpPr>
          <p:cNvPr id="6" name="Shape 4">
            <a:extLst>
              <a:ext uri="{FF2B5EF4-FFF2-40B4-BE49-F238E27FC236}">
                <a16:creationId xmlns:a16="http://schemas.microsoft.com/office/drawing/2014/main" id="{30522C68-4011-4A4E-9DA4-39E992FCC227}"/>
              </a:ext>
            </a:extLst>
          </p:cNvPr>
          <p:cNvSpPr>
            <a:spLocks noGrp="1"/>
          </p:cNvSpPr>
          <p:nvPr/>
        </p:nvSpPr>
        <p:spPr>
          <a:xfrm>
            <a:off x="594360" y="1143000"/>
            <a:ext cx="1828800" cy="749808"/>
          </a:xfrm>
          <a:prstGeom prst="rect">
            <a:avLst/>
          </a:prstGeom>
          <a:solidFill>
            <a:srgbClr val="0E2A3B"/>
          </a:solidFill>
          <a:ln w="10160">
            <a:solidFill>
              <a:srgbClr val="E9EEF1"/>
            </a:solidFill>
            <a:prstDash val="solid"/>
          </a:ln>
        </p:spPr>
        <p:txBody>
          <a:bodyPr/>
          <a:lstStyle/>
          <a:p>
            <a:endParaRPr/>
          </a:p>
        </p:txBody>
      </p:sp>
      <p:sp>
        <p:nvSpPr>
          <p:cNvPr id="7" name="Text 5">
            <a:extLst>
              <a:ext uri="{FF2B5EF4-FFF2-40B4-BE49-F238E27FC236}">
                <a16:creationId xmlns:a16="http://schemas.microsoft.com/office/drawing/2014/main" id="{AECDB3A5-43F7-4663-85C0-9A174DDB0F57}"/>
              </a:ext>
            </a:extLst>
          </p:cNvPr>
          <p:cNvSpPr>
            <a:spLocks noGrp="1"/>
          </p:cNvSpPr>
          <p:nvPr/>
        </p:nvSpPr>
        <p:spPr>
          <a:xfrm>
            <a:off x="667512" y="1243584"/>
            <a:ext cx="1682496" cy="585216"/>
          </a:xfrm>
          <a:prstGeom prst="rect">
            <a:avLst/>
          </a:prstGeom>
          <a:noFill/>
        </p:spPr>
        <p:txBody>
          <a:bodyPr wrap="square" lIns="0" tIns="0" rIns="0" bIns="0" anchor="ctr">
            <a:normAutofit/>
          </a:bodyPr>
          <a:lstStyle/>
          <a:p>
            <a:pPr marL="0" indent="0">
              <a:buNone/>
            </a:pPr>
            <a:r>
              <a:rPr sz="1100" b="1">
                <a:solidFill>
                  <a:srgbClr val="FFFFFF"/>
                </a:solidFill>
              </a:rPr>
              <a:t>Assurance area</a:t>
            </a:r>
            <a:endParaRPr sz="1100"/>
          </a:p>
        </p:txBody>
      </p:sp>
      <p:sp>
        <p:nvSpPr>
          <p:cNvPr id="8" name="Shape 6">
            <a:extLst>
              <a:ext uri="{FF2B5EF4-FFF2-40B4-BE49-F238E27FC236}">
                <a16:creationId xmlns:a16="http://schemas.microsoft.com/office/drawing/2014/main" id="{29F3984B-3F94-4379-8F24-F4E4AB0FCE89}"/>
              </a:ext>
            </a:extLst>
          </p:cNvPr>
          <p:cNvSpPr>
            <a:spLocks noGrp="1"/>
          </p:cNvSpPr>
          <p:nvPr/>
        </p:nvSpPr>
        <p:spPr>
          <a:xfrm>
            <a:off x="2423160" y="1143000"/>
            <a:ext cx="2743200" cy="749808"/>
          </a:xfrm>
          <a:prstGeom prst="rect">
            <a:avLst/>
          </a:prstGeom>
          <a:solidFill>
            <a:srgbClr val="0E2A3B"/>
          </a:solidFill>
          <a:ln w="10160">
            <a:solidFill>
              <a:srgbClr val="E9EEF1"/>
            </a:solidFill>
            <a:prstDash val="solid"/>
          </a:ln>
        </p:spPr>
        <p:txBody>
          <a:bodyPr/>
          <a:lstStyle/>
          <a:p>
            <a:endParaRPr/>
          </a:p>
        </p:txBody>
      </p:sp>
      <p:sp>
        <p:nvSpPr>
          <p:cNvPr id="9" name="Text 7">
            <a:extLst>
              <a:ext uri="{FF2B5EF4-FFF2-40B4-BE49-F238E27FC236}">
                <a16:creationId xmlns:a16="http://schemas.microsoft.com/office/drawing/2014/main" id="{0C159AB0-BEFA-4876-93D8-EB4A347C3E49}"/>
              </a:ext>
            </a:extLst>
          </p:cNvPr>
          <p:cNvSpPr>
            <a:spLocks noGrp="1"/>
          </p:cNvSpPr>
          <p:nvPr/>
        </p:nvSpPr>
        <p:spPr>
          <a:xfrm>
            <a:off x="2496312" y="1243584"/>
            <a:ext cx="2596896" cy="585216"/>
          </a:xfrm>
          <a:prstGeom prst="rect">
            <a:avLst/>
          </a:prstGeom>
          <a:noFill/>
        </p:spPr>
        <p:txBody>
          <a:bodyPr wrap="square" lIns="0" tIns="0" rIns="0" bIns="0" anchor="ctr">
            <a:normAutofit/>
          </a:bodyPr>
          <a:lstStyle/>
          <a:p>
            <a:pPr marL="0" indent="0">
              <a:buNone/>
            </a:pPr>
            <a:r>
              <a:rPr sz="1100" b="1">
                <a:solidFill>
                  <a:srgbClr val="FFFFFF"/>
                </a:solidFill>
              </a:rPr>
              <a:t>Conventional software</a:t>
            </a:r>
            <a:endParaRPr sz="1100"/>
          </a:p>
        </p:txBody>
      </p:sp>
      <p:sp>
        <p:nvSpPr>
          <p:cNvPr id="10" name="Shape 8">
            <a:extLst>
              <a:ext uri="{FF2B5EF4-FFF2-40B4-BE49-F238E27FC236}">
                <a16:creationId xmlns:a16="http://schemas.microsoft.com/office/drawing/2014/main" id="{DEE3DB6D-71D3-463C-B018-85F7F1219F1E}"/>
              </a:ext>
            </a:extLst>
          </p:cNvPr>
          <p:cNvSpPr>
            <a:spLocks noGrp="1"/>
          </p:cNvSpPr>
          <p:nvPr/>
        </p:nvSpPr>
        <p:spPr>
          <a:xfrm>
            <a:off x="5166360" y="1143000"/>
            <a:ext cx="6080760" cy="749808"/>
          </a:xfrm>
          <a:prstGeom prst="rect">
            <a:avLst/>
          </a:prstGeom>
          <a:solidFill>
            <a:srgbClr val="0E2A3B"/>
          </a:solidFill>
          <a:ln w="10160">
            <a:solidFill>
              <a:srgbClr val="E9EEF1"/>
            </a:solidFill>
            <a:prstDash val="solid"/>
          </a:ln>
        </p:spPr>
        <p:txBody>
          <a:bodyPr/>
          <a:lstStyle/>
          <a:p>
            <a:endParaRPr/>
          </a:p>
        </p:txBody>
      </p:sp>
      <p:sp>
        <p:nvSpPr>
          <p:cNvPr id="11" name="Text 9">
            <a:extLst>
              <a:ext uri="{FF2B5EF4-FFF2-40B4-BE49-F238E27FC236}">
                <a16:creationId xmlns:a16="http://schemas.microsoft.com/office/drawing/2014/main" id="{8D95A835-51B1-48AF-816F-2D7B81B8081C}"/>
              </a:ext>
            </a:extLst>
          </p:cNvPr>
          <p:cNvSpPr>
            <a:spLocks noGrp="1"/>
          </p:cNvSpPr>
          <p:nvPr/>
        </p:nvSpPr>
        <p:spPr>
          <a:xfrm>
            <a:off x="5239512" y="1243584"/>
            <a:ext cx="5934456" cy="585216"/>
          </a:xfrm>
          <a:prstGeom prst="rect">
            <a:avLst/>
          </a:prstGeom>
          <a:noFill/>
        </p:spPr>
        <p:txBody>
          <a:bodyPr wrap="square" lIns="0" tIns="0" rIns="0" bIns="0" anchor="ctr">
            <a:normAutofit/>
          </a:bodyPr>
          <a:lstStyle/>
          <a:p>
            <a:pPr marL="0" indent="0">
              <a:buNone/>
            </a:pPr>
            <a:r>
              <a:rPr sz="1100" b="1">
                <a:solidFill>
                  <a:srgbClr val="FFFFFF"/>
                </a:solidFill>
              </a:rPr>
              <a:t>ML-enabled system</a:t>
            </a:r>
            <a:endParaRPr sz="1100"/>
          </a:p>
        </p:txBody>
      </p:sp>
      <p:sp>
        <p:nvSpPr>
          <p:cNvPr id="12" name="Shape 10">
            <a:extLst>
              <a:ext uri="{FF2B5EF4-FFF2-40B4-BE49-F238E27FC236}">
                <a16:creationId xmlns:a16="http://schemas.microsoft.com/office/drawing/2014/main" id="{E9DC6ABF-1E68-47F4-8B55-1E90D630AC2E}"/>
              </a:ext>
            </a:extLst>
          </p:cNvPr>
          <p:cNvSpPr>
            <a:spLocks noGrp="1"/>
          </p:cNvSpPr>
          <p:nvPr/>
        </p:nvSpPr>
        <p:spPr>
          <a:xfrm>
            <a:off x="594360" y="1892808"/>
            <a:ext cx="1828800" cy="749808"/>
          </a:xfrm>
          <a:prstGeom prst="rect">
            <a:avLst/>
          </a:prstGeom>
          <a:solidFill>
            <a:srgbClr val="DCEAF6"/>
          </a:solidFill>
          <a:ln w="10160">
            <a:solidFill>
              <a:srgbClr val="E9EEF1"/>
            </a:solidFill>
            <a:prstDash val="solid"/>
          </a:ln>
        </p:spPr>
        <p:txBody>
          <a:bodyPr/>
          <a:lstStyle/>
          <a:p>
            <a:endParaRPr/>
          </a:p>
        </p:txBody>
      </p:sp>
      <p:sp>
        <p:nvSpPr>
          <p:cNvPr id="13" name="Text 11">
            <a:extLst>
              <a:ext uri="{FF2B5EF4-FFF2-40B4-BE49-F238E27FC236}">
                <a16:creationId xmlns:a16="http://schemas.microsoft.com/office/drawing/2014/main" id="{A41AF40C-674C-41D6-A795-AD1968FD5799}"/>
              </a:ext>
            </a:extLst>
          </p:cNvPr>
          <p:cNvSpPr>
            <a:spLocks noGrp="1"/>
          </p:cNvSpPr>
          <p:nvPr/>
        </p:nvSpPr>
        <p:spPr>
          <a:xfrm>
            <a:off x="667512" y="1993392"/>
            <a:ext cx="1682496" cy="585216"/>
          </a:xfrm>
          <a:prstGeom prst="rect">
            <a:avLst/>
          </a:prstGeom>
          <a:noFill/>
        </p:spPr>
        <p:txBody>
          <a:bodyPr wrap="square" lIns="0" tIns="0" rIns="0" bIns="0" anchor="ctr">
            <a:normAutofit/>
          </a:bodyPr>
          <a:lstStyle/>
          <a:p>
            <a:pPr marL="0" indent="0">
              <a:buNone/>
            </a:pPr>
            <a:r>
              <a:rPr sz="1030" b="1">
                <a:solidFill>
                  <a:srgbClr val="1E2B32"/>
                </a:solidFill>
              </a:rPr>
              <a:t>Requirements</a:t>
            </a:r>
            <a:endParaRPr sz="1030"/>
          </a:p>
        </p:txBody>
      </p:sp>
      <p:sp>
        <p:nvSpPr>
          <p:cNvPr id="14" name="Shape 12">
            <a:extLst>
              <a:ext uri="{FF2B5EF4-FFF2-40B4-BE49-F238E27FC236}">
                <a16:creationId xmlns:a16="http://schemas.microsoft.com/office/drawing/2014/main" id="{924E7DEB-D5DA-44BE-8AB9-AE36534BA064}"/>
              </a:ext>
            </a:extLst>
          </p:cNvPr>
          <p:cNvSpPr>
            <a:spLocks noGrp="1"/>
          </p:cNvSpPr>
          <p:nvPr/>
        </p:nvSpPr>
        <p:spPr>
          <a:xfrm>
            <a:off x="2423160" y="1892808"/>
            <a:ext cx="2743200" cy="749808"/>
          </a:xfrm>
          <a:prstGeom prst="rect">
            <a:avLst/>
          </a:prstGeom>
          <a:solidFill>
            <a:srgbClr val="FFFFFF"/>
          </a:solidFill>
          <a:ln w="10160">
            <a:solidFill>
              <a:srgbClr val="E9EEF1"/>
            </a:solidFill>
            <a:prstDash val="solid"/>
          </a:ln>
        </p:spPr>
        <p:txBody>
          <a:bodyPr/>
          <a:lstStyle/>
          <a:p>
            <a:endParaRPr/>
          </a:p>
        </p:txBody>
      </p:sp>
      <p:sp>
        <p:nvSpPr>
          <p:cNvPr id="15" name="Text 13">
            <a:extLst>
              <a:ext uri="{FF2B5EF4-FFF2-40B4-BE49-F238E27FC236}">
                <a16:creationId xmlns:a16="http://schemas.microsoft.com/office/drawing/2014/main" id="{71870DFE-47C0-48D8-AC87-E381F70885E6}"/>
              </a:ext>
            </a:extLst>
          </p:cNvPr>
          <p:cNvSpPr>
            <a:spLocks noGrp="1"/>
          </p:cNvSpPr>
          <p:nvPr/>
        </p:nvSpPr>
        <p:spPr>
          <a:xfrm>
            <a:off x="2496312" y="1993392"/>
            <a:ext cx="2596896" cy="585216"/>
          </a:xfrm>
          <a:prstGeom prst="rect">
            <a:avLst/>
          </a:prstGeom>
          <a:noFill/>
        </p:spPr>
        <p:txBody>
          <a:bodyPr wrap="square" lIns="0" tIns="0" rIns="0" bIns="0" anchor="ctr">
            <a:normAutofit/>
          </a:bodyPr>
          <a:lstStyle/>
          <a:p>
            <a:pPr marL="0" indent="0">
              <a:buNone/>
            </a:pPr>
            <a:r>
              <a:rPr sz="1030">
                <a:solidFill>
                  <a:srgbClr val="1E2B32"/>
                </a:solidFill>
              </a:rPr>
              <a:t>Mostly explicit behaviour</a:t>
            </a:r>
            <a:endParaRPr sz="1030"/>
          </a:p>
        </p:txBody>
      </p:sp>
      <p:sp>
        <p:nvSpPr>
          <p:cNvPr id="16" name="Shape 14">
            <a:extLst>
              <a:ext uri="{FF2B5EF4-FFF2-40B4-BE49-F238E27FC236}">
                <a16:creationId xmlns:a16="http://schemas.microsoft.com/office/drawing/2014/main" id="{0302C091-1B2E-4972-8698-15FAC8AD7BB0}"/>
              </a:ext>
            </a:extLst>
          </p:cNvPr>
          <p:cNvSpPr>
            <a:spLocks noGrp="1"/>
          </p:cNvSpPr>
          <p:nvPr/>
        </p:nvSpPr>
        <p:spPr>
          <a:xfrm>
            <a:off x="5166360" y="1892808"/>
            <a:ext cx="6080760" cy="749808"/>
          </a:xfrm>
          <a:prstGeom prst="rect">
            <a:avLst/>
          </a:prstGeom>
          <a:solidFill>
            <a:srgbClr val="FFFFFF"/>
          </a:solidFill>
          <a:ln w="10160">
            <a:solidFill>
              <a:srgbClr val="E9EEF1"/>
            </a:solidFill>
            <a:prstDash val="solid"/>
          </a:ln>
        </p:spPr>
        <p:txBody>
          <a:bodyPr/>
          <a:lstStyle/>
          <a:p>
            <a:endParaRPr/>
          </a:p>
        </p:txBody>
      </p:sp>
      <p:sp>
        <p:nvSpPr>
          <p:cNvPr id="17" name="Text 15">
            <a:extLst>
              <a:ext uri="{FF2B5EF4-FFF2-40B4-BE49-F238E27FC236}">
                <a16:creationId xmlns:a16="http://schemas.microsoft.com/office/drawing/2014/main" id="{FFD534A9-3948-4ACE-8888-5210D0102F0C}"/>
              </a:ext>
            </a:extLst>
          </p:cNvPr>
          <p:cNvSpPr>
            <a:spLocks noGrp="1"/>
          </p:cNvSpPr>
          <p:nvPr/>
        </p:nvSpPr>
        <p:spPr>
          <a:xfrm>
            <a:off x="5239512" y="1993392"/>
            <a:ext cx="5934456" cy="585216"/>
          </a:xfrm>
          <a:prstGeom prst="rect">
            <a:avLst/>
          </a:prstGeom>
          <a:noFill/>
        </p:spPr>
        <p:txBody>
          <a:bodyPr wrap="square" lIns="0" tIns="0" rIns="0" bIns="0" anchor="ctr">
            <a:normAutofit/>
          </a:bodyPr>
          <a:lstStyle/>
          <a:p>
            <a:pPr marL="0" indent="0">
              <a:buNone/>
            </a:pPr>
            <a:r>
              <a:rPr sz="1030">
                <a:solidFill>
                  <a:srgbClr val="1E2B32"/>
                </a:solidFill>
              </a:rPr>
              <a:t>Behaviour partly learned from data; data and ODD requirements become first-class</a:t>
            </a:r>
            <a:endParaRPr sz="1030"/>
          </a:p>
        </p:txBody>
      </p:sp>
      <p:sp>
        <p:nvSpPr>
          <p:cNvPr id="18" name="Shape 16">
            <a:extLst>
              <a:ext uri="{FF2B5EF4-FFF2-40B4-BE49-F238E27FC236}">
                <a16:creationId xmlns:a16="http://schemas.microsoft.com/office/drawing/2014/main" id="{403DAE81-7C93-4AB2-9A50-DA2C40AA4875}"/>
              </a:ext>
            </a:extLst>
          </p:cNvPr>
          <p:cNvSpPr>
            <a:spLocks noGrp="1"/>
          </p:cNvSpPr>
          <p:nvPr/>
        </p:nvSpPr>
        <p:spPr>
          <a:xfrm>
            <a:off x="594360" y="2642616"/>
            <a:ext cx="1828800" cy="749808"/>
          </a:xfrm>
          <a:prstGeom prst="rect">
            <a:avLst/>
          </a:prstGeom>
          <a:solidFill>
            <a:srgbClr val="DCEAF6"/>
          </a:solidFill>
          <a:ln w="10160">
            <a:solidFill>
              <a:srgbClr val="E9EEF1"/>
            </a:solidFill>
            <a:prstDash val="solid"/>
          </a:ln>
        </p:spPr>
        <p:txBody>
          <a:bodyPr/>
          <a:lstStyle/>
          <a:p>
            <a:endParaRPr/>
          </a:p>
        </p:txBody>
      </p:sp>
      <p:sp>
        <p:nvSpPr>
          <p:cNvPr id="19" name="Text 17">
            <a:extLst>
              <a:ext uri="{FF2B5EF4-FFF2-40B4-BE49-F238E27FC236}">
                <a16:creationId xmlns:a16="http://schemas.microsoft.com/office/drawing/2014/main" id="{4A43989E-0749-438F-84D7-C2A67FAA0A2A}"/>
              </a:ext>
            </a:extLst>
          </p:cNvPr>
          <p:cNvSpPr>
            <a:spLocks noGrp="1"/>
          </p:cNvSpPr>
          <p:nvPr/>
        </p:nvSpPr>
        <p:spPr>
          <a:xfrm>
            <a:off x="667512" y="2743200"/>
            <a:ext cx="1682496" cy="585216"/>
          </a:xfrm>
          <a:prstGeom prst="rect">
            <a:avLst/>
          </a:prstGeom>
          <a:noFill/>
        </p:spPr>
        <p:txBody>
          <a:bodyPr wrap="square" lIns="0" tIns="0" rIns="0" bIns="0" anchor="ctr">
            <a:normAutofit/>
          </a:bodyPr>
          <a:lstStyle/>
          <a:p>
            <a:pPr marL="0" indent="0">
              <a:buNone/>
            </a:pPr>
            <a:r>
              <a:rPr sz="1030" b="1">
                <a:solidFill>
                  <a:srgbClr val="1E2B32"/>
                </a:solidFill>
              </a:rPr>
              <a:t>Coverage</a:t>
            </a:r>
            <a:endParaRPr sz="1030"/>
          </a:p>
        </p:txBody>
      </p:sp>
      <p:sp>
        <p:nvSpPr>
          <p:cNvPr id="20" name="Shape 18">
            <a:extLst>
              <a:ext uri="{FF2B5EF4-FFF2-40B4-BE49-F238E27FC236}">
                <a16:creationId xmlns:a16="http://schemas.microsoft.com/office/drawing/2014/main" id="{7414032B-C0F4-43D6-8211-E185E5065BFC}"/>
              </a:ext>
            </a:extLst>
          </p:cNvPr>
          <p:cNvSpPr>
            <a:spLocks noGrp="1"/>
          </p:cNvSpPr>
          <p:nvPr/>
        </p:nvSpPr>
        <p:spPr>
          <a:xfrm>
            <a:off x="2423160" y="2642616"/>
            <a:ext cx="2743200" cy="749808"/>
          </a:xfrm>
          <a:prstGeom prst="rect">
            <a:avLst/>
          </a:prstGeom>
          <a:solidFill>
            <a:srgbClr val="FFFFFF"/>
          </a:solidFill>
          <a:ln w="10160">
            <a:solidFill>
              <a:srgbClr val="E9EEF1"/>
            </a:solidFill>
            <a:prstDash val="solid"/>
          </a:ln>
        </p:spPr>
        <p:txBody>
          <a:bodyPr/>
          <a:lstStyle/>
          <a:p>
            <a:endParaRPr/>
          </a:p>
        </p:txBody>
      </p:sp>
      <p:sp>
        <p:nvSpPr>
          <p:cNvPr id="21" name="Text 19">
            <a:extLst>
              <a:ext uri="{FF2B5EF4-FFF2-40B4-BE49-F238E27FC236}">
                <a16:creationId xmlns:a16="http://schemas.microsoft.com/office/drawing/2014/main" id="{03AD3DF3-1E5B-4173-89E6-B1A8DB24D0C6}"/>
              </a:ext>
            </a:extLst>
          </p:cNvPr>
          <p:cNvSpPr>
            <a:spLocks noGrp="1"/>
          </p:cNvSpPr>
          <p:nvPr/>
        </p:nvSpPr>
        <p:spPr>
          <a:xfrm>
            <a:off x="2496312" y="2743200"/>
            <a:ext cx="2596896" cy="585216"/>
          </a:xfrm>
          <a:prstGeom prst="rect">
            <a:avLst/>
          </a:prstGeom>
          <a:noFill/>
        </p:spPr>
        <p:txBody>
          <a:bodyPr wrap="square" lIns="0" tIns="0" rIns="0" bIns="0" anchor="ctr">
            <a:normAutofit/>
          </a:bodyPr>
          <a:lstStyle/>
          <a:p>
            <a:pPr marL="0" indent="0">
              <a:buNone/>
            </a:pPr>
            <a:r>
              <a:rPr sz="1030">
                <a:solidFill>
                  <a:srgbClr val="1E2B32"/>
                </a:solidFill>
              </a:rPr>
              <a:t>Structural coverage supports code assurance</a:t>
            </a:r>
            <a:endParaRPr sz="1030"/>
          </a:p>
        </p:txBody>
      </p:sp>
      <p:sp>
        <p:nvSpPr>
          <p:cNvPr id="22" name="Shape 20">
            <a:extLst>
              <a:ext uri="{FF2B5EF4-FFF2-40B4-BE49-F238E27FC236}">
                <a16:creationId xmlns:a16="http://schemas.microsoft.com/office/drawing/2014/main" id="{8A1CBC6B-4B3F-4A8E-B9D7-2C267F294A5F}"/>
              </a:ext>
            </a:extLst>
          </p:cNvPr>
          <p:cNvSpPr>
            <a:spLocks noGrp="1"/>
          </p:cNvSpPr>
          <p:nvPr/>
        </p:nvSpPr>
        <p:spPr>
          <a:xfrm>
            <a:off x="5166360" y="2642616"/>
            <a:ext cx="6080760" cy="749808"/>
          </a:xfrm>
          <a:prstGeom prst="rect">
            <a:avLst/>
          </a:prstGeom>
          <a:solidFill>
            <a:srgbClr val="FFFFFF"/>
          </a:solidFill>
          <a:ln w="10160">
            <a:solidFill>
              <a:srgbClr val="E9EEF1"/>
            </a:solidFill>
            <a:prstDash val="solid"/>
          </a:ln>
        </p:spPr>
        <p:txBody>
          <a:bodyPr/>
          <a:lstStyle/>
          <a:p>
            <a:endParaRPr/>
          </a:p>
        </p:txBody>
      </p:sp>
      <p:sp>
        <p:nvSpPr>
          <p:cNvPr id="23" name="Text 21">
            <a:extLst>
              <a:ext uri="{FF2B5EF4-FFF2-40B4-BE49-F238E27FC236}">
                <a16:creationId xmlns:a16="http://schemas.microsoft.com/office/drawing/2014/main" id="{D69772E5-10BB-4691-A7D9-B01516D7C79D}"/>
              </a:ext>
            </a:extLst>
          </p:cNvPr>
          <p:cNvSpPr>
            <a:spLocks noGrp="1"/>
          </p:cNvSpPr>
          <p:nvPr/>
        </p:nvSpPr>
        <p:spPr>
          <a:xfrm>
            <a:off x="5239512" y="2743200"/>
            <a:ext cx="5934456" cy="585216"/>
          </a:xfrm>
          <a:prstGeom prst="rect">
            <a:avLst/>
          </a:prstGeom>
          <a:noFill/>
        </p:spPr>
        <p:txBody>
          <a:bodyPr wrap="square" lIns="0" tIns="0" rIns="0" bIns="0" anchor="ctr">
            <a:normAutofit/>
          </a:bodyPr>
          <a:lstStyle/>
          <a:p>
            <a:pPr marL="0" indent="0">
              <a:buNone/>
            </a:pPr>
            <a:r>
              <a:rPr sz="1030">
                <a:solidFill>
                  <a:srgbClr val="1E2B32"/>
                </a:solidFill>
              </a:rPr>
              <a:t>Need dataset, scenario, ODD, edge-case and robustness coverage</a:t>
            </a:r>
            <a:endParaRPr sz="1030"/>
          </a:p>
        </p:txBody>
      </p:sp>
      <p:sp>
        <p:nvSpPr>
          <p:cNvPr id="24" name="Shape 22">
            <a:extLst>
              <a:ext uri="{FF2B5EF4-FFF2-40B4-BE49-F238E27FC236}">
                <a16:creationId xmlns:a16="http://schemas.microsoft.com/office/drawing/2014/main" id="{F3A4B4C5-DB63-4538-BA84-D7089A6B5190}"/>
              </a:ext>
            </a:extLst>
          </p:cNvPr>
          <p:cNvSpPr>
            <a:spLocks noGrp="1"/>
          </p:cNvSpPr>
          <p:nvPr/>
        </p:nvSpPr>
        <p:spPr>
          <a:xfrm>
            <a:off x="594360" y="3392424"/>
            <a:ext cx="1828800" cy="749808"/>
          </a:xfrm>
          <a:prstGeom prst="rect">
            <a:avLst/>
          </a:prstGeom>
          <a:solidFill>
            <a:srgbClr val="DCEAF6"/>
          </a:solidFill>
          <a:ln w="10160">
            <a:solidFill>
              <a:srgbClr val="E9EEF1"/>
            </a:solidFill>
            <a:prstDash val="solid"/>
          </a:ln>
        </p:spPr>
        <p:txBody>
          <a:bodyPr/>
          <a:lstStyle/>
          <a:p>
            <a:endParaRPr/>
          </a:p>
        </p:txBody>
      </p:sp>
      <p:sp>
        <p:nvSpPr>
          <p:cNvPr id="25" name="Text 23">
            <a:extLst>
              <a:ext uri="{FF2B5EF4-FFF2-40B4-BE49-F238E27FC236}">
                <a16:creationId xmlns:a16="http://schemas.microsoft.com/office/drawing/2014/main" id="{A1604726-770E-42C9-B63B-D15A683FE3D5}"/>
              </a:ext>
            </a:extLst>
          </p:cNvPr>
          <p:cNvSpPr>
            <a:spLocks noGrp="1"/>
          </p:cNvSpPr>
          <p:nvPr/>
        </p:nvSpPr>
        <p:spPr>
          <a:xfrm>
            <a:off x="667512" y="3493008"/>
            <a:ext cx="1682496" cy="585216"/>
          </a:xfrm>
          <a:prstGeom prst="rect">
            <a:avLst/>
          </a:prstGeom>
          <a:noFill/>
        </p:spPr>
        <p:txBody>
          <a:bodyPr wrap="square" lIns="0" tIns="0" rIns="0" bIns="0" anchor="ctr">
            <a:normAutofit/>
          </a:bodyPr>
          <a:lstStyle/>
          <a:p>
            <a:pPr marL="0" indent="0">
              <a:buNone/>
            </a:pPr>
            <a:r>
              <a:rPr sz="1030" b="1">
                <a:solidFill>
                  <a:srgbClr val="1E2B32"/>
                </a:solidFill>
              </a:rPr>
              <a:t>Correctness</a:t>
            </a:r>
            <a:endParaRPr sz="1030"/>
          </a:p>
        </p:txBody>
      </p:sp>
      <p:sp>
        <p:nvSpPr>
          <p:cNvPr id="26" name="Shape 24">
            <a:extLst>
              <a:ext uri="{FF2B5EF4-FFF2-40B4-BE49-F238E27FC236}">
                <a16:creationId xmlns:a16="http://schemas.microsoft.com/office/drawing/2014/main" id="{CB414EC1-3388-49E0-A7A9-8A5299BA9287}"/>
              </a:ext>
            </a:extLst>
          </p:cNvPr>
          <p:cNvSpPr>
            <a:spLocks noGrp="1"/>
          </p:cNvSpPr>
          <p:nvPr/>
        </p:nvSpPr>
        <p:spPr>
          <a:xfrm>
            <a:off x="2423160" y="3392424"/>
            <a:ext cx="2743200" cy="749808"/>
          </a:xfrm>
          <a:prstGeom prst="rect">
            <a:avLst/>
          </a:prstGeom>
          <a:solidFill>
            <a:srgbClr val="FFFFFF"/>
          </a:solidFill>
          <a:ln w="10160">
            <a:solidFill>
              <a:srgbClr val="E9EEF1"/>
            </a:solidFill>
            <a:prstDash val="solid"/>
          </a:ln>
        </p:spPr>
        <p:txBody>
          <a:bodyPr/>
          <a:lstStyle/>
          <a:p>
            <a:endParaRPr/>
          </a:p>
        </p:txBody>
      </p:sp>
      <p:sp>
        <p:nvSpPr>
          <p:cNvPr id="27" name="Text 25">
            <a:extLst>
              <a:ext uri="{FF2B5EF4-FFF2-40B4-BE49-F238E27FC236}">
                <a16:creationId xmlns:a16="http://schemas.microsoft.com/office/drawing/2014/main" id="{ED25EF19-5389-46CE-BFC9-CBFE893A9E0C}"/>
              </a:ext>
            </a:extLst>
          </p:cNvPr>
          <p:cNvSpPr>
            <a:spLocks noGrp="1"/>
          </p:cNvSpPr>
          <p:nvPr/>
        </p:nvSpPr>
        <p:spPr>
          <a:xfrm>
            <a:off x="2496312" y="3493008"/>
            <a:ext cx="2596896" cy="585216"/>
          </a:xfrm>
          <a:prstGeom prst="rect">
            <a:avLst/>
          </a:prstGeom>
          <a:noFill/>
        </p:spPr>
        <p:txBody>
          <a:bodyPr wrap="square" lIns="0" tIns="0" rIns="0" bIns="0" anchor="ctr">
            <a:normAutofit/>
          </a:bodyPr>
          <a:lstStyle/>
          <a:p>
            <a:pPr marL="0" indent="0">
              <a:buNone/>
            </a:pPr>
            <a:r>
              <a:rPr sz="1030">
                <a:solidFill>
                  <a:srgbClr val="1E2B32"/>
                </a:solidFill>
              </a:rPr>
              <a:t>Can reason from requirements, design and code</a:t>
            </a:r>
            <a:endParaRPr sz="1030"/>
          </a:p>
        </p:txBody>
      </p:sp>
      <p:sp>
        <p:nvSpPr>
          <p:cNvPr id="28" name="Shape 26">
            <a:extLst>
              <a:ext uri="{FF2B5EF4-FFF2-40B4-BE49-F238E27FC236}">
                <a16:creationId xmlns:a16="http://schemas.microsoft.com/office/drawing/2014/main" id="{E0A21136-6701-4F36-9D99-599D3505C570}"/>
              </a:ext>
            </a:extLst>
          </p:cNvPr>
          <p:cNvSpPr>
            <a:spLocks noGrp="1"/>
          </p:cNvSpPr>
          <p:nvPr/>
        </p:nvSpPr>
        <p:spPr>
          <a:xfrm>
            <a:off x="5166360" y="3392424"/>
            <a:ext cx="6080760" cy="749808"/>
          </a:xfrm>
          <a:prstGeom prst="rect">
            <a:avLst/>
          </a:prstGeom>
          <a:solidFill>
            <a:srgbClr val="FFFFFF"/>
          </a:solidFill>
          <a:ln w="10160">
            <a:solidFill>
              <a:srgbClr val="E9EEF1"/>
            </a:solidFill>
            <a:prstDash val="solid"/>
          </a:ln>
        </p:spPr>
        <p:txBody>
          <a:bodyPr/>
          <a:lstStyle/>
          <a:p>
            <a:endParaRPr/>
          </a:p>
        </p:txBody>
      </p:sp>
      <p:sp>
        <p:nvSpPr>
          <p:cNvPr id="29" name="Text 27">
            <a:extLst>
              <a:ext uri="{FF2B5EF4-FFF2-40B4-BE49-F238E27FC236}">
                <a16:creationId xmlns:a16="http://schemas.microsoft.com/office/drawing/2014/main" id="{97CA0854-3484-4C24-81F8-BC5CB71B5671}"/>
              </a:ext>
            </a:extLst>
          </p:cNvPr>
          <p:cNvSpPr>
            <a:spLocks noGrp="1"/>
          </p:cNvSpPr>
          <p:nvPr/>
        </p:nvSpPr>
        <p:spPr>
          <a:xfrm>
            <a:off x="5239512" y="3493008"/>
            <a:ext cx="5934456" cy="585216"/>
          </a:xfrm>
          <a:prstGeom prst="rect">
            <a:avLst/>
          </a:prstGeom>
          <a:noFill/>
        </p:spPr>
        <p:txBody>
          <a:bodyPr wrap="square" lIns="0" tIns="0" rIns="0" bIns="0" anchor="ctr">
            <a:normAutofit/>
          </a:bodyPr>
          <a:lstStyle/>
          <a:p>
            <a:pPr marL="0" indent="0">
              <a:buNone/>
            </a:pPr>
            <a:r>
              <a:rPr sz="1030">
                <a:solidFill>
                  <a:srgbClr val="1E2B32"/>
                </a:solidFill>
              </a:rPr>
              <a:t>Must demonstrate statistical behaviour, uncertainty and limits of generalisation</a:t>
            </a:r>
            <a:endParaRPr sz="1030"/>
          </a:p>
        </p:txBody>
      </p:sp>
      <p:sp>
        <p:nvSpPr>
          <p:cNvPr id="30" name="Shape 28">
            <a:extLst>
              <a:ext uri="{FF2B5EF4-FFF2-40B4-BE49-F238E27FC236}">
                <a16:creationId xmlns:a16="http://schemas.microsoft.com/office/drawing/2014/main" id="{B48CD4A1-E760-4B8A-9BDC-A7792A96423E}"/>
              </a:ext>
            </a:extLst>
          </p:cNvPr>
          <p:cNvSpPr>
            <a:spLocks noGrp="1"/>
          </p:cNvSpPr>
          <p:nvPr/>
        </p:nvSpPr>
        <p:spPr>
          <a:xfrm>
            <a:off x="594360" y="4142232"/>
            <a:ext cx="1828800" cy="749808"/>
          </a:xfrm>
          <a:prstGeom prst="rect">
            <a:avLst/>
          </a:prstGeom>
          <a:solidFill>
            <a:srgbClr val="DCEAF6"/>
          </a:solidFill>
          <a:ln w="10160">
            <a:solidFill>
              <a:srgbClr val="E9EEF1"/>
            </a:solidFill>
            <a:prstDash val="solid"/>
          </a:ln>
        </p:spPr>
        <p:txBody>
          <a:bodyPr/>
          <a:lstStyle/>
          <a:p>
            <a:endParaRPr/>
          </a:p>
        </p:txBody>
      </p:sp>
      <p:sp>
        <p:nvSpPr>
          <p:cNvPr id="31" name="Text 29">
            <a:extLst>
              <a:ext uri="{FF2B5EF4-FFF2-40B4-BE49-F238E27FC236}">
                <a16:creationId xmlns:a16="http://schemas.microsoft.com/office/drawing/2014/main" id="{26450A05-9361-4341-8B48-818DA58EB63C}"/>
              </a:ext>
            </a:extLst>
          </p:cNvPr>
          <p:cNvSpPr>
            <a:spLocks noGrp="1"/>
          </p:cNvSpPr>
          <p:nvPr/>
        </p:nvSpPr>
        <p:spPr>
          <a:xfrm>
            <a:off x="667512" y="4242816"/>
            <a:ext cx="1682496" cy="585216"/>
          </a:xfrm>
          <a:prstGeom prst="rect">
            <a:avLst/>
          </a:prstGeom>
          <a:noFill/>
        </p:spPr>
        <p:txBody>
          <a:bodyPr wrap="square" lIns="0" tIns="0" rIns="0" bIns="0" anchor="ctr">
            <a:normAutofit/>
          </a:bodyPr>
          <a:lstStyle/>
          <a:p>
            <a:pPr marL="0" indent="0">
              <a:buNone/>
            </a:pPr>
            <a:r>
              <a:rPr sz="1030" b="1">
                <a:solidFill>
                  <a:srgbClr val="1E2B32"/>
                </a:solidFill>
              </a:rPr>
              <a:t>Change</a:t>
            </a:r>
            <a:endParaRPr sz="1030"/>
          </a:p>
        </p:txBody>
      </p:sp>
      <p:sp>
        <p:nvSpPr>
          <p:cNvPr id="32" name="Shape 30">
            <a:extLst>
              <a:ext uri="{FF2B5EF4-FFF2-40B4-BE49-F238E27FC236}">
                <a16:creationId xmlns:a16="http://schemas.microsoft.com/office/drawing/2014/main" id="{4A2C3A72-52DE-4EC0-844D-C9961CB1274D}"/>
              </a:ext>
            </a:extLst>
          </p:cNvPr>
          <p:cNvSpPr>
            <a:spLocks noGrp="1"/>
          </p:cNvSpPr>
          <p:nvPr/>
        </p:nvSpPr>
        <p:spPr>
          <a:xfrm>
            <a:off x="2423160" y="4142232"/>
            <a:ext cx="2743200" cy="749808"/>
          </a:xfrm>
          <a:prstGeom prst="rect">
            <a:avLst/>
          </a:prstGeom>
          <a:solidFill>
            <a:srgbClr val="FFFFFF"/>
          </a:solidFill>
          <a:ln w="10160">
            <a:solidFill>
              <a:srgbClr val="E9EEF1"/>
            </a:solidFill>
            <a:prstDash val="solid"/>
          </a:ln>
        </p:spPr>
        <p:txBody>
          <a:bodyPr/>
          <a:lstStyle/>
          <a:p>
            <a:endParaRPr/>
          </a:p>
        </p:txBody>
      </p:sp>
      <p:sp>
        <p:nvSpPr>
          <p:cNvPr id="33" name="Text 31">
            <a:extLst>
              <a:ext uri="{FF2B5EF4-FFF2-40B4-BE49-F238E27FC236}">
                <a16:creationId xmlns:a16="http://schemas.microsoft.com/office/drawing/2014/main" id="{998B650B-0E8F-4DA3-891A-08EFA90C9EAA}"/>
              </a:ext>
            </a:extLst>
          </p:cNvPr>
          <p:cNvSpPr>
            <a:spLocks noGrp="1"/>
          </p:cNvSpPr>
          <p:nvPr/>
        </p:nvSpPr>
        <p:spPr>
          <a:xfrm>
            <a:off x="2496312" y="4242816"/>
            <a:ext cx="2596896" cy="585216"/>
          </a:xfrm>
          <a:prstGeom prst="rect">
            <a:avLst/>
          </a:prstGeom>
          <a:noFill/>
        </p:spPr>
        <p:txBody>
          <a:bodyPr wrap="square" lIns="0" tIns="0" rIns="0" bIns="0" anchor="ctr">
            <a:normAutofit/>
          </a:bodyPr>
          <a:lstStyle/>
          <a:p>
            <a:pPr marL="0" indent="0">
              <a:buNone/>
            </a:pPr>
            <a:r>
              <a:rPr sz="1030">
                <a:solidFill>
                  <a:srgbClr val="1E2B32"/>
                </a:solidFill>
              </a:rPr>
              <a:t>Source/configuration changes dominate</a:t>
            </a:r>
            <a:endParaRPr sz="1030"/>
          </a:p>
        </p:txBody>
      </p:sp>
      <p:sp>
        <p:nvSpPr>
          <p:cNvPr id="34" name="Shape 32">
            <a:extLst>
              <a:ext uri="{FF2B5EF4-FFF2-40B4-BE49-F238E27FC236}">
                <a16:creationId xmlns:a16="http://schemas.microsoft.com/office/drawing/2014/main" id="{E5415118-9DF6-4A99-BF64-13DF598CA631}"/>
              </a:ext>
            </a:extLst>
          </p:cNvPr>
          <p:cNvSpPr>
            <a:spLocks noGrp="1"/>
          </p:cNvSpPr>
          <p:nvPr/>
        </p:nvSpPr>
        <p:spPr>
          <a:xfrm>
            <a:off x="5166360" y="4142232"/>
            <a:ext cx="6080760" cy="749808"/>
          </a:xfrm>
          <a:prstGeom prst="rect">
            <a:avLst/>
          </a:prstGeom>
          <a:solidFill>
            <a:srgbClr val="FFFFFF"/>
          </a:solidFill>
          <a:ln w="10160">
            <a:solidFill>
              <a:srgbClr val="E9EEF1"/>
            </a:solidFill>
            <a:prstDash val="solid"/>
          </a:ln>
        </p:spPr>
        <p:txBody>
          <a:bodyPr/>
          <a:lstStyle/>
          <a:p>
            <a:endParaRPr/>
          </a:p>
        </p:txBody>
      </p:sp>
      <p:sp>
        <p:nvSpPr>
          <p:cNvPr id="35" name="Text 33">
            <a:extLst>
              <a:ext uri="{FF2B5EF4-FFF2-40B4-BE49-F238E27FC236}">
                <a16:creationId xmlns:a16="http://schemas.microsoft.com/office/drawing/2014/main" id="{A835C01B-B10B-42F4-9B64-E58CEFB126C8}"/>
              </a:ext>
            </a:extLst>
          </p:cNvPr>
          <p:cNvSpPr>
            <a:spLocks noGrp="1"/>
          </p:cNvSpPr>
          <p:nvPr/>
        </p:nvSpPr>
        <p:spPr>
          <a:xfrm>
            <a:off x="5239512" y="4242816"/>
            <a:ext cx="5934456" cy="585216"/>
          </a:xfrm>
          <a:prstGeom prst="rect">
            <a:avLst/>
          </a:prstGeom>
          <a:noFill/>
        </p:spPr>
        <p:txBody>
          <a:bodyPr wrap="square" lIns="0" tIns="0" rIns="0" bIns="0" anchor="ctr">
            <a:normAutofit/>
          </a:bodyPr>
          <a:lstStyle/>
          <a:p>
            <a:pPr marL="0" indent="0">
              <a:buNone/>
            </a:pPr>
            <a:r>
              <a:rPr sz="1030">
                <a:solidFill>
                  <a:srgbClr val="1E2B32"/>
                </a:solidFill>
              </a:rPr>
              <a:t>Dataset, labels, hyperparameters, model weights, thresholds and tools also change behaviour</a:t>
            </a:r>
            <a:endParaRPr sz="1030"/>
          </a:p>
        </p:txBody>
      </p:sp>
      <p:sp>
        <p:nvSpPr>
          <p:cNvPr id="36" name="Shape 34">
            <a:extLst>
              <a:ext uri="{FF2B5EF4-FFF2-40B4-BE49-F238E27FC236}">
                <a16:creationId xmlns:a16="http://schemas.microsoft.com/office/drawing/2014/main" id="{540E0B1C-7596-4580-BEED-61175AC28FC9}"/>
              </a:ext>
            </a:extLst>
          </p:cNvPr>
          <p:cNvSpPr>
            <a:spLocks noGrp="1"/>
          </p:cNvSpPr>
          <p:nvPr/>
        </p:nvSpPr>
        <p:spPr>
          <a:xfrm>
            <a:off x="594360" y="4892040"/>
            <a:ext cx="1828800" cy="749808"/>
          </a:xfrm>
          <a:prstGeom prst="rect">
            <a:avLst/>
          </a:prstGeom>
          <a:solidFill>
            <a:srgbClr val="DCEAF6"/>
          </a:solidFill>
          <a:ln w="10160">
            <a:solidFill>
              <a:srgbClr val="E9EEF1"/>
            </a:solidFill>
            <a:prstDash val="solid"/>
          </a:ln>
        </p:spPr>
        <p:txBody>
          <a:bodyPr/>
          <a:lstStyle/>
          <a:p>
            <a:endParaRPr/>
          </a:p>
        </p:txBody>
      </p:sp>
      <p:sp>
        <p:nvSpPr>
          <p:cNvPr id="37" name="Text 35">
            <a:extLst>
              <a:ext uri="{FF2B5EF4-FFF2-40B4-BE49-F238E27FC236}">
                <a16:creationId xmlns:a16="http://schemas.microsoft.com/office/drawing/2014/main" id="{C539A0BF-5256-47B6-87EE-30C3D4C9E910}"/>
              </a:ext>
            </a:extLst>
          </p:cNvPr>
          <p:cNvSpPr>
            <a:spLocks noGrp="1"/>
          </p:cNvSpPr>
          <p:nvPr/>
        </p:nvSpPr>
        <p:spPr>
          <a:xfrm>
            <a:off x="667512" y="4992624"/>
            <a:ext cx="1682496" cy="585216"/>
          </a:xfrm>
          <a:prstGeom prst="rect">
            <a:avLst/>
          </a:prstGeom>
          <a:noFill/>
        </p:spPr>
        <p:txBody>
          <a:bodyPr wrap="square" lIns="0" tIns="0" rIns="0" bIns="0" anchor="ctr">
            <a:normAutofit/>
          </a:bodyPr>
          <a:lstStyle/>
          <a:p>
            <a:pPr marL="0" indent="0">
              <a:buNone/>
            </a:pPr>
            <a:r>
              <a:rPr sz="1030" b="1">
                <a:solidFill>
                  <a:srgbClr val="1E2B32"/>
                </a:solidFill>
              </a:rPr>
              <a:t>Operations</a:t>
            </a:r>
            <a:endParaRPr sz="1030"/>
          </a:p>
        </p:txBody>
      </p:sp>
      <p:sp>
        <p:nvSpPr>
          <p:cNvPr id="38" name="Shape 36">
            <a:extLst>
              <a:ext uri="{FF2B5EF4-FFF2-40B4-BE49-F238E27FC236}">
                <a16:creationId xmlns:a16="http://schemas.microsoft.com/office/drawing/2014/main" id="{D387C498-16D0-4ED7-BA85-A18F8E2B2B56}"/>
              </a:ext>
            </a:extLst>
          </p:cNvPr>
          <p:cNvSpPr>
            <a:spLocks noGrp="1"/>
          </p:cNvSpPr>
          <p:nvPr/>
        </p:nvSpPr>
        <p:spPr>
          <a:xfrm>
            <a:off x="2423160" y="4892040"/>
            <a:ext cx="2743200" cy="749808"/>
          </a:xfrm>
          <a:prstGeom prst="rect">
            <a:avLst/>
          </a:prstGeom>
          <a:solidFill>
            <a:srgbClr val="FFFFFF"/>
          </a:solidFill>
          <a:ln w="10160">
            <a:solidFill>
              <a:srgbClr val="E9EEF1"/>
            </a:solidFill>
            <a:prstDash val="solid"/>
          </a:ln>
        </p:spPr>
        <p:txBody>
          <a:bodyPr/>
          <a:lstStyle/>
          <a:p>
            <a:endParaRPr/>
          </a:p>
        </p:txBody>
      </p:sp>
      <p:sp>
        <p:nvSpPr>
          <p:cNvPr id="39" name="Text 37">
            <a:extLst>
              <a:ext uri="{FF2B5EF4-FFF2-40B4-BE49-F238E27FC236}">
                <a16:creationId xmlns:a16="http://schemas.microsoft.com/office/drawing/2014/main" id="{E81C47F6-F410-4245-BDF8-6F0BF1F65529}"/>
              </a:ext>
            </a:extLst>
          </p:cNvPr>
          <p:cNvSpPr>
            <a:spLocks noGrp="1"/>
          </p:cNvSpPr>
          <p:nvPr/>
        </p:nvSpPr>
        <p:spPr>
          <a:xfrm>
            <a:off x="2496312" y="4992624"/>
            <a:ext cx="2596896" cy="585216"/>
          </a:xfrm>
          <a:prstGeom prst="rect">
            <a:avLst/>
          </a:prstGeom>
          <a:noFill/>
        </p:spPr>
        <p:txBody>
          <a:bodyPr wrap="square" lIns="0" tIns="0" rIns="0" bIns="0" anchor="ctr">
            <a:normAutofit/>
          </a:bodyPr>
          <a:lstStyle/>
          <a:p>
            <a:pPr marL="0" indent="0">
              <a:buNone/>
            </a:pPr>
            <a:r>
              <a:rPr sz="1030">
                <a:solidFill>
                  <a:srgbClr val="1E2B32"/>
                </a:solidFill>
              </a:rPr>
              <a:t>Post-release monitoring supports continued airworthiness</a:t>
            </a:r>
            <a:endParaRPr sz="1030"/>
          </a:p>
        </p:txBody>
      </p:sp>
      <p:sp>
        <p:nvSpPr>
          <p:cNvPr id="40" name="Shape 38">
            <a:extLst>
              <a:ext uri="{FF2B5EF4-FFF2-40B4-BE49-F238E27FC236}">
                <a16:creationId xmlns:a16="http://schemas.microsoft.com/office/drawing/2014/main" id="{49425901-4304-41CF-9D6A-EC3867882313}"/>
              </a:ext>
            </a:extLst>
          </p:cNvPr>
          <p:cNvSpPr>
            <a:spLocks noGrp="1"/>
          </p:cNvSpPr>
          <p:nvPr/>
        </p:nvSpPr>
        <p:spPr>
          <a:xfrm>
            <a:off x="5166360" y="4892040"/>
            <a:ext cx="6080760" cy="749808"/>
          </a:xfrm>
          <a:prstGeom prst="rect">
            <a:avLst/>
          </a:prstGeom>
          <a:solidFill>
            <a:srgbClr val="FFFFFF"/>
          </a:solidFill>
          <a:ln w="10160">
            <a:solidFill>
              <a:srgbClr val="E9EEF1"/>
            </a:solidFill>
            <a:prstDash val="solid"/>
          </a:ln>
        </p:spPr>
        <p:txBody>
          <a:bodyPr/>
          <a:lstStyle/>
          <a:p>
            <a:endParaRPr/>
          </a:p>
        </p:txBody>
      </p:sp>
      <p:sp>
        <p:nvSpPr>
          <p:cNvPr id="41" name="Text 39">
            <a:extLst>
              <a:ext uri="{FF2B5EF4-FFF2-40B4-BE49-F238E27FC236}">
                <a16:creationId xmlns:a16="http://schemas.microsoft.com/office/drawing/2014/main" id="{57D3F9B2-4AB4-48ED-A084-29498007FF2F}"/>
              </a:ext>
            </a:extLst>
          </p:cNvPr>
          <p:cNvSpPr>
            <a:spLocks noGrp="1"/>
          </p:cNvSpPr>
          <p:nvPr/>
        </p:nvSpPr>
        <p:spPr>
          <a:xfrm>
            <a:off x="5239512" y="4992624"/>
            <a:ext cx="5934456" cy="585216"/>
          </a:xfrm>
          <a:prstGeom prst="rect">
            <a:avLst/>
          </a:prstGeom>
          <a:noFill/>
        </p:spPr>
        <p:txBody>
          <a:bodyPr wrap="square" lIns="0" tIns="0" rIns="0" bIns="0" anchor="ctr">
            <a:normAutofit/>
          </a:bodyPr>
          <a:lstStyle/>
          <a:p>
            <a:pPr marL="0" indent="0">
              <a:buNone/>
            </a:pPr>
            <a:r>
              <a:rPr sz="1030">
                <a:solidFill>
                  <a:srgbClr val="1E2B32"/>
                </a:solidFill>
              </a:rPr>
              <a:t>Drift and ODD excursions can invalidate certified assumptions without code changes</a:t>
            </a:r>
            <a:endParaRPr sz="1030"/>
          </a:p>
        </p:txBody>
      </p:sp>
      <p:sp>
        <p:nvSpPr>
          <p:cNvPr id="42" name="Text 40">
            <a:extLst>
              <a:ext uri="{FF2B5EF4-FFF2-40B4-BE49-F238E27FC236}">
                <a16:creationId xmlns:a16="http://schemas.microsoft.com/office/drawing/2014/main" id="{A2CC7E07-3BD0-4057-92C4-C540C4F8EC3A}"/>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JSP 936 §§138–173 and §§205–208; EASA Proposed Issue 3.</a:t>
            </a:r>
            <a:endParaRPr sz="750"/>
          </a:p>
        </p:txBody>
      </p:sp>
      <p:sp>
        <p:nvSpPr>
          <p:cNvPr id="43" name="Text 41">
            <a:extLst>
              <a:ext uri="{FF2B5EF4-FFF2-40B4-BE49-F238E27FC236}">
                <a16:creationId xmlns:a16="http://schemas.microsoft.com/office/drawing/2014/main" id="{891F5973-C46B-48AE-9511-A0D35CF4B40E}"/>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44" name="Text 42">
            <a:extLst>
              <a:ext uri="{FF2B5EF4-FFF2-40B4-BE49-F238E27FC236}">
                <a16:creationId xmlns:a16="http://schemas.microsoft.com/office/drawing/2014/main" id="{24E5A5EE-9AB9-4342-A172-C1CD88B2A4ED}"/>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16</a:t>
            </a:r>
          </a:p>
        </p:txBody>
      </p:sp>
    </p:spTree>
    <p:extLst>
      <p:ext uri="{BB962C8B-B14F-4D97-AF65-F5344CB8AC3E}">
        <p14:creationId xmlns:p14="http://schemas.microsoft.com/office/powerpoint/2010/main" val="1595387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Verification ladder</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Progress from model behaviour to operationally representative system evidence.</a:t>
            </a:r>
            <a:endParaRPr lang="en-US" sz="1250" dirty="0"/>
          </a:p>
        </p:txBody>
      </p:sp>
      <p:sp>
        <p:nvSpPr>
          <p:cNvPr id="6" name="Shape 4"/>
          <p:cNvSpPr/>
          <p:nvPr/>
        </p:nvSpPr>
        <p:spPr>
          <a:xfrm>
            <a:off x="2057400" y="1924554"/>
            <a:ext cx="868680" cy="0"/>
          </a:xfrm>
          <a:prstGeom prst="line">
            <a:avLst/>
          </a:prstGeom>
          <a:noFill/>
          <a:ln w="17780">
            <a:solidFill>
              <a:srgbClr val="0F7C80"/>
            </a:solidFill>
            <a:prstDash val="solid"/>
            <a:headEnd type="none"/>
            <a:tailEnd type="triangle"/>
          </a:ln>
        </p:spPr>
        <p:txBody>
          <a:bodyPr/>
          <a:lstStyle/>
          <a:p>
            <a:endParaRPr/>
          </a:p>
        </p:txBody>
      </p:sp>
      <p:sp>
        <p:nvSpPr>
          <p:cNvPr id="7" name="Shape 5"/>
          <p:cNvSpPr/>
          <p:nvPr/>
        </p:nvSpPr>
        <p:spPr>
          <a:xfrm>
            <a:off x="4160520" y="1924554"/>
            <a:ext cx="914400" cy="0"/>
          </a:xfrm>
          <a:prstGeom prst="line">
            <a:avLst/>
          </a:prstGeom>
          <a:noFill/>
          <a:ln w="17780">
            <a:solidFill>
              <a:srgbClr val="0F7C80"/>
            </a:solidFill>
            <a:prstDash val="solid"/>
            <a:headEnd type="none"/>
            <a:tailEnd type="triangle"/>
          </a:ln>
        </p:spPr>
        <p:txBody>
          <a:bodyPr/>
          <a:lstStyle/>
          <a:p>
            <a:endParaRPr/>
          </a:p>
        </p:txBody>
      </p:sp>
      <p:sp>
        <p:nvSpPr>
          <p:cNvPr id="8" name="Shape 6"/>
          <p:cNvSpPr/>
          <p:nvPr/>
        </p:nvSpPr>
        <p:spPr>
          <a:xfrm>
            <a:off x="6309360" y="1924554"/>
            <a:ext cx="914400" cy="0"/>
          </a:xfrm>
          <a:prstGeom prst="line">
            <a:avLst/>
          </a:prstGeom>
          <a:noFill/>
          <a:ln w="17780">
            <a:solidFill>
              <a:srgbClr val="0F7C80"/>
            </a:solidFill>
            <a:prstDash val="solid"/>
            <a:headEnd type="none"/>
            <a:tailEnd type="triangle"/>
          </a:ln>
        </p:spPr>
        <p:txBody>
          <a:bodyPr/>
          <a:lstStyle/>
          <a:p>
            <a:endParaRPr/>
          </a:p>
        </p:txBody>
      </p:sp>
      <p:sp>
        <p:nvSpPr>
          <p:cNvPr id="9" name="Shape 7"/>
          <p:cNvSpPr/>
          <p:nvPr/>
        </p:nvSpPr>
        <p:spPr>
          <a:xfrm>
            <a:off x="8458200" y="1942669"/>
            <a:ext cx="914400" cy="0"/>
          </a:xfrm>
          <a:prstGeom prst="line">
            <a:avLst/>
          </a:prstGeom>
          <a:noFill/>
          <a:ln w="17780">
            <a:solidFill>
              <a:srgbClr val="0F7C80"/>
            </a:solidFill>
            <a:prstDash val="solid"/>
            <a:headEnd type="none"/>
            <a:tailEnd type="triangle"/>
          </a:ln>
        </p:spPr>
        <p:txBody>
          <a:bodyPr/>
          <a:lstStyle/>
          <a:p>
            <a:endParaRPr/>
          </a:p>
        </p:txBody>
      </p:sp>
      <p:sp>
        <p:nvSpPr>
          <p:cNvPr id="10" name="Shape 8"/>
          <p:cNvSpPr/>
          <p:nvPr/>
        </p:nvSpPr>
        <p:spPr>
          <a:xfrm>
            <a:off x="822960" y="1600200"/>
            <a:ext cx="1417320" cy="640080"/>
          </a:xfrm>
          <a:prstGeom prst="roundRect">
            <a:avLst>
              <a:gd name="adj" fmla="val 10000"/>
            </a:avLst>
          </a:prstGeom>
          <a:solidFill>
            <a:srgbClr val="DCEAF6"/>
          </a:solidFill>
          <a:ln w="15240">
            <a:solidFill>
              <a:srgbClr val="2F67B1"/>
            </a:solidFill>
            <a:prstDash val="solid"/>
          </a:ln>
        </p:spPr>
        <p:txBody>
          <a:bodyPr/>
          <a:lstStyle/>
          <a:p>
            <a:endParaRPr/>
          </a:p>
        </p:txBody>
      </p:sp>
      <p:sp>
        <p:nvSpPr>
          <p:cNvPr id="11" name="Text 9"/>
          <p:cNvSpPr/>
          <p:nvPr/>
        </p:nvSpPr>
        <p:spPr>
          <a:xfrm>
            <a:off x="905256" y="1673352"/>
            <a:ext cx="1252728" cy="5120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Unit</a:t>
            </a:r>
            <a:endParaRPr lang="en-US" sz="1600" dirty="0"/>
          </a:p>
        </p:txBody>
      </p:sp>
      <p:sp>
        <p:nvSpPr>
          <p:cNvPr id="12" name="Shape 10"/>
          <p:cNvSpPr/>
          <p:nvPr/>
        </p:nvSpPr>
        <p:spPr>
          <a:xfrm>
            <a:off x="594360" y="2880360"/>
            <a:ext cx="1828800" cy="960120"/>
          </a:xfrm>
          <a:prstGeom prst="roundRect">
            <a:avLst>
              <a:gd name="adj" fmla="val 7619"/>
            </a:avLst>
          </a:prstGeom>
          <a:solidFill>
            <a:srgbClr val="FFFFFF"/>
          </a:solidFill>
          <a:ln w="15240">
            <a:solidFill>
              <a:srgbClr val="2F67B1"/>
            </a:solidFill>
            <a:prstDash val="solid"/>
          </a:ln>
        </p:spPr>
        <p:txBody>
          <a:bodyPr/>
          <a:lstStyle/>
          <a:p>
            <a:endParaRPr/>
          </a:p>
        </p:txBody>
      </p:sp>
      <p:sp>
        <p:nvSpPr>
          <p:cNvPr id="13" name="Text 11"/>
          <p:cNvSpPr/>
          <p:nvPr/>
        </p:nvSpPr>
        <p:spPr>
          <a:xfrm>
            <a:off x="758952" y="3008376"/>
            <a:ext cx="1499616" cy="758952"/>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Supporting software, model load, boundary and malformed inputs</a:t>
            </a:r>
            <a:endParaRPr lang="en-US" sz="1550" dirty="0"/>
          </a:p>
        </p:txBody>
      </p:sp>
      <p:sp>
        <p:nvSpPr>
          <p:cNvPr id="14" name="Shape 12"/>
          <p:cNvSpPr/>
          <p:nvPr/>
        </p:nvSpPr>
        <p:spPr>
          <a:xfrm>
            <a:off x="2926080" y="1600200"/>
            <a:ext cx="1417320" cy="640080"/>
          </a:xfrm>
          <a:prstGeom prst="roundRect">
            <a:avLst>
              <a:gd name="adj" fmla="val 10000"/>
            </a:avLst>
          </a:prstGeom>
          <a:solidFill>
            <a:srgbClr val="FFFFFF"/>
          </a:solidFill>
          <a:ln w="15240">
            <a:solidFill>
              <a:srgbClr val="0F7C80"/>
            </a:solidFill>
            <a:prstDash val="solid"/>
          </a:ln>
        </p:spPr>
        <p:txBody>
          <a:bodyPr/>
          <a:lstStyle/>
          <a:p>
            <a:endParaRPr/>
          </a:p>
        </p:txBody>
      </p:sp>
      <p:sp>
        <p:nvSpPr>
          <p:cNvPr id="15" name="Text 13"/>
          <p:cNvSpPr/>
          <p:nvPr/>
        </p:nvSpPr>
        <p:spPr>
          <a:xfrm>
            <a:off x="3008376" y="1673352"/>
            <a:ext cx="1252728" cy="5120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SIL</a:t>
            </a:r>
            <a:endParaRPr lang="en-US" sz="1600" dirty="0"/>
          </a:p>
        </p:txBody>
      </p:sp>
      <p:sp>
        <p:nvSpPr>
          <p:cNvPr id="16" name="Shape 14"/>
          <p:cNvSpPr/>
          <p:nvPr/>
        </p:nvSpPr>
        <p:spPr>
          <a:xfrm>
            <a:off x="2697480" y="2880360"/>
            <a:ext cx="1828800" cy="960120"/>
          </a:xfrm>
          <a:prstGeom prst="roundRect">
            <a:avLst>
              <a:gd name="adj" fmla="val 7619"/>
            </a:avLst>
          </a:prstGeom>
          <a:solidFill>
            <a:srgbClr val="FFFFFF"/>
          </a:solidFill>
          <a:ln w="15240">
            <a:solidFill>
              <a:srgbClr val="0F7C80"/>
            </a:solidFill>
            <a:prstDash val="solid"/>
          </a:ln>
        </p:spPr>
        <p:txBody>
          <a:bodyPr/>
          <a:lstStyle/>
          <a:p>
            <a:endParaRPr/>
          </a:p>
        </p:txBody>
      </p:sp>
      <p:sp>
        <p:nvSpPr>
          <p:cNvPr id="17" name="Text 15"/>
          <p:cNvSpPr/>
          <p:nvPr/>
        </p:nvSpPr>
        <p:spPr>
          <a:xfrm>
            <a:off x="2862072" y="3008376"/>
            <a:ext cx="1499616" cy="758952"/>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Nominal, edge, degraded, OOD and regression scenarios</a:t>
            </a:r>
            <a:endParaRPr lang="en-US" sz="1550" dirty="0"/>
          </a:p>
        </p:txBody>
      </p:sp>
      <p:sp>
        <p:nvSpPr>
          <p:cNvPr id="18" name="Shape 16"/>
          <p:cNvSpPr/>
          <p:nvPr/>
        </p:nvSpPr>
        <p:spPr>
          <a:xfrm>
            <a:off x="5074920" y="1600200"/>
            <a:ext cx="1417320" cy="640080"/>
          </a:xfrm>
          <a:prstGeom prst="roundRect">
            <a:avLst>
              <a:gd name="adj" fmla="val 10000"/>
            </a:avLst>
          </a:prstGeom>
          <a:solidFill>
            <a:srgbClr val="DCEAF6"/>
          </a:solidFill>
          <a:ln w="15240">
            <a:solidFill>
              <a:srgbClr val="2F67B1"/>
            </a:solidFill>
            <a:prstDash val="solid"/>
          </a:ln>
        </p:spPr>
        <p:txBody>
          <a:bodyPr/>
          <a:lstStyle/>
          <a:p>
            <a:endParaRPr/>
          </a:p>
        </p:txBody>
      </p:sp>
      <p:sp>
        <p:nvSpPr>
          <p:cNvPr id="19" name="Text 17"/>
          <p:cNvSpPr/>
          <p:nvPr/>
        </p:nvSpPr>
        <p:spPr>
          <a:xfrm>
            <a:off x="5157216" y="1673352"/>
            <a:ext cx="1252728" cy="5120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HIL</a:t>
            </a:r>
            <a:endParaRPr lang="en-US" sz="1600" dirty="0"/>
          </a:p>
        </p:txBody>
      </p:sp>
      <p:sp>
        <p:nvSpPr>
          <p:cNvPr id="20" name="Shape 18"/>
          <p:cNvSpPr/>
          <p:nvPr/>
        </p:nvSpPr>
        <p:spPr>
          <a:xfrm>
            <a:off x="4846320" y="2880360"/>
            <a:ext cx="1828800" cy="960120"/>
          </a:xfrm>
          <a:prstGeom prst="roundRect">
            <a:avLst>
              <a:gd name="adj" fmla="val 7619"/>
            </a:avLst>
          </a:prstGeom>
          <a:solidFill>
            <a:srgbClr val="FFFFFF"/>
          </a:solidFill>
          <a:ln w="15240">
            <a:solidFill>
              <a:srgbClr val="2F67B1"/>
            </a:solidFill>
            <a:prstDash val="solid"/>
          </a:ln>
        </p:spPr>
        <p:txBody>
          <a:bodyPr/>
          <a:lstStyle/>
          <a:p>
            <a:endParaRPr/>
          </a:p>
        </p:txBody>
      </p:sp>
      <p:sp>
        <p:nvSpPr>
          <p:cNvPr id="21" name="Text 19"/>
          <p:cNvSpPr/>
          <p:nvPr/>
        </p:nvSpPr>
        <p:spPr>
          <a:xfrm>
            <a:off x="5010912" y="3008376"/>
            <a:ext cx="1499616" cy="758952"/>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Timing, resources, bus, sensor and target-equivalent hardware effects</a:t>
            </a:r>
            <a:endParaRPr lang="en-US" sz="1550" dirty="0"/>
          </a:p>
        </p:txBody>
      </p:sp>
      <p:sp>
        <p:nvSpPr>
          <p:cNvPr id="22" name="Shape 20"/>
          <p:cNvSpPr/>
          <p:nvPr/>
        </p:nvSpPr>
        <p:spPr>
          <a:xfrm>
            <a:off x="7223760" y="1600200"/>
            <a:ext cx="1417320" cy="640080"/>
          </a:xfrm>
          <a:prstGeom prst="roundRect">
            <a:avLst>
              <a:gd name="adj" fmla="val 10000"/>
            </a:avLst>
          </a:prstGeom>
          <a:solidFill>
            <a:srgbClr val="FFFFFF"/>
          </a:solidFill>
          <a:ln w="15240">
            <a:solidFill>
              <a:srgbClr val="0F7C80"/>
            </a:solidFill>
            <a:prstDash val="solid"/>
          </a:ln>
        </p:spPr>
        <p:txBody>
          <a:bodyPr/>
          <a:lstStyle/>
          <a:p>
            <a:endParaRPr/>
          </a:p>
        </p:txBody>
      </p:sp>
      <p:sp>
        <p:nvSpPr>
          <p:cNvPr id="23" name="Text 21"/>
          <p:cNvSpPr/>
          <p:nvPr/>
        </p:nvSpPr>
        <p:spPr>
          <a:xfrm>
            <a:off x="7306056" y="1673352"/>
            <a:ext cx="1252728" cy="5120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Integration</a:t>
            </a:r>
            <a:endParaRPr lang="en-US" sz="1600" dirty="0"/>
          </a:p>
        </p:txBody>
      </p:sp>
      <p:sp>
        <p:nvSpPr>
          <p:cNvPr id="24" name="Shape 22"/>
          <p:cNvSpPr/>
          <p:nvPr/>
        </p:nvSpPr>
        <p:spPr>
          <a:xfrm>
            <a:off x="6995160" y="2880360"/>
            <a:ext cx="1828800" cy="960120"/>
          </a:xfrm>
          <a:prstGeom prst="roundRect">
            <a:avLst>
              <a:gd name="adj" fmla="val 7619"/>
            </a:avLst>
          </a:prstGeom>
          <a:solidFill>
            <a:srgbClr val="FFFFFF"/>
          </a:solidFill>
          <a:ln w="15240">
            <a:solidFill>
              <a:srgbClr val="0F7C80"/>
            </a:solidFill>
            <a:prstDash val="solid"/>
          </a:ln>
        </p:spPr>
        <p:txBody>
          <a:bodyPr/>
          <a:lstStyle/>
          <a:p>
            <a:endParaRPr/>
          </a:p>
        </p:txBody>
      </p:sp>
      <p:sp>
        <p:nvSpPr>
          <p:cNvPr id="25" name="Text 23"/>
          <p:cNvSpPr/>
          <p:nvPr/>
        </p:nvSpPr>
        <p:spPr>
          <a:xfrm>
            <a:off x="7159752" y="3008376"/>
            <a:ext cx="1499616" cy="758952"/>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Model plus monitors, fallback, override and safety response</a:t>
            </a:r>
            <a:endParaRPr lang="en-US" sz="1550" dirty="0"/>
          </a:p>
        </p:txBody>
      </p:sp>
      <p:sp>
        <p:nvSpPr>
          <p:cNvPr id="26" name="Shape 24"/>
          <p:cNvSpPr/>
          <p:nvPr/>
        </p:nvSpPr>
        <p:spPr>
          <a:xfrm>
            <a:off x="9372600" y="1600200"/>
            <a:ext cx="1417320" cy="640080"/>
          </a:xfrm>
          <a:prstGeom prst="roundRect">
            <a:avLst>
              <a:gd name="adj" fmla="val 10000"/>
            </a:avLst>
          </a:prstGeom>
          <a:solidFill>
            <a:srgbClr val="DCEAF6"/>
          </a:solidFill>
          <a:ln w="15240">
            <a:solidFill>
              <a:srgbClr val="2F67B1"/>
            </a:solidFill>
            <a:prstDash val="solid"/>
          </a:ln>
        </p:spPr>
        <p:txBody>
          <a:bodyPr/>
          <a:lstStyle/>
          <a:p>
            <a:endParaRPr/>
          </a:p>
        </p:txBody>
      </p:sp>
      <p:sp>
        <p:nvSpPr>
          <p:cNvPr id="27" name="Text 25"/>
          <p:cNvSpPr/>
          <p:nvPr/>
        </p:nvSpPr>
        <p:spPr>
          <a:xfrm>
            <a:off x="9454896" y="1673352"/>
            <a:ext cx="1252728" cy="51206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Flight test</a:t>
            </a:r>
            <a:endParaRPr lang="en-US" sz="1600" dirty="0"/>
          </a:p>
        </p:txBody>
      </p:sp>
      <p:sp>
        <p:nvSpPr>
          <p:cNvPr id="28" name="Shape 26"/>
          <p:cNvSpPr/>
          <p:nvPr/>
        </p:nvSpPr>
        <p:spPr>
          <a:xfrm>
            <a:off x="9144000" y="2880360"/>
            <a:ext cx="1828800" cy="960120"/>
          </a:xfrm>
          <a:prstGeom prst="roundRect">
            <a:avLst>
              <a:gd name="adj" fmla="val 7619"/>
            </a:avLst>
          </a:prstGeom>
          <a:solidFill>
            <a:srgbClr val="FFFFFF"/>
          </a:solidFill>
          <a:ln w="15240">
            <a:solidFill>
              <a:srgbClr val="2F67B1"/>
            </a:solidFill>
            <a:prstDash val="solid"/>
          </a:ln>
        </p:spPr>
        <p:txBody>
          <a:bodyPr/>
          <a:lstStyle/>
          <a:p>
            <a:endParaRPr/>
          </a:p>
        </p:txBody>
      </p:sp>
      <p:sp>
        <p:nvSpPr>
          <p:cNvPr id="29" name="Text 27"/>
          <p:cNvSpPr/>
          <p:nvPr/>
        </p:nvSpPr>
        <p:spPr>
          <a:xfrm>
            <a:off x="9308592" y="3008376"/>
            <a:ext cx="1499616" cy="758952"/>
          </a:xfrm>
          <a:prstGeom prst="rect">
            <a:avLst/>
          </a:prstGeom>
          <a:noFill/>
          <a:ln/>
        </p:spPr>
        <p:txBody>
          <a:bodyPr wrap="square" lIns="254" tIns="254" rIns="254" bIns="254" rtlCol="0" anchor="ctr">
            <a:normAutofit fontScale="77500" lnSpcReduction="20000"/>
          </a:bodyPr>
          <a:lstStyle/>
          <a:p>
            <a:pPr marL="0" indent="0">
              <a:buNone/>
            </a:pPr>
            <a:r>
              <a:rPr lang="en-US" sz="1550" dirty="0">
                <a:solidFill>
                  <a:srgbClr val="1E2B32"/>
                </a:solidFill>
              </a:rPr>
              <a:t>Real-world validation with boundaries, abort criteria and independent monitoring</a:t>
            </a:r>
            <a:endParaRPr lang="en-US" sz="1550" dirty="0"/>
          </a:p>
        </p:txBody>
      </p:sp>
      <p:sp>
        <p:nvSpPr>
          <p:cNvPr id="30" name="Text 28"/>
          <p:cNvSpPr/>
          <p:nvPr/>
        </p:nvSpPr>
        <p:spPr>
          <a:xfrm>
            <a:off x="960120" y="5257800"/>
            <a:ext cx="10241280" cy="548640"/>
          </a:xfrm>
          <a:prstGeom prst="rect">
            <a:avLst/>
          </a:prstGeom>
          <a:noFill/>
          <a:ln/>
        </p:spPr>
        <p:txBody>
          <a:bodyPr wrap="square" lIns="0" tIns="0" rIns="0" bIns="0" rtlCol="0" anchor="ctr"/>
          <a:lstStyle/>
          <a:p>
            <a:pPr marL="0" indent="0" algn="ctr">
              <a:buNone/>
            </a:pPr>
            <a:r>
              <a:rPr lang="en-US" b="1" dirty="0">
                <a:solidFill>
                  <a:srgbClr val="0E2A3B"/>
                </a:solidFill>
              </a:rPr>
              <a:t>Unit, Simulation, SIL and HIL must </a:t>
            </a:r>
            <a:r>
              <a:rPr lang="en-US" sz="1800" b="1" dirty="0">
                <a:solidFill>
                  <a:srgbClr val="0E2A3B"/>
                </a:solidFill>
              </a:rPr>
              <a:t>discover basic model failure modes</a:t>
            </a:r>
            <a:r>
              <a:rPr lang="en-US" b="1" dirty="0">
                <a:solidFill>
                  <a:srgbClr val="0E2A3B"/>
                </a:solidFill>
              </a:rPr>
              <a:t>, reducing risk earlier in the product lifecycle so Integration/Flight test may</a:t>
            </a:r>
            <a:r>
              <a:rPr lang="en-US" sz="1800" b="1" dirty="0">
                <a:solidFill>
                  <a:srgbClr val="0E2A3B"/>
                </a:solidFill>
              </a:rPr>
              <a:t> validate assumptions and collect evidence under controlled conditions</a:t>
            </a:r>
            <a:r>
              <a:rPr lang="en-US" b="1" dirty="0">
                <a:solidFill>
                  <a:srgbClr val="0E2A3B"/>
                </a:solidFill>
              </a:rPr>
              <a:t>.</a:t>
            </a:r>
            <a:endParaRPr lang="en-US" sz="1800" dirty="0"/>
          </a:p>
        </p:txBody>
      </p:sp>
      <p:sp>
        <p:nvSpPr>
          <p:cNvPr id="31" name="Text 29"/>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32" name="Text 30"/>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Tool qualification expands for MLA</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Tools may shape the evidence, not just the code.</a:t>
            </a:r>
            <a:endParaRPr lang="en-US" sz="1250" dirty="0"/>
          </a:p>
        </p:txBody>
      </p:sp>
      <p:sp>
        <p:nvSpPr>
          <p:cNvPr id="6" name="Shape 4"/>
          <p:cNvSpPr/>
          <p:nvPr/>
        </p:nvSpPr>
        <p:spPr>
          <a:xfrm>
            <a:off x="822960" y="1234440"/>
            <a:ext cx="2103120" cy="438912"/>
          </a:xfrm>
          <a:prstGeom prst="roundRect">
            <a:avLst>
              <a:gd name="adj" fmla="val 16667"/>
            </a:avLst>
          </a:prstGeom>
          <a:solidFill>
            <a:srgbClr val="0E2A3B"/>
          </a:solidFill>
          <a:ln w="12700">
            <a:solidFill>
              <a:srgbClr val="0E2A3B"/>
            </a:solidFill>
            <a:prstDash val="solid"/>
          </a:ln>
        </p:spPr>
        <p:txBody>
          <a:bodyPr/>
          <a:lstStyle/>
          <a:p>
            <a:endParaRPr/>
          </a:p>
        </p:txBody>
      </p:sp>
      <p:sp>
        <p:nvSpPr>
          <p:cNvPr id="7" name="Text 5"/>
          <p:cNvSpPr/>
          <p:nvPr/>
        </p:nvSpPr>
        <p:spPr>
          <a:xfrm>
            <a:off x="932688" y="1307592"/>
            <a:ext cx="1883664"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Training frameworks</a:t>
            </a:r>
            <a:endParaRPr lang="en-US" sz="1500" dirty="0"/>
          </a:p>
        </p:txBody>
      </p:sp>
      <p:sp>
        <p:nvSpPr>
          <p:cNvPr id="8" name="Shape 6"/>
          <p:cNvSpPr/>
          <p:nvPr/>
        </p:nvSpPr>
        <p:spPr>
          <a:xfrm>
            <a:off x="3154680" y="1234440"/>
            <a:ext cx="2697480" cy="438912"/>
          </a:xfrm>
          <a:prstGeom prst="roundRect">
            <a:avLst>
              <a:gd name="adj" fmla="val 16667"/>
            </a:avLst>
          </a:prstGeom>
          <a:solidFill>
            <a:srgbClr val="FFFFFF"/>
          </a:solidFill>
          <a:ln w="15240">
            <a:solidFill>
              <a:srgbClr val="0E2A3B"/>
            </a:solidFill>
            <a:prstDash val="solid"/>
          </a:ln>
        </p:spPr>
        <p:txBody>
          <a:bodyPr/>
          <a:lstStyle/>
          <a:p>
            <a:endParaRPr/>
          </a:p>
        </p:txBody>
      </p:sp>
      <p:sp>
        <p:nvSpPr>
          <p:cNvPr id="9" name="Text 7"/>
          <p:cNvSpPr/>
          <p:nvPr/>
        </p:nvSpPr>
        <p:spPr>
          <a:xfrm>
            <a:off x="3319272" y="1362456"/>
            <a:ext cx="2368296" cy="237744"/>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Model artefacts</a:t>
            </a:r>
            <a:endParaRPr lang="en-US" sz="1550" dirty="0"/>
          </a:p>
        </p:txBody>
      </p:sp>
      <p:sp>
        <p:nvSpPr>
          <p:cNvPr id="10" name="Shape 8"/>
          <p:cNvSpPr/>
          <p:nvPr/>
        </p:nvSpPr>
        <p:spPr>
          <a:xfrm>
            <a:off x="822960" y="2441448"/>
            <a:ext cx="2103120" cy="438912"/>
          </a:xfrm>
          <a:prstGeom prst="roundRect">
            <a:avLst>
              <a:gd name="adj" fmla="val 16667"/>
            </a:avLst>
          </a:prstGeom>
          <a:solidFill>
            <a:srgbClr val="0F7C80"/>
          </a:solidFill>
          <a:ln w="12700">
            <a:solidFill>
              <a:srgbClr val="0F7C80"/>
            </a:solidFill>
            <a:prstDash val="solid"/>
          </a:ln>
        </p:spPr>
        <p:txBody>
          <a:bodyPr/>
          <a:lstStyle/>
          <a:p>
            <a:endParaRPr/>
          </a:p>
        </p:txBody>
      </p:sp>
      <p:sp>
        <p:nvSpPr>
          <p:cNvPr id="11" name="Text 9"/>
          <p:cNvSpPr/>
          <p:nvPr/>
        </p:nvSpPr>
        <p:spPr>
          <a:xfrm>
            <a:off x="932688" y="2514600"/>
            <a:ext cx="1883664"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Data preprocessing</a:t>
            </a:r>
            <a:endParaRPr lang="en-US" sz="1500" dirty="0"/>
          </a:p>
        </p:txBody>
      </p:sp>
      <p:sp>
        <p:nvSpPr>
          <p:cNvPr id="12" name="Shape 10"/>
          <p:cNvSpPr/>
          <p:nvPr/>
        </p:nvSpPr>
        <p:spPr>
          <a:xfrm>
            <a:off x="3154680" y="2441448"/>
            <a:ext cx="2697480" cy="438912"/>
          </a:xfrm>
          <a:prstGeom prst="roundRect">
            <a:avLst>
              <a:gd name="adj" fmla="val 16667"/>
            </a:avLst>
          </a:prstGeom>
          <a:solidFill>
            <a:srgbClr val="FFFFFF"/>
          </a:solidFill>
          <a:ln w="15240">
            <a:solidFill>
              <a:srgbClr val="0F7C80"/>
            </a:solidFill>
            <a:prstDash val="solid"/>
          </a:ln>
        </p:spPr>
        <p:txBody>
          <a:bodyPr/>
          <a:lstStyle/>
          <a:p>
            <a:endParaRPr/>
          </a:p>
        </p:txBody>
      </p:sp>
      <p:sp>
        <p:nvSpPr>
          <p:cNvPr id="13" name="Text 11"/>
          <p:cNvSpPr/>
          <p:nvPr/>
        </p:nvSpPr>
        <p:spPr>
          <a:xfrm>
            <a:off x="3319272" y="2569464"/>
            <a:ext cx="2368296" cy="237744"/>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Feature distributions</a:t>
            </a:r>
            <a:endParaRPr lang="en-US" sz="1550" dirty="0"/>
          </a:p>
        </p:txBody>
      </p:sp>
      <p:sp>
        <p:nvSpPr>
          <p:cNvPr id="14" name="Shape 12"/>
          <p:cNvSpPr/>
          <p:nvPr/>
        </p:nvSpPr>
        <p:spPr>
          <a:xfrm>
            <a:off x="822960" y="3648456"/>
            <a:ext cx="2103120" cy="438912"/>
          </a:xfrm>
          <a:prstGeom prst="roundRect">
            <a:avLst>
              <a:gd name="adj" fmla="val 16667"/>
            </a:avLst>
          </a:prstGeom>
          <a:solidFill>
            <a:srgbClr val="0E2A3B"/>
          </a:solidFill>
          <a:ln w="12700">
            <a:solidFill>
              <a:srgbClr val="0E2A3B"/>
            </a:solidFill>
            <a:prstDash val="solid"/>
          </a:ln>
        </p:spPr>
        <p:txBody>
          <a:bodyPr/>
          <a:lstStyle/>
          <a:p>
            <a:endParaRPr/>
          </a:p>
        </p:txBody>
      </p:sp>
      <p:sp>
        <p:nvSpPr>
          <p:cNvPr id="15" name="Text 13"/>
          <p:cNvSpPr/>
          <p:nvPr/>
        </p:nvSpPr>
        <p:spPr>
          <a:xfrm>
            <a:off x="932688" y="3721608"/>
            <a:ext cx="1883664" cy="320040"/>
          </a:xfrm>
          <a:prstGeom prst="rect">
            <a:avLst/>
          </a:prstGeom>
          <a:noFill/>
          <a:ln/>
        </p:spPr>
        <p:txBody>
          <a:bodyPr wrap="square" lIns="0" tIns="0" rIns="0" bIns="0" rtlCol="0" anchor="ctr">
            <a:normAutofit fontScale="92500"/>
          </a:bodyPr>
          <a:lstStyle/>
          <a:p>
            <a:pPr marL="0" indent="0" algn="ctr">
              <a:buNone/>
            </a:pPr>
            <a:r>
              <a:rPr lang="en-US" sz="1500" b="1" dirty="0">
                <a:solidFill>
                  <a:srgbClr val="FFFFFF"/>
                </a:solidFill>
              </a:rPr>
              <a:t>Labelling / annotation</a:t>
            </a:r>
            <a:endParaRPr lang="en-US" sz="1500" dirty="0"/>
          </a:p>
        </p:txBody>
      </p:sp>
      <p:sp>
        <p:nvSpPr>
          <p:cNvPr id="16" name="Shape 14"/>
          <p:cNvSpPr/>
          <p:nvPr/>
        </p:nvSpPr>
        <p:spPr>
          <a:xfrm>
            <a:off x="3154680" y="3648456"/>
            <a:ext cx="2697480" cy="438912"/>
          </a:xfrm>
          <a:prstGeom prst="roundRect">
            <a:avLst>
              <a:gd name="adj" fmla="val 16667"/>
            </a:avLst>
          </a:prstGeom>
          <a:solidFill>
            <a:srgbClr val="FFFFFF"/>
          </a:solidFill>
          <a:ln w="15240">
            <a:solidFill>
              <a:srgbClr val="0E2A3B"/>
            </a:solidFill>
            <a:prstDash val="solid"/>
          </a:ln>
        </p:spPr>
        <p:txBody>
          <a:bodyPr/>
          <a:lstStyle/>
          <a:p>
            <a:endParaRPr/>
          </a:p>
        </p:txBody>
      </p:sp>
      <p:sp>
        <p:nvSpPr>
          <p:cNvPr id="17" name="Text 15"/>
          <p:cNvSpPr/>
          <p:nvPr/>
        </p:nvSpPr>
        <p:spPr>
          <a:xfrm>
            <a:off x="3319272" y="3776472"/>
            <a:ext cx="2368296" cy="237744"/>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Ground truth</a:t>
            </a:r>
            <a:endParaRPr lang="en-US" sz="1550" dirty="0"/>
          </a:p>
        </p:txBody>
      </p:sp>
      <p:sp>
        <p:nvSpPr>
          <p:cNvPr id="18" name="Shape 16"/>
          <p:cNvSpPr/>
          <p:nvPr/>
        </p:nvSpPr>
        <p:spPr>
          <a:xfrm>
            <a:off x="6446520" y="1234440"/>
            <a:ext cx="2103120" cy="438912"/>
          </a:xfrm>
          <a:prstGeom prst="roundRect">
            <a:avLst>
              <a:gd name="adj" fmla="val 16667"/>
            </a:avLst>
          </a:prstGeom>
          <a:solidFill>
            <a:srgbClr val="0F7C80"/>
          </a:solidFill>
          <a:ln w="12700">
            <a:solidFill>
              <a:srgbClr val="0F7C80"/>
            </a:solidFill>
            <a:prstDash val="solid"/>
          </a:ln>
        </p:spPr>
        <p:txBody>
          <a:bodyPr/>
          <a:lstStyle/>
          <a:p>
            <a:endParaRPr/>
          </a:p>
        </p:txBody>
      </p:sp>
      <p:sp>
        <p:nvSpPr>
          <p:cNvPr id="19" name="Text 17"/>
          <p:cNvSpPr/>
          <p:nvPr/>
        </p:nvSpPr>
        <p:spPr>
          <a:xfrm>
            <a:off x="6556248" y="1307592"/>
            <a:ext cx="1883664"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Synthetic data</a:t>
            </a:r>
            <a:endParaRPr lang="en-US" sz="1500" dirty="0"/>
          </a:p>
        </p:txBody>
      </p:sp>
      <p:sp>
        <p:nvSpPr>
          <p:cNvPr id="20" name="Shape 18"/>
          <p:cNvSpPr/>
          <p:nvPr/>
        </p:nvSpPr>
        <p:spPr>
          <a:xfrm>
            <a:off x="8778240" y="1234440"/>
            <a:ext cx="2697480" cy="438912"/>
          </a:xfrm>
          <a:prstGeom prst="roundRect">
            <a:avLst>
              <a:gd name="adj" fmla="val 16667"/>
            </a:avLst>
          </a:prstGeom>
          <a:solidFill>
            <a:srgbClr val="FFFFFF"/>
          </a:solidFill>
          <a:ln w="15240">
            <a:solidFill>
              <a:srgbClr val="0F7C80"/>
            </a:solidFill>
            <a:prstDash val="solid"/>
          </a:ln>
        </p:spPr>
        <p:txBody>
          <a:bodyPr/>
          <a:lstStyle/>
          <a:p>
            <a:endParaRPr/>
          </a:p>
        </p:txBody>
      </p:sp>
      <p:sp>
        <p:nvSpPr>
          <p:cNvPr id="21" name="Text 19"/>
          <p:cNvSpPr/>
          <p:nvPr/>
        </p:nvSpPr>
        <p:spPr>
          <a:xfrm>
            <a:off x="8942832" y="1362456"/>
            <a:ext cx="2368296" cy="237744"/>
          </a:xfrm>
          <a:prstGeom prst="rect">
            <a:avLst/>
          </a:prstGeom>
          <a:noFill/>
          <a:ln/>
        </p:spPr>
        <p:txBody>
          <a:bodyPr wrap="square" lIns="254" tIns="254" rIns="254" bIns="254" rtlCol="0" anchor="ctr">
            <a:normAutofit fontScale="92500"/>
          </a:bodyPr>
          <a:lstStyle/>
          <a:p>
            <a:pPr marL="0" indent="0">
              <a:buNone/>
            </a:pPr>
            <a:r>
              <a:rPr lang="en-US" sz="1550" dirty="0">
                <a:solidFill>
                  <a:srgbClr val="1E2B32"/>
                </a:solidFill>
              </a:rPr>
              <a:t>Evidence representativeness</a:t>
            </a:r>
            <a:endParaRPr lang="en-US" sz="1550" dirty="0"/>
          </a:p>
        </p:txBody>
      </p:sp>
      <p:sp>
        <p:nvSpPr>
          <p:cNvPr id="22" name="Shape 20"/>
          <p:cNvSpPr/>
          <p:nvPr/>
        </p:nvSpPr>
        <p:spPr>
          <a:xfrm>
            <a:off x="6446520" y="2441448"/>
            <a:ext cx="2103120" cy="438912"/>
          </a:xfrm>
          <a:prstGeom prst="roundRect">
            <a:avLst>
              <a:gd name="adj" fmla="val 16667"/>
            </a:avLst>
          </a:prstGeom>
          <a:solidFill>
            <a:srgbClr val="0E2A3B"/>
          </a:solidFill>
          <a:ln w="12700">
            <a:solidFill>
              <a:srgbClr val="0E2A3B"/>
            </a:solidFill>
            <a:prstDash val="solid"/>
          </a:ln>
        </p:spPr>
        <p:txBody>
          <a:bodyPr/>
          <a:lstStyle/>
          <a:p>
            <a:endParaRPr/>
          </a:p>
        </p:txBody>
      </p:sp>
      <p:sp>
        <p:nvSpPr>
          <p:cNvPr id="23" name="Text 21"/>
          <p:cNvSpPr/>
          <p:nvPr/>
        </p:nvSpPr>
        <p:spPr>
          <a:xfrm>
            <a:off x="6556248" y="2514600"/>
            <a:ext cx="1883664"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Model conversion</a:t>
            </a:r>
            <a:endParaRPr lang="en-US" sz="1500" dirty="0"/>
          </a:p>
        </p:txBody>
      </p:sp>
      <p:sp>
        <p:nvSpPr>
          <p:cNvPr id="24" name="Shape 22"/>
          <p:cNvSpPr/>
          <p:nvPr/>
        </p:nvSpPr>
        <p:spPr>
          <a:xfrm>
            <a:off x="8778240" y="2441448"/>
            <a:ext cx="2697480" cy="438912"/>
          </a:xfrm>
          <a:prstGeom prst="roundRect">
            <a:avLst>
              <a:gd name="adj" fmla="val 16667"/>
            </a:avLst>
          </a:prstGeom>
          <a:solidFill>
            <a:srgbClr val="FFFFFF"/>
          </a:solidFill>
          <a:ln w="15240">
            <a:solidFill>
              <a:srgbClr val="0E2A3B"/>
            </a:solidFill>
            <a:prstDash val="solid"/>
          </a:ln>
        </p:spPr>
        <p:txBody>
          <a:bodyPr/>
          <a:lstStyle/>
          <a:p>
            <a:endParaRPr/>
          </a:p>
        </p:txBody>
      </p:sp>
      <p:sp>
        <p:nvSpPr>
          <p:cNvPr id="25" name="Text 23"/>
          <p:cNvSpPr/>
          <p:nvPr/>
        </p:nvSpPr>
        <p:spPr>
          <a:xfrm>
            <a:off x="8942832" y="2569464"/>
            <a:ext cx="2368296" cy="237744"/>
          </a:xfrm>
          <a:prstGeom prst="rect">
            <a:avLst/>
          </a:prstGeom>
          <a:noFill/>
          <a:ln/>
        </p:spPr>
        <p:txBody>
          <a:bodyPr wrap="square" lIns="254" tIns="254" rIns="254" bIns="254" rtlCol="0" anchor="ctr">
            <a:normAutofit/>
          </a:bodyPr>
          <a:lstStyle/>
          <a:p>
            <a:pPr marL="0" indent="0">
              <a:buNone/>
            </a:pPr>
            <a:r>
              <a:rPr lang="en-US" sz="1550" dirty="0">
                <a:solidFill>
                  <a:srgbClr val="1E2B32"/>
                </a:solidFill>
              </a:rPr>
              <a:t>Deployable baseline</a:t>
            </a:r>
            <a:endParaRPr lang="en-US" sz="1550" dirty="0"/>
          </a:p>
        </p:txBody>
      </p:sp>
      <p:sp>
        <p:nvSpPr>
          <p:cNvPr id="26" name="Shape 24"/>
          <p:cNvSpPr/>
          <p:nvPr/>
        </p:nvSpPr>
        <p:spPr>
          <a:xfrm>
            <a:off x="6446520" y="3648456"/>
            <a:ext cx="2103120" cy="438912"/>
          </a:xfrm>
          <a:prstGeom prst="roundRect">
            <a:avLst>
              <a:gd name="adj" fmla="val 16667"/>
            </a:avLst>
          </a:prstGeom>
          <a:solidFill>
            <a:srgbClr val="0F7C80"/>
          </a:solidFill>
          <a:ln w="12700">
            <a:solidFill>
              <a:srgbClr val="0F7C80"/>
            </a:solidFill>
            <a:prstDash val="solid"/>
          </a:ln>
        </p:spPr>
        <p:txBody>
          <a:bodyPr/>
          <a:lstStyle/>
          <a:p>
            <a:endParaRPr/>
          </a:p>
        </p:txBody>
      </p:sp>
      <p:sp>
        <p:nvSpPr>
          <p:cNvPr id="27" name="Text 25"/>
          <p:cNvSpPr/>
          <p:nvPr/>
        </p:nvSpPr>
        <p:spPr>
          <a:xfrm>
            <a:off x="6556248" y="3721608"/>
            <a:ext cx="1883664"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Evidence systems</a:t>
            </a:r>
            <a:endParaRPr lang="en-US" sz="1500" dirty="0"/>
          </a:p>
        </p:txBody>
      </p:sp>
      <p:sp>
        <p:nvSpPr>
          <p:cNvPr id="28" name="Shape 26"/>
          <p:cNvSpPr/>
          <p:nvPr/>
        </p:nvSpPr>
        <p:spPr>
          <a:xfrm>
            <a:off x="8778240" y="3648456"/>
            <a:ext cx="2697480" cy="438912"/>
          </a:xfrm>
          <a:prstGeom prst="roundRect">
            <a:avLst>
              <a:gd name="adj" fmla="val 16667"/>
            </a:avLst>
          </a:prstGeom>
          <a:solidFill>
            <a:srgbClr val="FFFFFF"/>
          </a:solidFill>
          <a:ln w="15240">
            <a:solidFill>
              <a:srgbClr val="0F7C80"/>
            </a:solidFill>
            <a:prstDash val="solid"/>
          </a:ln>
        </p:spPr>
        <p:txBody>
          <a:bodyPr/>
          <a:lstStyle/>
          <a:p>
            <a:endParaRPr/>
          </a:p>
        </p:txBody>
      </p:sp>
      <p:sp>
        <p:nvSpPr>
          <p:cNvPr id="29" name="Text 27"/>
          <p:cNvSpPr/>
          <p:nvPr/>
        </p:nvSpPr>
        <p:spPr>
          <a:xfrm>
            <a:off x="8942832" y="3776472"/>
            <a:ext cx="2368296" cy="237744"/>
          </a:xfrm>
          <a:prstGeom prst="rect">
            <a:avLst/>
          </a:prstGeom>
          <a:noFill/>
          <a:ln/>
        </p:spPr>
        <p:txBody>
          <a:bodyPr wrap="square" lIns="254" tIns="254" rIns="254" bIns="254" rtlCol="0" anchor="ctr">
            <a:normAutofit fontScale="85000" lnSpcReduction="10000"/>
          </a:bodyPr>
          <a:lstStyle/>
          <a:p>
            <a:pPr marL="0" indent="0">
              <a:buNone/>
            </a:pPr>
            <a:r>
              <a:rPr lang="en-US" sz="1550" dirty="0">
                <a:solidFill>
                  <a:srgbClr val="1E2B32"/>
                </a:solidFill>
              </a:rPr>
              <a:t>Traceability &amp; compliance status</a:t>
            </a:r>
            <a:endParaRPr lang="en-US" sz="1550" dirty="0"/>
          </a:p>
        </p:txBody>
      </p:sp>
      <p:sp>
        <p:nvSpPr>
          <p:cNvPr id="30" name="Shape 28"/>
          <p:cNvSpPr/>
          <p:nvPr/>
        </p:nvSpPr>
        <p:spPr>
          <a:xfrm>
            <a:off x="1965960" y="4855464"/>
            <a:ext cx="8366760" cy="1197864"/>
          </a:xfrm>
          <a:prstGeom prst="roundRect">
            <a:avLst>
              <a:gd name="adj" fmla="val 10667"/>
            </a:avLst>
          </a:prstGeom>
          <a:solidFill>
            <a:srgbClr val="ECE9FF"/>
          </a:solidFill>
          <a:ln w="15240">
            <a:solidFill>
              <a:srgbClr val="7461D1"/>
            </a:solidFill>
            <a:prstDash val="solid"/>
          </a:ln>
        </p:spPr>
        <p:txBody>
          <a:bodyPr/>
          <a:lstStyle/>
          <a:p>
            <a:endParaRPr/>
          </a:p>
        </p:txBody>
      </p:sp>
      <p:sp>
        <p:nvSpPr>
          <p:cNvPr id="31" name="Text 29"/>
          <p:cNvSpPr/>
          <p:nvPr/>
        </p:nvSpPr>
        <p:spPr>
          <a:xfrm>
            <a:off x="2130552" y="4956048"/>
            <a:ext cx="8037576" cy="1014984"/>
          </a:xfrm>
          <a:prstGeom prst="rect">
            <a:avLst/>
          </a:prstGeom>
          <a:noFill/>
          <a:ln/>
        </p:spPr>
        <p:txBody>
          <a:bodyPr wrap="square" lIns="254" tIns="254" rIns="254" bIns="254" rtlCol="0" anchor="ctr">
            <a:normAutofit fontScale="85000" lnSpcReduction="20000"/>
          </a:bodyPr>
          <a:lstStyle/>
          <a:p>
            <a:pPr marL="0" indent="0">
              <a:buNone/>
            </a:pPr>
            <a:r>
              <a:rPr lang="en-US" sz="1550" dirty="0">
                <a:solidFill>
                  <a:srgbClr val="1E2B32"/>
                </a:solidFill>
              </a:rPr>
              <a:t>The need for greater tool qualification is driven by the possibility for new tools to mask defects or corrupt evidence, then generate deployable artefacts, changing model </a:t>
            </a:r>
            <a:r>
              <a:rPr lang="en-US" sz="1550" dirty="0" err="1">
                <a:solidFill>
                  <a:srgbClr val="1E2B32"/>
                </a:solidFill>
              </a:rPr>
              <a:t>behaviour</a:t>
            </a:r>
            <a:r>
              <a:rPr lang="en-US" sz="1550" dirty="0">
                <a:solidFill>
                  <a:srgbClr val="1E2B32"/>
                </a:solidFill>
              </a:rPr>
              <a:t>.</a:t>
            </a:r>
          </a:p>
          <a:p>
            <a:pPr marL="0" indent="0">
              <a:buNone/>
            </a:pPr>
            <a:endParaRPr lang="en-US" sz="1550" dirty="0">
              <a:solidFill>
                <a:srgbClr val="1E2B32"/>
              </a:solidFill>
            </a:endParaRPr>
          </a:p>
          <a:p>
            <a:pPr marL="0" indent="0">
              <a:buNone/>
            </a:pPr>
            <a:r>
              <a:rPr lang="en-US" sz="1550" dirty="0">
                <a:solidFill>
                  <a:srgbClr val="1E2B32"/>
                </a:solidFill>
              </a:rPr>
              <a:t>This reinforces the need for risk aware process and toolset selection, but there is little need to modify toolsets associated with traditional high integrity software production (SCADE), so long as a route to the integration of qualified MLA code is possible.</a:t>
            </a:r>
            <a:endParaRPr lang="en-US" sz="1550" dirty="0"/>
          </a:p>
        </p:txBody>
      </p:sp>
      <p:sp>
        <p:nvSpPr>
          <p:cNvPr id="32" name="Text 30"/>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33" name="Text 31"/>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Certification package</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A coherent, reviewable evidence body linked to a configured release</a:t>
            </a:r>
            <a:endParaRPr lang="en-US" sz="1250" dirty="0"/>
          </a:p>
        </p:txBody>
      </p:sp>
      <p:sp>
        <p:nvSpPr>
          <p:cNvPr id="6" name="Shape 4"/>
          <p:cNvSpPr/>
          <p:nvPr/>
        </p:nvSpPr>
        <p:spPr>
          <a:xfrm>
            <a:off x="777240" y="1234440"/>
            <a:ext cx="338328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7" name="Text 5"/>
          <p:cNvSpPr/>
          <p:nvPr/>
        </p:nvSpPr>
        <p:spPr>
          <a:xfrm>
            <a:off x="886968" y="1307592"/>
            <a:ext cx="316382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Conventional artefacts</a:t>
            </a:r>
            <a:endParaRPr lang="en-US" sz="1500" dirty="0"/>
          </a:p>
        </p:txBody>
      </p:sp>
      <p:sp>
        <p:nvSpPr>
          <p:cNvPr id="8" name="Text 6"/>
          <p:cNvSpPr/>
          <p:nvPr/>
        </p:nvSpPr>
        <p:spPr>
          <a:xfrm>
            <a:off x="960120" y="1828800"/>
            <a:ext cx="2971800" cy="2286000"/>
          </a:xfrm>
          <a:prstGeom prst="rect">
            <a:avLst/>
          </a:prstGeom>
          <a:noFill/>
          <a:ln/>
        </p:spPr>
        <p:txBody>
          <a:bodyPr wrap="square" lIns="254" tIns="254" rIns="254" bIns="254" rtlCol="0" anchor="ctr">
            <a:normAutofit/>
          </a:bodyPr>
          <a:lstStyle/>
          <a:p>
            <a:r>
              <a:rPr lang="en-US" sz="1400" dirty="0">
                <a:solidFill>
                  <a:srgbClr val="1E2B32"/>
                </a:solidFill>
              </a:rPr>
              <a:t>PSAC / certification plans</a:t>
            </a:r>
            <a:endParaRPr lang="en-US" sz="1400" dirty="0"/>
          </a:p>
          <a:p>
            <a:r>
              <a:rPr lang="en-US" sz="1400" dirty="0">
                <a:solidFill>
                  <a:srgbClr val="1E2B32"/>
                </a:solidFill>
              </a:rPr>
              <a:t>Requirements and design artefacts</a:t>
            </a:r>
            <a:endParaRPr lang="en-US" sz="1400" dirty="0"/>
          </a:p>
          <a:p>
            <a:r>
              <a:rPr lang="en-US" sz="1400" dirty="0">
                <a:solidFill>
                  <a:srgbClr val="1E2B32"/>
                </a:solidFill>
              </a:rPr>
              <a:t>Verification plans and results</a:t>
            </a:r>
            <a:endParaRPr lang="en-US" sz="1400" dirty="0"/>
          </a:p>
          <a:p>
            <a:r>
              <a:rPr lang="en-US" sz="1400" dirty="0">
                <a:solidFill>
                  <a:srgbClr val="1E2B32"/>
                </a:solidFill>
              </a:rPr>
              <a:t>CM, QA and tool evidence</a:t>
            </a:r>
            <a:endParaRPr lang="en-US" sz="1400" dirty="0"/>
          </a:p>
          <a:p>
            <a:r>
              <a:rPr lang="en-US" sz="1400" dirty="0">
                <a:solidFill>
                  <a:srgbClr val="1E2B32"/>
                </a:solidFill>
              </a:rPr>
              <a:t>Safety assessments and hazard logs</a:t>
            </a:r>
            <a:endParaRPr lang="en-US" sz="1400" dirty="0"/>
          </a:p>
        </p:txBody>
      </p:sp>
      <p:sp>
        <p:nvSpPr>
          <p:cNvPr id="9" name="Shape 7"/>
          <p:cNvSpPr/>
          <p:nvPr/>
        </p:nvSpPr>
        <p:spPr>
          <a:xfrm>
            <a:off x="4434840" y="1234440"/>
            <a:ext cx="338328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0" name="Text 8"/>
          <p:cNvSpPr/>
          <p:nvPr/>
        </p:nvSpPr>
        <p:spPr>
          <a:xfrm>
            <a:off x="4544568" y="1307592"/>
            <a:ext cx="316382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ML-specific additions</a:t>
            </a:r>
            <a:endParaRPr lang="en-US" sz="1500" dirty="0"/>
          </a:p>
        </p:txBody>
      </p:sp>
      <p:sp>
        <p:nvSpPr>
          <p:cNvPr id="11" name="Text 9"/>
          <p:cNvSpPr/>
          <p:nvPr/>
        </p:nvSpPr>
        <p:spPr>
          <a:xfrm>
            <a:off x="4617720" y="1828800"/>
            <a:ext cx="2971800" cy="2286000"/>
          </a:xfrm>
          <a:prstGeom prst="rect">
            <a:avLst/>
          </a:prstGeom>
          <a:noFill/>
          <a:ln/>
        </p:spPr>
        <p:txBody>
          <a:bodyPr wrap="square" lIns="254" tIns="254" rIns="254" bIns="254" rtlCol="0" anchor="ctr">
            <a:normAutofit/>
          </a:bodyPr>
          <a:lstStyle/>
          <a:p>
            <a:r>
              <a:rPr lang="en-US" sz="1400" dirty="0">
                <a:solidFill>
                  <a:srgbClr val="1E2B32"/>
                </a:solidFill>
              </a:rPr>
              <a:t>Dataset provenance and bias analysis</a:t>
            </a:r>
            <a:endParaRPr lang="en-US" sz="1400" dirty="0"/>
          </a:p>
          <a:p>
            <a:r>
              <a:rPr lang="en-US" sz="1400" dirty="0">
                <a:solidFill>
                  <a:srgbClr val="1E2B32"/>
                </a:solidFill>
              </a:rPr>
              <a:t>Training / validation / test definitions</a:t>
            </a:r>
            <a:endParaRPr lang="en-US" sz="1400" dirty="0"/>
          </a:p>
          <a:p>
            <a:r>
              <a:rPr lang="en-US" sz="1400" dirty="0">
                <a:solidFill>
                  <a:srgbClr val="1E2B32"/>
                </a:solidFill>
              </a:rPr>
              <a:t>Model architecture and hyperparameters</a:t>
            </a:r>
            <a:endParaRPr lang="en-US" sz="1400" dirty="0"/>
          </a:p>
          <a:p>
            <a:r>
              <a:rPr lang="en-US" sz="1400" dirty="0">
                <a:solidFill>
                  <a:srgbClr val="1E2B32"/>
                </a:solidFill>
              </a:rPr>
              <a:t>Robustness, uncertainty and explainability</a:t>
            </a:r>
            <a:endParaRPr lang="en-US" sz="1400" dirty="0"/>
          </a:p>
          <a:p>
            <a:r>
              <a:rPr lang="en-US" sz="1400" dirty="0">
                <a:solidFill>
                  <a:srgbClr val="1E2B32"/>
                </a:solidFill>
              </a:rPr>
              <a:t>ODD, monitor and fallback evidence</a:t>
            </a:r>
            <a:endParaRPr lang="en-US" sz="1400" dirty="0"/>
          </a:p>
        </p:txBody>
      </p:sp>
      <p:sp>
        <p:nvSpPr>
          <p:cNvPr id="12" name="Shape 10"/>
          <p:cNvSpPr/>
          <p:nvPr/>
        </p:nvSpPr>
        <p:spPr>
          <a:xfrm>
            <a:off x="8092440" y="1234440"/>
            <a:ext cx="3383280" cy="457200"/>
          </a:xfrm>
          <a:prstGeom prst="roundRect">
            <a:avLst>
              <a:gd name="adj" fmla="val 16000"/>
            </a:avLst>
          </a:prstGeom>
          <a:solidFill>
            <a:srgbClr val="7461D1"/>
          </a:solidFill>
          <a:ln w="12700">
            <a:solidFill>
              <a:srgbClr val="7461D1"/>
            </a:solidFill>
            <a:prstDash val="solid"/>
          </a:ln>
        </p:spPr>
        <p:txBody>
          <a:bodyPr/>
          <a:lstStyle/>
          <a:p>
            <a:endParaRPr/>
          </a:p>
        </p:txBody>
      </p:sp>
      <p:sp>
        <p:nvSpPr>
          <p:cNvPr id="13" name="Text 11"/>
          <p:cNvSpPr/>
          <p:nvPr/>
        </p:nvSpPr>
        <p:spPr>
          <a:xfrm>
            <a:off x="8202168" y="1307592"/>
            <a:ext cx="3163824" cy="3383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Release traceability</a:t>
            </a:r>
            <a:endParaRPr lang="en-US" sz="1500" dirty="0"/>
          </a:p>
        </p:txBody>
      </p:sp>
      <p:sp>
        <p:nvSpPr>
          <p:cNvPr id="14" name="Text 12"/>
          <p:cNvSpPr/>
          <p:nvPr/>
        </p:nvSpPr>
        <p:spPr>
          <a:xfrm>
            <a:off x="8275320" y="1828800"/>
            <a:ext cx="2971800" cy="2286000"/>
          </a:xfrm>
          <a:prstGeom prst="rect">
            <a:avLst/>
          </a:prstGeom>
          <a:noFill/>
          <a:ln/>
        </p:spPr>
        <p:txBody>
          <a:bodyPr wrap="square" lIns="254" tIns="254" rIns="254" bIns="254" rtlCol="0" anchor="ctr">
            <a:normAutofit/>
          </a:bodyPr>
          <a:lstStyle/>
          <a:p>
            <a:r>
              <a:rPr lang="en-US" sz="1400" dirty="0">
                <a:solidFill>
                  <a:srgbClr val="1E2B32"/>
                </a:solidFill>
              </a:rPr>
              <a:t>Which evidence applies to which model?</a:t>
            </a:r>
            <a:endParaRPr lang="en-US" sz="1400" dirty="0"/>
          </a:p>
          <a:p>
            <a:r>
              <a:rPr lang="en-US" sz="1400" dirty="0">
                <a:solidFill>
                  <a:srgbClr val="1E2B32"/>
                </a:solidFill>
              </a:rPr>
              <a:t>Which dataset and toolchain version?</a:t>
            </a:r>
            <a:endParaRPr lang="en-US" sz="1400" dirty="0"/>
          </a:p>
          <a:p>
            <a:r>
              <a:rPr lang="en-US" sz="1400" dirty="0">
                <a:solidFill>
                  <a:srgbClr val="1E2B32"/>
                </a:solidFill>
              </a:rPr>
              <a:t>Which deployment hardware?</a:t>
            </a:r>
            <a:endParaRPr lang="en-US" sz="1400" dirty="0"/>
          </a:p>
          <a:p>
            <a:r>
              <a:rPr lang="en-US" sz="1400" dirty="0">
                <a:solidFill>
                  <a:srgbClr val="1E2B32"/>
                </a:solidFill>
              </a:rPr>
              <a:t>Which monitor thresholds?</a:t>
            </a:r>
            <a:endParaRPr lang="en-US" sz="1400" dirty="0"/>
          </a:p>
          <a:p>
            <a:r>
              <a:rPr lang="en-US" sz="1400" dirty="0">
                <a:solidFill>
                  <a:srgbClr val="1E2B32"/>
                </a:solidFill>
              </a:rPr>
              <a:t>Which authority issues are closed?</a:t>
            </a:r>
            <a:endParaRPr lang="en-US" sz="1400" dirty="0"/>
          </a:p>
        </p:txBody>
      </p:sp>
      <p:sp>
        <p:nvSpPr>
          <p:cNvPr id="15" name="Shape 13"/>
          <p:cNvSpPr/>
          <p:nvPr/>
        </p:nvSpPr>
        <p:spPr>
          <a:xfrm>
            <a:off x="1051560" y="4839419"/>
            <a:ext cx="10058400" cy="1058461"/>
          </a:xfrm>
          <a:prstGeom prst="roundRect">
            <a:avLst>
              <a:gd name="adj" fmla="val 12308"/>
            </a:avLst>
          </a:prstGeom>
          <a:solidFill>
            <a:srgbClr val="FFFFFF"/>
          </a:solidFill>
          <a:ln w="15240">
            <a:solidFill>
              <a:srgbClr val="0F7C80"/>
            </a:solidFill>
            <a:prstDash val="solid"/>
          </a:ln>
        </p:spPr>
        <p:txBody>
          <a:bodyPr/>
          <a:lstStyle/>
          <a:p>
            <a:endParaRPr/>
          </a:p>
        </p:txBody>
      </p:sp>
      <p:sp>
        <p:nvSpPr>
          <p:cNvPr id="16" name="Text 14"/>
          <p:cNvSpPr/>
          <p:nvPr/>
        </p:nvSpPr>
        <p:spPr>
          <a:xfrm>
            <a:off x="1216152" y="4937760"/>
            <a:ext cx="9729216" cy="886968"/>
          </a:xfrm>
          <a:prstGeom prst="rect">
            <a:avLst/>
          </a:prstGeom>
          <a:noFill/>
          <a:ln/>
        </p:spPr>
        <p:txBody>
          <a:bodyPr wrap="square" lIns="254" tIns="254" rIns="254" bIns="254" rtlCol="0" anchor="ctr">
            <a:normAutofit fontScale="85000" lnSpcReduction="20000"/>
          </a:bodyPr>
          <a:lstStyle/>
          <a:p>
            <a:pPr marL="0" indent="0">
              <a:buNone/>
            </a:pPr>
            <a:r>
              <a:rPr lang="en-US" sz="1550" dirty="0">
                <a:solidFill>
                  <a:srgbClr val="1E2B32"/>
                </a:solidFill>
              </a:rPr>
              <a:t>The document positions the CAS as an active certification-management mechanism: incomplete, stale or non-representative evidence keeps the claim open. </a:t>
            </a:r>
          </a:p>
          <a:p>
            <a:pPr marL="0" indent="0">
              <a:buNone/>
            </a:pPr>
            <a:endParaRPr lang="en-US" sz="1550" dirty="0">
              <a:solidFill>
                <a:srgbClr val="1E2B32"/>
              </a:solidFill>
            </a:endParaRPr>
          </a:p>
          <a:p>
            <a:pPr marL="0" indent="0">
              <a:buNone/>
            </a:pPr>
            <a:r>
              <a:rPr lang="en-US" sz="1550" dirty="0">
                <a:solidFill>
                  <a:srgbClr val="1E2B32"/>
                </a:solidFill>
              </a:rPr>
              <a:t>Despite offering similar indications, products such as ANSYS Medini, may not suffice for the additional formats within the corpus of evidence, consideration of the additional evidence formats must inform the selection of such a tool.</a:t>
            </a:r>
            <a:endParaRPr lang="en-US" sz="1550" dirty="0"/>
          </a:p>
        </p:txBody>
      </p:sp>
      <p:sp>
        <p:nvSpPr>
          <p:cNvPr id="17" name="Text 15"/>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certification package and gaining certification sections, pp.24 and 29–30.</a:t>
            </a:r>
            <a:endParaRPr lang="en-US" sz="750" dirty="0"/>
          </a:p>
        </p:txBody>
      </p:sp>
      <p:sp>
        <p:nvSpPr>
          <p:cNvPr id="18" name="Text 16"/>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9" name="Text 17"/>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Operations and continued airworthiness</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Certification is not the end of assurance activity.</a:t>
            </a:r>
            <a:endParaRPr lang="en-US" sz="1250" dirty="0"/>
          </a:p>
        </p:txBody>
      </p:sp>
      <p:pic>
        <p:nvPicPr>
          <p:cNvPr id="6" name="Image 0" descr="/mnt/data/docx_media/image4.png"/>
          <p:cNvPicPr>
            <a:picLocks noChangeAspect="1"/>
          </p:cNvPicPr>
          <p:nvPr/>
        </p:nvPicPr>
        <p:blipFill>
          <a:blip r:embed="rId3"/>
          <a:stretch>
            <a:fillRect/>
          </a:stretch>
        </p:blipFill>
        <p:spPr>
          <a:xfrm>
            <a:off x="898691" y="1234440"/>
            <a:ext cx="3871899" cy="4892040"/>
          </a:xfrm>
          <a:prstGeom prst="rect">
            <a:avLst/>
          </a:prstGeom>
        </p:spPr>
      </p:pic>
      <p:sp>
        <p:nvSpPr>
          <p:cNvPr id="7" name="Text 4"/>
          <p:cNvSpPr/>
          <p:nvPr/>
        </p:nvSpPr>
        <p:spPr>
          <a:xfrm>
            <a:off x="5349240" y="1115568"/>
            <a:ext cx="6080760" cy="2679192"/>
          </a:xfrm>
          <a:prstGeom prst="rect">
            <a:avLst/>
          </a:prstGeom>
          <a:noFill/>
          <a:ln/>
        </p:spPr>
        <p:txBody>
          <a:bodyPr wrap="square" lIns="254" tIns="254" rIns="254" bIns="254" rtlCol="0" anchor="ctr">
            <a:normAutofit/>
          </a:bodyPr>
          <a:lstStyle/>
          <a:p>
            <a:r>
              <a:rPr lang="en-US" sz="1550" dirty="0">
                <a:solidFill>
                  <a:srgbClr val="1E2B32"/>
                </a:solidFill>
              </a:rPr>
              <a:t>Monitor ODD excursions, confidence, uncertainty, rejection rates, fallback events and degradation trends.</a:t>
            </a:r>
          </a:p>
          <a:p>
            <a:endParaRPr lang="en-US" sz="1550" dirty="0"/>
          </a:p>
          <a:p>
            <a:r>
              <a:rPr lang="en-US" sz="1550" dirty="0">
                <a:solidFill>
                  <a:srgbClr val="1E2B32"/>
                </a:solidFill>
              </a:rPr>
              <a:t>When assumptions diverge, restrict, withdraw, retrain under formal change control or re-certify.</a:t>
            </a:r>
          </a:p>
          <a:p>
            <a:endParaRPr lang="en-US" sz="1550" dirty="0"/>
          </a:p>
          <a:p>
            <a:r>
              <a:rPr lang="en-US" sz="1550" dirty="0">
                <a:solidFill>
                  <a:srgbClr val="1E2B32"/>
                </a:solidFill>
              </a:rPr>
              <a:t>Online learning is not permitted for safety-related functions unless a specific certification basis has been agreed.</a:t>
            </a:r>
          </a:p>
          <a:p>
            <a:endParaRPr lang="en-US" sz="1550" dirty="0"/>
          </a:p>
          <a:p>
            <a:r>
              <a:rPr lang="en-US" sz="1550" dirty="0">
                <a:solidFill>
                  <a:srgbClr val="1E2B32"/>
                </a:solidFill>
              </a:rPr>
              <a:t>Operational data may support future improvement, but deployed behaviour must not change without authorised release control.</a:t>
            </a:r>
            <a:endParaRPr lang="en-US" sz="1550" dirty="0"/>
          </a:p>
        </p:txBody>
      </p:sp>
      <p:sp>
        <p:nvSpPr>
          <p:cNvPr id="8" name="Shape 5"/>
          <p:cNvSpPr/>
          <p:nvPr/>
        </p:nvSpPr>
        <p:spPr>
          <a:xfrm>
            <a:off x="5532120" y="4892040"/>
            <a:ext cx="5669280" cy="777240"/>
          </a:xfrm>
          <a:prstGeom prst="roundRect">
            <a:avLst>
              <a:gd name="adj" fmla="val 10000"/>
            </a:avLst>
          </a:prstGeom>
          <a:solidFill>
            <a:srgbClr val="ECE9FF"/>
          </a:solidFill>
          <a:ln w="15240">
            <a:solidFill>
              <a:srgbClr val="7461D1"/>
            </a:solidFill>
            <a:prstDash val="solid"/>
          </a:ln>
        </p:spPr>
        <p:txBody>
          <a:bodyPr/>
          <a:lstStyle/>
          <a:p>
            <a:endParaRPr/>
          </a:p>
        </p:txBody>
      </p:sp>
      <p:sp>
        <p:nvSpPr>
          <p:cNvPr id="9" name="Text 6"/>
          <p:cNvSpPr/>
          <p:nvPr/>
        </p:nvSpPr>
        <p:spPr>
          <a:xfrm>
            <a:off x="5696712" y="5020056"/>
            <a:ext cx="5340096" cy="530352"/>
          </a:xfrm>
          <a:prstGeom prst="rect">
            <a:avLst/>
          </a:prstGeom>
          <a:noFill/>
          <a:ln/>
        </p:spPr>
        <p:txBody>
          <a:bodyPr wrap="square" lIns="254" tIns="254" rIns="254" bIns="254" rtlCol="0" anchor="ctr">
            <a:normAutofit fontScale="92500" lnSpcReduction="20000"/>
          </a:bodyPr>
          <a:lstStyle/>
          <a:p>
            <a:pPr marL="0" indent="0">
              <a:buNone/>
            </a:pPr>
            <a:r>
              <a:rPr lang="en-US" sz="1550" dirty="0">
                <a:solidFill>
                  <a:srgbClr val="1E2B32"/>
                </a:solidFill>
              </a:rPr>
              <a:t>Action required: build the operational feedback loop now, but keep behavioural change behind configuration control. Treating MLA like a modular artefact which can be switched out.</a:t>
            </a:r>
            <a:endParaRPr lang="en-US" sz="1550" dirty="0"/>
          </a:p>
        </p:txBody>
      </p:sp>
      <p:sp>
        <p:nvSpPr>
          <p:cNvPr id="10" name="Text 7"/>
          <p:cNvSpPr/>
          <p:nvPr/>
        </p:nvSpPr>
        <p:spPr>
          <a:xfrm>
            <a:off x="502920" y="6327648"/>
            <a:ext cx="10789920" cy="182880"/>
          </a:xfrm>
          <a:prstGeom prst="rect">
            <a:avLst/>
          </a:prstGeom>
          <a:noFill/>
          <a:ln/>
        </p:spPr>
        <p:txBody>
          <a:bodyPr wrap="square" lIns="0" tIns="0" rIns="0" bIns="0" rtlCol="0" anchor="ctr"/>
          <a:lstStyle/>
          <a:p>
            <a:pPr marL="0" indent="0">
              <a:buNone/>
            </a:pPr>
            <a:r>
              <a:rPr lang="en-US" sz="750" i="1" dirty="0">
                <a:solidFill>
                  <a:srgbClr val="35566B"/>
                </a:solidFill>
              </a:rPr>
              <a:t>Document runtime monitoring, no online learning and continued airworthiness sections, pp.26–30.</a:t>
            </a:r>
            <a:endParaRPr lang="en-US" sz="750" dirty="0"/>
          </a:p>
        </p:txBody>
      </p:sp>
      <p:sp>
        <p:nvSpPr>
          <p:cNvPr id="11" name="Text 8"/>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2" name="Text 9"/>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a:extLst>
            <a:ext uri="{FF2B5EF4-FFF2-40B4-BE49-F238E27FC236}">
              <a16:creationId xmlns:a16="http://schemas.microsoft.com/office/drawing/2014/main" id="{4D44344F-1CCD-922F-592A-D0429257AA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4A91B1-A0BE-8DAC-7269-6B0929C798AA}"/>
              </a:ext>
            </a:extLst>
          </p:cNvPr>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F0CE811A-D814-4B4B-85D9-0DE9533DF8A8}"/>
              </a:ext>
            </a:extLst>
          </p:cNvPr>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586F25F0-CD4E-E3A8-79BD-1B9F2680DC99}"/>
              </a:ext>
            </a:extLst>
          </p:cNvPr>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AI Enabled Development</a:t>
            </a:r>
            <a:endParaRPr lang="en-US" sz="2800" dirty="0"/>
          </a:p>
        </p:txBody>
      </p:sp>
      <p:sp>
        <p:nvSpPr>
          <p:cNvPr id="5" name="Text 3">
            <a:extLst>
              <a:ext uri="{FF2B5EF4-FFF2-40B4-BE49-F238E27FC236}">
                <a16:creationId xmlns:a16="http://schemas.microsoft.com/office/drawing/2014/main" id="{6EDBDEE5-BC80-0DE7-278F-90E3801D1FF4}"/>
              </a:ext>
            </a:extLst>
          </p:cNvPr>
          <p:cNvSpPr/>
          <p:nvPr/>
        </p:nvSpPr>
        <p:spPr>
          <a:xfrm>
            <a:off x="521208" y="804672"/>
            <a:ext cx="9052560" cy="292608"/>
          </a:xfrm>
          <a:prstGeom prst="rect">
            <a:avLst/>
          </a:prstGeom>
          <a:noFill/>
          <a:ln/>
        </p:spPr>
        <p:txBody>
          <a:bodyPr wrap="square" lIns="0" tIns="0" rIns="0" bIns="0" rtlCol="0" anchor="ctr"/>
          <a:lstStyle/>
          <a:p>
            <a:r>
              <a:rPr lang="en-GB" sz="1250" dirty="0">
                <a:solidFill>
                  <a:srgbClr val="35566B"/>
                </a:solidFill>
              </a:rPr>
              <a:t>Accelerate engineering work while preserving human authority, independent verification and controlled evidence.</a:t>
            </a:r>
            <a:endParaRPr lang="en-GB" sz="1250" dirty="0"/>
          </a:p>
          <a:p>
            <a:pPr marL="0" indent="0">
              <a:buNone/>
            </a:pPr>
            <a:endParaRPr lang="en-US" sz="1250" dirty="0"/>
          </a:p>
        </p:txBody>
      </p:sp>
      <p:sp>
        <p:nvSpPr>
          <p:cNvPr id="11" name="Text 8">
            <a:extLst>
              <a:ext uri="{FF2B5EF4-FFF2-40B4-BE49-F238E27FC236}">
                <a16:creationId xmlns:a16="http://schemas.microsoft.com/office/drawing/2014/main" id="{E8575588-363E-F81B-F359-276F6C5C41F0}"/>
              </a:ext>
            </a:extLst>
          </p:cNvPr>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2" name="Text 9">
            <a:extLst>
              <a:ext uri="{FF2B5EF4-FFF2-40B4-BE49-F238E27FC236}">
                <a16:creationId xmlns:a16="http://schemas.microsoft.com/office/drawing/2014/main" id="{9D0B021D-119D-09E2-6578-C32E28308613}"/>
              </a:ext>
            </a:extLst>
          </p:cNvPr>
          <p:cNvSpPr/>
          <p:nvPr/>
        </p:nvSpPr>
        <p:spPr>
          <a:xfrm>
            <a:off x="11384280" y="6647688"/>
            <a:ext cx="320040" cy="137160"/>
          </a:xfrm>
          <a:prstGeom prst="rect">
            <a:avLst/>
          </a:prstGeom>
          <a:noFill/>
          <a:ln/>
        </p:spPr>
        <p:txBody>
          <a:bodyPr wrap="square" lIns="0" tIns="0" rIns="0" bIns="0" rtlCol="0" anchor="ctr"/>
          <a:lstStyle/>
          <a:p>
            <a:r>
              <a:rPr dirty="0">
                <a:solidFill>
                  <a:schemeClr val="bg1"/>
                </a:solidFill>
              </a:rPr>
              <a:t>17</a:t>
            </a:r>
          </a:p>
        </p:txBody>
      </p:sp>
      <p:pic>
        <p:nvPicPr>
          <p:cNvPr id="7" name="Picture 6">
            <a:extLst>
              <a:ext uri="{FF2B5EF4-FFF2-40B4-BE49-F238E27FC236}">
                <a16:creationId xmlns:a16="http://schemas.microsoft.com/office/drawing/2014/main" id="{1C5C1518-3855-9752-C388-318A643FAB82}"/>
              </a:ext>
            </a:extLst>
          </p:cNvPr>
          <p:cNvPicPr>
            <a:picLocks noChangeAspect="1"/>
          </p:cNvPicPr>
          <p:nvPr/>
        </p:nvPicPr>
        <p:blipFill>
          <a:blip r:embed="rId3"/>
          <a:stretch>
            <a:fillRect/>
          </a:stretch>
        </p:blipFill>
        <p:spPr>
          <a:xfrm>
            <a:off x="6378544" y="1377898"/>
            <a:ext cx="5574792" cy="3946756"/>
          </a:xfrm>
          <a:prstGeom prst="rect">
            <a:avLst/>
          </a:prstGeom>
          <a:effectLst>
            <a:softEdge rad="63500"/>
          </a:effectLst>
        </p:spPr>
      </p:pic>
      <p:pic>
        <p:nvPicPr>
          <p:cNvPr id="9" name="Picture 8">
            <a:extLst>
              <a:ext uri="{FF2B5EF4-FFF2-40B4-BE49-F238E27FC236}">
                <a16:creationId xmlns:a16="http://schemas.microsoft.com/office/drawing/2014/main" id="{DF91327D-C0D3-98EE-F802-245240A89095}"/>
              </a:ext>
            </a:extLst>
          </p:cNvPr>
          <p:cNvPicPr>
            <a:picLocks noChangeAspect="1"/>
          </p:cNvPicPr>
          <p:nvPr/>
        </p:nvPicPr>
        <p:blipFill>
          <a:blip r:embed="rId4"/>
          <a:stretch>
            <a:fillRect/>
          </a:stretch>
        </p:blipFill>
        <p:spPr>
          <a:xfrm>
            <a:off x="521209" y="1377898"/>
            <a:ext cx="5574792" cy="3906546"/>
          </a:xfrm>
          <a:prstGeom prst="rect">
            <a:avLst/>
          </a:prstGeom>
          <a:effectLst>
            <a:softEdge rad="63500"/>
          </a:effectLst>
        </p:spPr>
      </p:pic>
    </p:spTree>
    <p:extLst>
      <p:ext uri="{BB962C8B-B14F-4D97-AF65-F5344CB8AC3E}">
        <p14:creationId xmlns:p14="http://schemas.microsoft.com/office/powerpoint/2010/main" val="3708073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C866EF-A903-46E9-A34F-E8FE2456DEFF}"/>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3A083C0B-56A8-4BB5-80ED-3A2C0C5A2635}"/>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61987F9F-9241-4B7A-84F5-DB0F18E4F3D4}"/>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a:solidFill>
                  <a:srgbClr val="0E2A3B"/>
                </a:solidFill>
                <a:latin typeface="Aptos Display"/>
                <a:ea typeface="Aptos Display"/>
                <a:cs typeface="Aptos Display"/>
              </a:rPr>
              <a:t>Do not conflate two assurance questions</a:t>
            </a:r>
            <a:endParaRPr sz="2800"/>
          </a:p>
        </p:txBody>
      </p:sp>
      <p:sp>
        <p:nvSpPr>
          <p:cNvPr id="5" name="Text 3">
            <a:extLst>
              <a:ext uri="{FF2B5EF4-FFF2-40B4-BE49-F238E27FC236}">
                <a16:creationId xmlns:a16="http://schemas.microsoft.com/office/drawing/2014/main" id="{89A245F8-1EE6-4177-9DB5-C317856C1C0B}"/>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AI used to engineer a system and AI deployed within it create different evidence obligations.</a:t>
            </a:r>
            <a:endParaRPr sz="1250"/>
          </a:p>
        </p:txBody>
      </p:sp>
      <p:sp>
        <p:nvSpPr>
          <p:cNvPr id="6" name="Shape 4">
            <a:extLst>
              <a:ext uri="{FF2B5EF4-FFF2-40B4-BE49-F238E27FC236}">
                <a16:creationId xmlns:a16="http://schemas.microsoft.com/office/drawing/2014/main" id="{CB30A360-6576-48B5-B128-CD4B466E910C}"/>
              </a:ext>
            </a:extLst>
          </p:cNvPr>
          <p:cNvSpPr>
            <a:spLocks noGrp="1"/>
          </p:cNvSpPr>
          <p:nvPr/>
        </p:nvSpPr>
        <p:spPr>
          <a:xfrm>
            <a:off x="822960" y="1508760"/>
            <a:ext cx="4114800" cy="2011680"/>
          </a:xfrm>
          <a:prstGeom prst="roundRect">
            <a:avLst>
              <a:gd name="adj" fmla="val 3182"/>
            </a:avLst>
          </a:prstGeom>
          <a:solidFill>
            <a:srgbClr val="FFFFFF"/>
          </a:solidFill>
          <a:ln w="15240">
            <a:solidFill>
              <a:srgbClr val="2F67B1"/>
            </a:solidFill>
            <a:prstDash val="solid"/>
          </a:ln>
        </p:spPr>
        <p:txBody>
          <a:bodyPr/>
          <a:lstStyle/>
          <a:p>
            <a:endParaRPr/>
          </a:p>
        </p:txBody>
      </p:sp>
      <p:sp>
        <p:nvSpPr>
          <p:cNvPr id="7" name="Text 5">
            <a:extLst>
              <a:ext uri="{FF2B5EF4-FFF2-40B4-BE49-F238E27FC236}">
                <a16:creationId xmlns:a16="http://schemas.microsoft.com/office/drawing/2014/main" id="{058938EB-CA7B-4989-97FE-23B5D4D46576}"/>
              </a:ext>
            </a:extLst>
          </p:cNvPr>
          <p:cNvSpPr>
            <a:spLocks noGrp="1"/>
          </p:cNvSpPr>
          <p:nvPr/>
        </p:nvSpPr>
        <p:spPr>
          <a:xfrm>
            <a:off x="905256" y="1581912"/>
            <a:ext cx="3950208" cy="1883664"/>
          </a:xfrm>
          <a:prstGeom prst="rect">
            <a:avLst/>
          </a:prstGeom>
          <a:noFill/>
        </p:spPr>
        <p:txBody>
          <a:bodyPr wrap="square" lIns="0" tIns="0" rIns="0" bIns="0" anchor="ctr">
            <a:normAutofit fontScale="99682"/>
          </a:bodyPr>
          <a:lstStyle/>
          <a:p>
            <a:pPr marL="0" indent="0" algn="ctr">
              <a:buNone/>
            </a:pPr>
            <a:r>
              <a:rPr sz="1600">
                <a:solidFill>
                  <a:srgbClr val="1E2B32"/>
                </a:solidFill>
              </a:rPr>
              <a:t>AI as a development aid</a:t>
            </a:r>
            <a:endParaRPr sz="1600"/>
          </a:p>
          <a:p>
            <a:pPr marL="0" indent="0" algn="ctr">
              <a:buNone/>
            </a:pPr>
            <a:endParaRPr sz="1600"/>
          </a:p>
          <a:p>
            <a:pPr marL="0" indent="0" algn="ctr">
              <a:buNone/>
            </a:pPr>
            <a:r>
              <a:rPr sz="1600">
                <a:solidFill>
                  <a:srgbClr val="1E2B32"/>
                </a:solidFill>
              </a:rPr>
              <a:t>• Tool use and credit agreed in plans</a:t>
            </a:r>
            <a:endParaRPr sz="1600"/>
          </a:p>
          <a:p>
            <a:pPr marL="0" indent="0" algn="ctr">
              <a:buNone/>
            </a:pPr>
            <a:r>
              <a:rPr sz="1600">
                <a:solidFill>
                  <a:srgbClr val="1E2B32"/>
                </a:solidFill>
              </a:rPr>
              <a:t>• Generated output independently verified</a:t>
            </a:r>
            <a:endParaRPr sz="1600"/>
          </a:p>
          <a:p>
            <a:pPr marL="0" indent="0" algn="ctr">
              <a:buNone/>
            </a:pPr>
            <a:r>
              <a:rPr sz="1600">
                <a:solidFill>
                  <a:srgbClr val="1E2B32"/>
                </a:solidFill>
              </a:rPr>
              <a:t>• Project corpus, prompts and logs controlled</a:t>
            </a:r>
            <a:endParaRPr sz="1600"/>
          </a:p>
          <a:p>
            <a:pPr marL="0" indent="0" algn="ctr">
              <a:buNone/>
            </a:pPr>
            <a:r>
              <a:rPr sz="1600">
                <a:solidFill>
                  <a:srgbClr val="1E2B32"/>
                </a:solidFill>
              </a:rPr>
              <a:t>• Information boundary and licensing explicit</a:t>
            </a:r>
            <a:endParaRPr sz="1600"/>
          </a:p>
        </p:txBody>
      </p:sp>
      <p:sp>
        <p:nvSpPr>
          <p:cNvPr id="8" name="Shape 6">
            <a:extLst>
              <a:ext uri="{FF2B5EF4-FFF2-40B4-BE49-F238E27FC236}">
                <a16:creationId xmlns:a16="http://schemas.microsoft.com/office/drawing/2014/main" id="{EFCA48DB-7131-455B-A34B-DC34E86D27C4}"/>
              </a:ext>
            </a:extLst>
          </p:cNvPr>
          <p:cNvSpPr>
            <a:spLocks noGrp="1"/>
          </p:cNvSpPr>
          <p:nvPr/>
        </p:nvSpPr>
        <p:spPr>
          <a:xfrm>
            <a:off x="7269480" y="1508760"/>
            <a:ext cx="4114800" cy="2011680"/>
          </a:xfrm>
          <a:prstGeom prst="roundRect">
            <a:avLst>
              <a:gd name="adj" fmla="val 3182"/>
            </a:avLst>
          </a:prstGeom>
          <a:solidFill>
            <a:srgbClr val="FFFFFF"/>
          </a:solidFill>
          <a:ln w="15240">
            <a:solidFill>
              <a:srgbClr val="0F7C80"/>
            </a:solidFill>
            <a:prstDash val="solid"/>
          </a:ln>
        </p:spPr>
        <p:txBody>
          <a:bodyPr/>
          <a:lstStyle/>
          <a:p>
            <a:endParaRPr/>
          </a:p>
        </p:txBody>
      </p:sp>
      <p:sp>
        <p:nvSpPr>
          <p:cNvPr id="9" name="Text 7">
            <a:extLst>
              <a:ext uri="{FF2B5EF4-FFF2-40B4-BE49-F238E27FC236}">
                <a16:creationId xmlns:a16="http://schemas.microsoft.com/office/drawing/2014/main" id="{1EBBA979-22A5-4F43-9BC2-45FF4E2B82AE}"/>
              </a:ext>
            </a:extLst>
          </p:cNvPr>
          <p:cNvSpPr>
            <a:spLocks noGrp="1"/>
          </p:cNvSpPr>
          <p:nvPr/>
        </p:nvSpPr>
        <p:spPr>
          <a:xfrm>
            <a:off x="7351776" y="1581912"/>
            <a:ext cx="3950208" cy="1883664"/>
          </a:xfrm>
          <a:prstGeom prst="rect">
            <a:avLst/>
          </a:prstGeom>
          <a:noFill/>
        </p:spPr>
        <p:txBody>
          <a:bodyPr wrap="square" lIns="0" tIns="0" rIns="0" bIns="0" anchor="ctr">
            <a:normAutofit fontScale="96241"/>
          </a:bodyPr>
          <a:lstStyle/>
          <a:p>
            <a:pPr marL="0" indent="0" algn="ctr">
              <a:buNone/>
            </a:pPr>
            <a:r>
              <a:rPr sz="1600">
                <a:solidFill>
                  <a:srgbClr val="1E2B32"/>
                </a:solidFill>
              </a:rPr>
              <a:t>AI in the product or service</a:t>
            </a:r>
            <a:endParaRPr sz="1600"/>
          </a:p>
          <a:p>
            <a:pPr marL="0" indent="0" algn="ctr">
              <a:buNone/>
            </a:pPr>
            <a:endParaRPr sz="1600"/>
          </a:p>
          <a:p>
            <a:pPr marL="0" indent="0" algn="ctr">
              <a:buNone/>
            </a:pPr>
            <a:r>
              <a:rPr sz="1600">
                <a:solidFill>
                  <a:srgbClr val="1E2B32"/>
                </a:solidFill>
              </a:rPr>
              <a:t>• Hazard assessment and system safety case</a:t>
            </a:r>
            <a:endParaRPr sz="1600"/>
          </a:p>
          <a:p>
            <a:pPr marL="0" indent="0" algn="ctr">
              <a:buNone/>
            </a:pPr>
            <a:r>
              <a:rPr sz="1600">
                <a:solidFill>
                  <a:srgbClr val="1E2B32"/>
                </a:solidFill>
              </a:rPr>
              <a:t>• Data, model and ODD requirements</a:t>
            </a:r>
            <a:endParaRPr sz="1600"/>
          </a:p>
          <a:p>
            <a:pPr marL="0" indent="0" algn="ctr">
              <a:buNone/>
            </a:pPr>
            <a:r>
              <a:rPr sz="1600">
                <a:solidFill>
                  <a:srgbClr val="1E2B32"/>
                </a:solidFill>
              </a:rPr>
              <a:t>• Learning assurance, robustness and monitoring</a:t>
            </a:r>
            <a:endParaRPr sz="1600"/>
          </a:p>
          <a:p>
            <a:pPr marL="0" indent="0" algn="ctr">
              <a:buNone/>
            </a:pPr>
            <a:r>
              <a:rPr sz="1600">
                <a:solidFill>
                  <a:srgbClr val="1E2B32"/>
                </a:solidFill>
              </a:rPr>
              <a:t>• Authority-specific approval route</a:t>
            </a:r>
            <a:endParaRPr sz="1600"/>
          </a:p>
        </p:txBody>
      </p:sp>
      <p:sp>
        <p:nvSpPr>
          <p:cNvPr id="10" name="Shape 8">
            <a:extLst>
              <a:ext uri="{FF2B5EF4-FFF2-40B4-BE49-F238E27FC236}">
                <a16:creationId xmlns:a16="http://schemas.microsoft.com/office/drawing/2014/main" id="{638FD3CD-622B-47CC-91EE-B71FCDB1725F}"/>
              </a:ext>
            </a:extLst>
          </p:cNvPr>
          <p:cNvSpPr>
            <a:spLocks noGrp="1"/>
          </p:cNvSpPr>
          <p:nvPr/>
        </p:nvSpPr>
        <p:spPr>
          <a:xfrm>
            <a:off x="4937760" y="2514600"/>
            <a:ext cx="2331720" cy="0"/>
          </a:xfrm>
          <a:prstGeom prst="line">
            <a:avLst/>
          </a:prstGeom>
          <a:noFill/>
          <a:ln w="17780">
            <a:solidFill>
              <a:srgbClr val="F2A65A"/>
            </a:solidFill>
            <a:prstDash val="solid"/>
            <a:headEnd type="none"/>
            <a:tailEnd type="triangle"/>
          </a:ln>
        </p:spPr>
        <p:txBody>
          <a:bodyPr/>
          <a:lstStyle/>
          <a:p>
            <a:endParaRPr/>
          </a:p>
        </p:txBody>
      </p:sp>
      <p:sp>
        <p:nvSpPr>
          <p:cNvPr id="11" name="Shape 9">
            <a:extLst>
              <a:ext uri="{FF2B5EF4-FFF2-40B4-BE49-F238E27FC236}">
                <a16:creationId xmlns:a16="http://schemas.microsoft.com/office/drawing/2014/main" id="{2FABF858-1282-4CDF-AFAA-22A57B739F02}"/>
              </a:ext>
            </a:extLst>
          </p:cNvPr>
          <p:cNvSpPr>
            <a:spLocks noGrp="1"/>
          </p:cNvSpPr>
          <p:nvPr/>
        </p:nvSpPr>
        <p:spPr>
          <a:xfrm>
            <a:off x="5303520" y="2350784"/>
            <a:ext cx="1554480" cy="320040"/>
          </a:xfrm>
          <a:prstGeom prst="roundRect">
            <a:avLst>
              <a:gd name="adj" fmla="val 17143"/>
            </a:avLst>
          </a:prstGeom>
          <a:solidFill>
            <a:srgbClr val="F2A65A"/>
          </a:solidFill>
          <a:ln w="12700">
            <a:solidFill>
              <a:srgbClr val="F2A65A"/>
            </a:solidFill>
            <a:prstDash val="solid"/>
          </a:ln>
        </p:spPr>
        <p:txBody>
          <a:bodyPr/>
          <a:lstStyle/>
          <a:p>
            <a:endParaRPr/>
          </a:p>
        </p:txBody>
      </p:sp>
      <p:sp>
        <p:nvSpPr>
          <p:cNvPr id="12" name="Text 10">
            <a:extLst>
              <a:ext uri="{FF2B5EF4-FFF2-40B4-BE49-F238E27FC236}">
                <a16:creationId xmlns:a16="http://schemas.microsoft.com/office/drawing/2014/main" id="{A6534EFF-3120-4D77-B8BB-6336FFE2CE30}"/>
              </a:ext>
            </a:extLst>
          </p:cNvPr>
          <p:cNvSpPr>
            <a:spLocks noGrp="1"/>
          </p:cNvSpPr>
          <p:nvPr/>
        </p:nvSpPr>
        <p:spPr>
          <a:xfrm>
            <a:off x="5362956" y="2442224"/>
            <a:ext cx="1408176" cy="137160"/>
          </a:xfrm>
          <a:prstGeom prst="rect">
            <a:avLst/>
          </a:prstGeom>
          <a:noFill/>
        </p:spPr>
        <p:txBody>
          <a:bodyPr wrap="square" lIns="0" tIns="0" rIns="0" bIns="0" anchor="ctr"/>
          <a:lstStyle/>
          <a:p>
            <a:pPr marL="0" indent="0" algn="ctr">
              <a:buNone/>
            </a:pPr>
            <a:r>
              <a:rPr sz="900" b="1">
                <a:solidFill>
                  <a:srgbClr val="1E2B32"/>
                </a:solidFill>
              </a:rPr>
              <a:t>Shared controls</a:t>
            </a:r>
            <a:endParaRPr sz="900"/>
          </a:p>
        </p:txBody>
      </p:sp>
      <p:sp>
        <p:nvSpPr>
          <p:cNvPr id="13" name="Shape 11">
            <a:extLst>
              <a:ext uri="{FF2B5EF4-FFF2-40B4-BE49-F238E27FC236}">
                <a16:creationId xmlns:a16="http://schemas.microsoft.com/office/drawing/2014/main" id="{82B26471-6240-4F1C-B943-96B276B7ED5F}"/>
              </a:ext>
            </a:extLst>
          </p:cNvPr>
          <p:cNvSpPr>
            <a:spLocks noGrp="1"/>
          </p:cNvSpPr>
          <p:nvPr/>
        </p:nvSpPr>
        <p:spPr>
          <a:xfrm>
            <a:off x="1188720" y="4251960"/>
            <a:ext cx="9875520" cy="868680"/>
          </a:xfrm>
          <a:prstGeom prst="roundRect">
            <a:avLst>
              <a:gd name="adj" fmla="val 8421"/>
            </a:avLst>
          </a:prstGeom>
          <a:solidFill>
            <a:srgbClr val="ECE9FF"/>
          </a:solidFill>
          <a:ln w="15240">
            <a:solidFill>
              <a:srgbClr val="7461D1"/>
            </a:solidFill>
            <a:prstDash val="solid"/>
          </a:ln>
        </p:spPr>
        <p:txBody>
          <a:bodyPr/>
          <a:lstStyle/>
          <a:p>
            <a:endParaRPr/>
          </a:p>
        </p:txBody>
      </p:sp>
      <p:sp>
        <p:nvSpPr>
          <p:cNvPr id="14" name="Text 12">
            <a:extLst>
              <a:ext uri="{FF2B5EF4-FFF2-40B4-BE49-F238E27FC236}">
                <a16:creationId xmlns:a16="http://schemas.microsoft.com/office/drawing/2014/main" id="{3A79EC4E-CC00-4424-A5B0-2DF8A48DA79F}"/>
              </a:ext>
            </a:extLst>
          </p:cNvPr>
          <p:cNvSpPr>
            <a:spLocks noGrp="1"/>
          </p:cNvSpPr>
          <p:nvPr/>
        </p:nvSpPr>
        <p:spPr>
          <a:xfrm>
            <a:off x="1353312" y="4379976"/>
            <a:ext cx="9546336" cy="667512"/>
          </a:xfrm>
          <a:prstGeom prst="rect">
            <a:avLst/>
          </a:prstGeom>
          <a:noFill/>
        </p:spPr>
        <p:txBody>
          <a:bodyPr wrap="square" lIns="254" tIns="254" rIns="254" bIns="254" anchor="ctr">
            <a:normAutofit/>
          </a:bodyPr>
          <a:lstStyle/>
          <a:p>
            <a:pPr marL="0" indent="0">
              <a:buNone/>
            </a:pPr>
            <a:r>
              <a:rPr sz="1550">
                <a:solidFill>
                  <a:srgbClr val="1E2B32"/>
                </a:solidFill>
              </a:rPr>
              <a:t>Both require configuration, traceability, SQEP accountability, security and evidence. Neither inherits trust from model fluency.</a:t>
            </a:r>
            <a:endParaRPr sz="1550"/>
          </a:p>
        </p:txBody>
      </p:sp>
      <p:sp>
        <p:nvSpPr>
          <p:cNvPr id="15" name="Text 13">
            <a:extLst>
              <a:ext uri="{FF2B5EF4-FFF2-40B4-BE49-F238E27FC236}">
                <a16:creationId xmlns:a16="http://schemas.microsoft.com/office/drawing/2014/main" id="{C97A0ED4-7A8F-414F-A0E4-C54547BE4F89}"/>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Report context: AI-enabled engineering. Main deck: assurance of deployed ML.</a:t>
            </a:r>
            <a:endParaRPr sz="750"/>
          </a:p>
        </p:txBody>
      </p:sp>
      <p:sp>
        <p:nvSpPr>
          <p:cNvPr id="16" name="Text 14">
            <a:extLst>
              <a:ext uri="{FF2B5EF4-FFF2-40B4-BE49-F238E27FC236}">
                <a16:creationId xmlns:a16="http://schemas.microsoft.com/office/drawing/2014/main" id="{2ECF6F9A-5E77-4875-AB99-937399E977EE}"/>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17" name="Text 15">
            <a:extLst>
              <a:ext uri="{FF2B5EF4-FFF2-40B4-BE49-F238E27FC236}">
                <a16:creationId xmlns:a16="http://schemas.microsoft.com/office/drawing/2014/main" id="{7188800D-9A26-4C10-9494-15AB754D35FD}"/>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7</a:t>
            </a:r>
          </a:p>
        </p:txBody>
      </p:sp>
    </p:spTree>
    <p:extLst>
      <p:ext uri="{BB962C8B-B14F-4D97-AF65-F5344CB8AC3E}">
        <p14:creationId xmlns:p14="http://schemas.microsoft.com/office/powerpoint/2010/main" val="1317085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0DC3476-7A8A-4D60-B2C3-8652F47D0039}"/>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9B13835C-A970-403D-A993-64A04C9EB38E}"/>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BB4EAD5D-7D2F-4571-BD7F-577E31867754}"/>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a:solidFill>
                  <a:srgbClr val="0E2A3B"/>
                </a:solidFill>
                <a:latin typeface="Aptos Display"/>
                <a:ea typeface="Aptos Display"/>
                <a:cs typeface="Aptos Display"/>
              </a:rPr>
              <a:t>Incremental adoption is the defensible position</a:t>
            </a:r>
            <a:endParaRPr sz="2800"/>
          </a:p>
        </p:txBody>
      </p:sp>
      <p:sp>
        <p:nvSpPr>
          <p:cNvPr id="5" name="Text 3">
            <a:extLst>
              <a:ext uri="{FF2B5EF4-FFF2-40B4-BE49-F238E27FC236}">
                <a16:creationId xmlns:a16="http://schemas.microsoft.com/office/drawing/2014/main" id="{E463055B-6E57-4F67-98A8-C7E30A493EA1}"/>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Increase automation only when benefit is measurable and assurance remains non-inferior.</a:t>
            </a:r>
            <a:endParaRPr sz="1250"/>
          </a:p>
        </p:txBody>
      </p:sp>
      <p:sp>
        <p:nvSpPr>
          <p:cNvPr id="6" name="Shape 4">
            <a:extLst>
              <a:ext uri="{FF2B5EF4-FFF2-40B4-BE49-F238E27FC236}">
                <a16:creationId xmlns:a16="http://schemas.microsoft.com/office/drawing/2014/main" id="{B67821D9-70A5-4D3C-8DE9-8667EA1ACE97}"/>
              </a:ext>
            </a:extLst>
          </p:cNvPr>
          <p:cNvSpPr>
            <a:spLocks noGrp="1"/>
          </p:cNvSpPr>
          <p:nvPr/>
        </p:nvSpPr>
        <p:spPr>
          <a:xfrm>
            <a:off x="731520" y="123444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7" name="Text 5">
            <a:extLst>
              <a:ext uri="{FF2B5EF4-FFF2-40B4-BE49-F238E27FC236}">
                <a16:creationId xmlns:a16="http://schemas.microsoft.com/office/drawing/2014/main" id="{14C88C84-0F34-4E55-A23A-DD4EDD427BD5}"/>
              </a:ext>
            </a:extLst>
          </p:cNvPr>
          <p:cNvSpPr>
            <a:spLocks noGrp="1"/>
          </p:cNvSpPr>
          <p:nvPr/>
        </p:nvSpPr>
        <p:spPr>
          <a:xfrm>
            <a:off x="841248" y="1307592"/>
            <a:ext cx="1837944" cy="338328"/>
          </a:xfrm>
          <a:prstGeom prst="rect">
            <a:avLst/>
          </a:prstGeom>
          <a:noFill/>
        </p:spPr>
        <p:txBody>
          <a:bodyPr wrap="square" lIns="0" tIns="0" rIns="0" bIns="0" anchor="ctr">
            <a:normAutofit/>
          </a:bodyPr>
          <a:lstStyle/>
          <a:p>
            <a:pPr marL="0" indent="0" algn="ctr">
              <a:buNone/>
            </a:pPr>
            <a:r>
              <a:rPr sz="1500" b="1">
                <a:solidFill>
                  <a:srgbClr val="FFFFFF"/>
                </a:solidFill>
              </a:rPr>
              <a:t>Bounded pilot</a:t>
            </a:r>
            <a:endParaRPr sz="1500"/>
          </a:p>
        </p:txBody>
      </p:sp>
      <p:sp>
        <p:nvSpPr>
          <p:cNvPr id="8" name="Shape 6">
            <a:extLst>
              <a:ext uri="{FF2B5EF4-FFF2-40B4-BE49-F238E27FC236}">
                <a16:creationId xmlns:a16="http://schemas.microsoft.com/office/drawing/2014/main" id="{2FF55909-BDFC-4971-B9C0-1080FB2C3090}"/>
              </a:ext>
            </a:extLst>
          </p:cNvPr>
          <p:cNvSpPr>
            <a:spLocks noGrp="1"/>
          </p:cNvSpPr>
          <p:nvPr/>
        </p:nvSpPr>
        <p:spPr>
          <a:xfrm>
            <a:off x="2971800" y="123444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9" name="Text 7">
            <a:extLst>
              <a:ext uri="{FF2B5EF4-FFF2-40B4-BE49-F238E27FC236}">
                <a16:creationId xmlns:a16="http://schemas.microsoft.com/office/drawing/2014/main" id="{5AB3B058-4F8B-4766-A7E2-0370B8AD73F3}"/>
              </a:ext>
            </a:extLst>
          </p:cNvPr>
          <p:cNvSpPr>
            <a:spLocks noGrp="1"/>
          </p:cNvSpPr>
          <p:nvPr/>
        </p:nvSpPr>
        <p:spPr>
          <a:xfrm>
            <a:off x="3136392" y="1362456"/>
            <a:ext cx="2459736" cy="512064"/>
          </a:xfrm>
          <a:prstGeom prst="rect">
            <a:avLst/>
          </a:prstGeom>
          <a:noFill/>
        </p:spPr>
        <p:txBody>
          <a:bodyPr wrap="square" lIns="254" tIns="254" rIns="254" bIns="254" anchor="ctr">
            <a:normAutofit fontScale="79686" lnSpcReduction="10000"/>
          </a:bodyPr>
          <a:lstStyle/>
          <a:p>
            <a:pPr marL="0" indent="0">
              <a:buNone/>
            </a:pPr>
            <a:r>
              <a:rPr sz="1550">
                <a:solidFill>
                  <a:srgbClr val="1E2B32"/>
                </a:solidFill>
              </a:rPr>
              <a:t>Start with low-risk, reversible tasks; assume no certification credit for generated output.</a:t>
            </a:r>
            <a:endParaRPr sz="1550"/>
          </a:p>
        </p:txBody>
      </p:sp>
      <p:sp>
        <p:nvSpPr>
          <p:cNvPr id="10" name="Shape 8">
            <a:extLst>
              <a:ext uri="{FF2B5EF4-FFF2-40B4-BE49-F238E27FC236}">
                <a16:creationId xmlns:a16="http://schemas.microsoft.com/office/drawing/2014/main" id="{721CAAFA-2C3D-43B6-9A07-60E6E53C2213}"/>
              </a:ext>
            </a:extLst>
          </p:cNvPr>
          <p:cNvSpPr>
            <a:spLocks noGrp="1"/>
          </p:cNvSpPr>
          <p:nvPr/>
        </p:nvSpPr>
        <p:spPr>
          <a:xfrm>
            <a:off x="731520" y="2560320"/>
            <a:ext cx="205740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1" name="Text 9">
            <a:extLst>
              <a:ext uri="{FF2B5EF4-FFF2-40B4-BE49-F238E27FC236}">
                <a16:creationId xmlns:a16="http://schemas.microsoft.com/office/drawing/2014/main" id="{878E5D92-B92E-4501-9644-F93B2252D542}"/>
              </a:ext>
            </a:extLst>
          </p:cNvPr>
          <p:cNvSpPr>
            <a:spLocks noGrp="1"/>
          </p:cNvSpPr>
          <p:nvPr/>
        </p:nvSpPr>
        <p:spPr>
          <a:xfrm>
            <a:off x="841248" y="2633472"/>
            <a:ext cx="1837944" cy="338328"/>
          </a:xfrm>
          <a:prstGeom prst="rect">
            <a:avLst/>
          </a:prstGeom>
          <a:noFill/>
        </p:spPr>
        <p:txBody>
          <a:bodyPr wrap="square" lIns="0" tIns="0" rIns="0" bIns="0" anchor="ctr">
            <a:normAutofit/>
          </a:bodyPr>
          <a:lstStyle/>
          <a:p>
            <a:pPr marL="0" indent="0" algn="ctr">
              <a:buNone/>
            </a:pPr>
            <a:r>
              <a:rPr sz="1500" b="1">
                <a:solidFill>
                  <a:srgbClr val="FFFFFF"/>
                </a:solidFill>
              </a:rPr>
              <a:t>Controlled corpus</a:t>
            </a:r>
            <a:endParaRPr sz="1500"/>
          </a:p>
        </p:txBody>
      </p:sp>
      <p:sp>
        <p:nvSpPr>
          <p:cNvPr id="12" name="Shape 10">
            <a:extLst>
              <a:ext uri="{FF2B5EF4-FFF2-40B4-BE49-F238E27FC236}">
                <a16:creationId xmlns:a16="http://schemas.microsoft.com/office/drawing/2014/main" id="{EB4F46B4-36E9-4ED5-BFD6-EADBD4163223}"/>
              </a:ext>
            </a:extLst>
          </p:cNvPr>
          <p:cNvSpPr>
            <a:spLocks noGrp="1"/>
          </p:cNvSpPr>
          <p:nvPr/>
        </p:nvSpPr>
        <p:spPr>
          <a:xfrm>
            <a:off x="2971800" y="2560320"/>
            <a:ext cx="2788920" cy="713232"/>
          </a:xfrm>
          <a:prstGeom prst="roundRect">
            <a:avLst>
              <a:gd name="adj" fmla="val 10256"/>
            </a:avLst>
          </a:prstGeom>
          <a:solidFill>
            <a:srgbClr val="FFFFFF"/>
          </a:solidFill>
          <a:ln w="15240">
            <a:solidFill>
              <a:srgbClr val="0F7C80"/>
            </a:solidFill>
            <a:prstDash val="solid"/>
          </a:ln>
        </p:spPr>
        <p:txBody>
          <a:bodyPr/>
          <a:lstStyle/>
          <a:p>
            <a:endParaRPr/>
          </a:p>
        </p:txBody>
      </p:sp>
      <p:sp>
        <p:nvSpPr>
          <p:cNvPr id="13" name="Text 11">
            <a:extLst>
              <a:ext uri="{FF2B5EF4-FFF2-40B4-BE49-F238E27FC236}">
                <a16:creationId xmlns:a16="http://schemas.microsoft.com/office/drawing/2014/main" id="{EB40FC77-8495-4E4A-8B6B-C97D410BDF92}"/>
              </a:ext>
            </a:extLst>
          </p:cNvPr>
          <p:cNvSpPr>
            <a:spLocks noGrp="1"/>
          </p:cNvSpPr>
          <p:nvPr/>
        </p:nvSpPr>
        <p:spPr>
          <a:xfrm>
            <a:off x="3136392" y="2688336"/>
            <a:ext cx="2459736" cy="512064"/>
          </a:xfrm>
          <a:prstGeom prst="rect">
            <a:avLst/>
          </a:prstGeom>
          <a:noFill/>
        </p:spPr>
        <p:txBody>
          <a:bodyPr wrap="square" lIns="254" tIns="254" rIns="254" bIns="254" anchor="ctr">
            <a:normAutofit fontScale="79686" lnSpcReduction="10000"/>
          </a:bodyPr>
          <a:lstStyle/>
          <a:p>
            <a:pPr marL="0" indent="0">
              <a:buNone/>
            </a:pPr>
            <a:r>
              <a:rPr sz="1550">
                <a:solidFill>
                  <a:srgbClr val="1E2B32"/>
                </a:solidFill>
              </a:rPr>
              <a:t>Use reviewed, issued and baselined material; retain source links, prompts and logs.</a:t>
            </a:r>
            <a:endParaRPr sz="1550"/>
          </a:p>
        </p:txBody>
      </p:sp>
      <p:sp>
        <p:nvSpPr>
          <p:cNvPr id="14" name="Shape 12">
            <a:extLst>
              <a:ext uri="{FF2B5EF4-FFF2-40B4-BE49-F238E27FC236}">
                <a16:creationId xmlns:a16="http://schemas.microsoft.com/office/drawing/2014/main" id="{82E7E4E1-07D6-4BCF-A995-3F262375BD7F}"/>
              </a:ext>
            </a:extLst>
          </p:cNvPr>
          <p:cNvSpPr>
            <a:spLocks noGrp="1"/>
          </p:cNvSpPr>
          <p:nvPr/>
        </p:nvSpPr>
        <p:spPr>
          <a:xfrm>
            <a:off x="731520" y="388620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15" name="Text 13">
            <a:extLst>
              <a:ext uri="{FF2B5EF4-FFF2-40B4-BE49-F238E27FC236}">
                <a16:creationId xmlns:a16="http://schemas.microsoft.com/office/drawing/2014/main" id="{80278196-ABF3-4109-A295-EEE8F1D59C6C}"/>
              </a:ext>
            </a:extLst>
          </p:cNvPr>
          <p:cNvSpPr>
            <a:spLocks noGrp="1"/>
          </p:cNvSpPr>
          <p:nvPr/>
        </p:nvSpPr>
        <p:spPr>
          <a:xfrm>
            <a:off x="841248" y="3959352"/>
            <a:ext cx="1837944" cy="338328"/>
          </a:xfrm>
          <a:prstGeom prst="rect">
            <a:avLst/>
          </a:prstGeom>
          <a:noFill/>
        </p:spPr>
        <p:txBody>
          <a:bodyPr wrap="square" lIns="0" tIns="0" rIns="0" bIns="0" anchor="ctr">
            <a:normAutofit/>
          </a:bodyPr>
          <a:lstStyle/>
          <a:p>
            <a:pPr marL="0" indent="0" algn="ctr">
              <a:buNone/>
            </a:pPr>
            <a:r>
              <a:rPr sz="1500" b="1">
                <a:solidFill>
                  <a:srgbClr val="FFFFFF"/>
                </a:solidFill>
              </a:rPr>
              <a:t>Human authority</a:t>
            </a:r>
            <a:endParaRPr sz="1500"/>
          </a:p>
        </p:txBody>
      </p:sp>
      <p:sp>
        <p:nvSpPr>
          <p:cNvPr id="16" name="Shape 14">
            <a:extLst>
              <a:ext uri="{FF2B5EF4-FFF2-40B4-BE49-F238E27FC236}">
                <a16:creationId xmlns:a16="http://schemas.microsoft.com/office/drawing/2014/main" id="{B8886120-AE5A-4FBC-BE6F-3DF5B394327A}"/>
              </a:ext>
            </a:extLst>
          </p:cNvPr>
          <p:cNvSpPr>
            <a:spLocks noGrp="1"/>
          </p:cNvSpPr>
          <p:nvPr/>
        </p:nvSpPr>
        <p:spPr>
          <a:xfrm>
            <a:off x="2971800" y="388620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17" name="Text 15">
            <a:extLst>
              <a:ext uri="{FF2B5EF4-FFF2-40B4-BE49-F238E27FC236}">
                <a16:creationId xmlns:a16="http://schemas.microsoft.com/office/drawing/2014/main" id="{E045E538-00CF-41FD-B96F-0F71848B8D2E}"/>
              </a:ext>
            </a:extLst>
          </p:cNvPr>
          <p:cNvSpPr>
            <a:spLocks noGrp="1"/>
          </p:cNvSpPr>
          <p:nvPr/>
        </p:nvSpPr>
        <p:spPr>
          <a:xfrm>
            <a:off x="3136392" y="4014216"/>
            <a:ext cx="2459736" cy="512064"/>
          </a:xfrm>
          <a:prstGeom prst="rect">
            <a:avLst/>
          </a:prstGeom>
          <a:noFill/>
        </p:spPr>
        <p:txBody>
          <a:bodyPr wrap="square" lIns="254" tIns="254" rIns="254" bIns="254" anchor="ctr">
            <a:normAutofit fontScale="79686" lnSpcReduction="10000"/>
          </a:bodyPr>
          <a:lstStyle/>
          <a:p>
            <a:pPr marL="0" indent="0">
              <a:buNone/>
            </a:pPr>
            <a:r>
              <a:rPr sz="1550">
                <a:solidFill>
                  <a:srgbClr val="1E2B32"/>
                </a:solidFill>
              </a:rPr>
              <a:t>Keep SQEP ownership, independent verification and explicit acceptance gates.</a:t>
            </a:r>
            <a:endParaRPr sz="1550"/>
          </a:p>
        </p:txBody>
      </p:sp>
      <p:sp>
        <p:nvSpPr>
          <p:cNvPr id="18" name="Shape 16">
            <a:extLst>
              <a:ext uri="{FF2B5EF4-FFF2-40B4-BE49-F238E27FC236}">
                <a16:creationId xmlns:a16="http://schemas.microsoft.com/office/drawing/2014/main" id="{F6D74BEE-836E-4FB7-A8C3-1A759C548305}"/>
              </a:ext>
            </a:extLst>
          </p:cNvPr>
          <p:cNvSpPr>
            <a:spLocks noGrp="1"/>
          </p:cNvSpPr>
          <p:nvPr/>
        </p:nvSpPr>
        <p:spPr>
          <a:xfrm>
            <a:off x="6355080" y="1234440"/>
            <a:ext cx="2057400" cy="457200"/>
          </a:xfrm>
          <a:prstGeom prst="roundRect">
            <a:avLst>
              <a:gd name="adj" fmla="val 16000"/>
            </a:avLst>
          </a:prstGeom>
          <a:solidFill>
            <a:srgbClr val="0F7C80"/>
          </a:solidFill>
          <a:ln w="12700">
            <a:solidFill>
              <a:srgbClr val="0F7C80"/>
            </a:solidFill>
            <a:prstDash val="solid"/>
          </a:ln>
        </p:spPr>
        <p:txBody>
          <a:bodyPr/>
          <a:lstStyle/>
          <a:p>
            <a:endParaRPr/>
          </a:p>
        </p:txBody>
      </p:sp>
      <p:sp>
        <p:nvSpPr>
          <p:cNvPr id="19" name="Text 17">
            <a:extLst>
              <a:ext uri="{FF2B5EF4-FFF2-40B4-BE49-F238E27FC236}">
                <a16:creationId xmlns:a16="http://schemas.microsoft.com/office/drawing/2014/main" id="{23D2186A-06F8-486D-AFDF-D53898C85211}"/>
              </a:ext>
            </a:extLst>
          </p:cNvPr>
          <p:cNvSpPr>
            <a:spLocks noGrp="1"/>
          </p:cNvSpPr>
          <p:nvPr/>
        </p:nvSpPr>
        <p:spPr>
          <a:xfrm>
            <a:off x="6464808" y="1307592"/>
            <a:ext cx="1837944" cy="338328"/>
          </a:xfrm>
          <a:prstGeom prst="rect">
            <a:avLst/>
          </a:prstGeom>
          <a:noFill/>
        </p:spPr>
        <p:txBody>
          <a:bodyPr wrap="square" lIns="0" tIns="0" rIns="0" bIns="0" anchor="ctr">
            <a:normAutofit/>
          </a:bodyPr>
          <a:lstStyle/>
          <a:p>
            <a:pPr marL="0" indent="0" algn="ctr">
              <a:buNone/>
            </a:pPr>
            <a:r>
              <a:rPr sz="1500" b="1">
                <a:solidFill>
                  <a:srgbClr val="FFFFFF"/>
                </a:solidFill>
              </a:rPr>
              <a:t>Tool boundary</a:t>
            </a:r>
            <a:endParaRPr sz="1500"/>
          </a:p>
        </p:txBody>
      </p:sp>
      <p:sp>
        <p:nvSpPr>
          <p:cNvPr id="20" name="Shape 18">
            <a:extLst>
              <a:ext uri="{FF2B5EF4-FFF2-40B4-BE49-F238E27FC236}">
                <a16:creationId xmlns:a16="http://schemas.microsoft.com/office/drawing/2014/main" id="{9340B810-7E0B-4310-A653-F3DF38E57814}"/>
              </a:ext>
            </a:extLst>
          </p:cNvPr>
          <p:cNvSpPr>
            <a:spLocks noGrp="1"/>
          </p:cNvSpPr>
          <p:nvPr/>
        </p:nvSpPr>
        <p:spPr>
          <a:xfrm>
            <a:off x="8595360" y="1234440"/>
            <a:ext cx="2788920" cy="713232"/>
          </a:xfrm>
          <a:prstGeom prst="roundRect">
            <a:avLst>
              <a:gd name="adj" fmla="val 10256"/>
            </a:avLst>
          </a:prstGeom>
          <a:solidFill>
            <a:srgbClr val="FFFFFF"/>
          </a:solidFill>
          <a:ln w="15240">
            <a:solidFill>
              <a:srgbClr val="0F7C80"/>
            </a:solidFill>
            <a:prstDash val="solid"/>
          </a:ln>
        </p:spPr>
        <p:txBody>
          <a:bodyPr/>
          <a:lstStyle/>
          <a:p>
            <a:endParaRPr/>
          </a:p>
        </p:txBody>
      </p:sp>
      <p:sp>
        <p:nvSpPr>
          <p:cNvPr id="21" name="Text 19">
            <a:extLst>
              <a:ext uri="{FF2B5EF4-FFF2-40B4-BE49-F238E27FC236}">
                <a16:creationId xmlns:a16="http://schemas.microsoft.com/office/drawing/2014/main" id="{8B736F4B-4A77-4369-BDAE-C51B5D150986}"/>
              </a:ext>
            </a:extLst>
          </p:cNvPr>
          <p:cNvSpPr>
            <a:spLocks noGrp="1"/>
          </p:cNvSpPr>
          <p:nvPr/>
        </p:nvSpPr>
        <p:spPr>
          <a:xfrm>
            <a:off x="8759952" y="1362456"/>
            <a:ext cx="2459736" cy="512064"/>
          </a:xfrm>
          <a:prstGeom prst="rect">
            <a:avLst/>
          </a:prstGeom>
          <a:noFill/>
        </p:spPr>
        <p:txBody>
          <a:bodyPr wrap="square" lIns="254" tIns="254" rIns="254" bIns="254" anchor="ctr">
            <a:normAutofit fontScale="79686" lnSpcReduction="10000"/>
          </a:bodyPr>
          <a:lstStyle/>
          <a:p>
            <a:pPr marL="0" indent="0">
              <a:buNone/>
            </a:pPr>
            <a:r>
              <a:rPr sz="1550">
                <a:solidFill>
                  <a:srgbClr val="1E2B32"/>
                </a:solidFill>
              </a:rPr>
              <a:t>Sandbox access; least privilege; controlled interfaces to SCADE, Git and documents.</a:t>
            </a:r>
            <a:endParaRPr sz="1550"/>
          </a:p>
        </p:txBody>
      </p:sp>
      <p:sp>
        <p:nvSpPr>
          <p:cNvPr id="22" name="Shape 20">
            <a:extLst>
              <a:ext uri="{FF2B5EF4-FFF2-40B4-BE49-F238E27FC236}">
                <a16:creationId xmlns:a16="http://schemas.microsoft.com/office/drawing/2014/main" id="{B3561597-0981-4795-B68E-35F2BEB18FC6}"/>
              </a:ext>
            </a:extLst>
          </p:cNvPr>
          <p:cNvSpPr>
            <a:spLocks noGrp="1"/>
          </p:cNvSpPr>
          <p:nvPr/>
        </p:nvSpPr>
        <p:spPr>
          <a:xfrm>
            <a:off x="6355080" y="2560320"/>
            <a:ext cx="2057400" cy="457200"/>
          </a:xfrm>
          <a:prstGeom prst="roundRect">
            <a:avLst>
              <a:gd name="adj" fmla="val 16000"/>
            </a:avLst>
          </a:prstGeom>
          <a:solidFill>
            <a:srgbClr val="0E2A3B"/>
          </a:solidFill>
          <a:ln w="12700">
            <a:solidFill>
              <a:srgbClr val="0E2A3B"/>
            </a:solidFill>
            <a:prstDash val="solid"/>
          </a:ln>
        </p:spPr>
        <p:txBody>
          <a:bodyPr/>
          <a:lstStyle/>
          <a:p>
            <a:endParaRPr/>
          </a:p>
        </p:txBody>
      </p:sp>
      <p:sp>
        <p:nvSpPr>
          <p:cNvPr id="23" name="Text 21">
            <a:extLst>
              <a:ext uri="{FF2B5EF4-FFF2-40B4-BE49-F238E27FC236}">
                <a16:creationId xmlns:a16="http://schemas.microsoft.com/office/drawing/2014/main" id="{A72972B3-B198-4ACA-9EFE-0017B5BB9543}"/>
              </a:ext>
            </a:extLst>
          </p:cNvPr>
          <p:cNvSpPr>
            <a:spLocks noGrp="1"/>
          </p:cNvSpPr>
          <p:nvPr/>
        </p:nvSpPr>
        <p:spPr>
          <a:xfrm>
            <a:off x="6464808" y="2633472"/>
            <a:ext cx="1837944" cy="338328"/>
          </a:xfrm>
          <a:prstGeom prst="rect">
            <a:avLst/>
          </a:prstGeom>
          <a:noFill/>
        </p:spPr>
        <p:txBody>
          <a:bodyPr wrap="square" lIns="0" tIns="0" rIns="0" bIns="0" anchor="ctr">
            <a:normAutofit/>
          </a:bodyPr>
          <a:lstStyle/>
          <a:p>
            <a:pPr marL="0" indent="0" algn="ctr">
              <a:buNone/>
            </a:pPr>
            <a:r>
              <a:rPr sz="1500" b="1">
                <a:solidFill>
                  <a:srgbClr val="FFFFFF"/>
                </a:solidFill>
              </a:rPr>
              <a:t>Advance or stop</a:t>
            </a:r>
            <a:endParaRPr sz="1500"/>
          </a:p>
        </p:txBody>
      </p:sp>
      <p:sp>
        <p:nvSpPr>
          <p:cNvPr id="24" name="Shape 22">
            <a:extLst>
              <a:ext uri="{FF2B5EF4-FFF2-40B4-BE49-F238E27FC236}">
                <a16:creationId xmlns:a16="http://schemas.microsoft.com/office/drawing/2014/main" id="{C4041F03-E64C-4B3A-9B00-F1340427A936}"/>
              </a:ext>
            </a:extLst>
          </p:cNvPr>
          <p:cNvSpPr>
            <a:spLocks noGrp="1"/>
          </p:cNvSpPr>
          <p:nvPr/>
        </p:nvSpPr>
        <p:spPr>
          <a:xfrm>
            <a:off x="8595360" y="2560320"/>
            <a:ext cx="2788920" cy="713232"/>
          </a:xfrm>
          <a:prstGeom prst="roundRect">
            <a:avLst>
              <a:gd name="adj" fmla="val 10256"/>
            </a:avLst>
          </a:prstGeom>
          <a:solidFill>
            <a:srgbClr val="FFFFFF"/>
          </a:solidFill>
          <a:ln w="15240">
            <a:solidFill>
              <a:srgbClr val="0E2A3B"/>
            </a:solidFill>
            <a:prstDash val="solid"/>
          </a:ln>
        </p:spPr>
        <p:txBody>
          <a:bodyPr/>
          <a:lstStyle/>
          <a:p>
            <a:endParaRPr/>
          </a:p>
        </p:txBody>
      </p:sp>
      <p:sp>
        <p:nvSpPr>
          <p:cNvPr id="25" name="Text 23">
            <a:extLst>
              <a:ext uri="{FF2B5EF4-FFF2-40B4-BE49-F238E27FC236}">
                <a16:creationId xmlns:a16="http://schemas.microsoft.com/office/drawing/2014/main" id="{27C2EC9D-1A65-431B-9F16-BF1728B1B318}"/>
              </a:ext>
            </a:extLst>
          </p:cNvPr>
          <p:cNvSpPr>
            <a:spLocks noGrp="1"/>
          </p:cNvSpPr>
          <p:nvPr/>
        </p:nvSpPr>
        <p:spPr>
          <a:xfrm>
            <a:off x="8759952" y="2688336"/>
            <a:ext cx="2459736" cy="512064"/>
          </a:xfrm>
          <a:prstGeom prst="rect">
            <a:avLst/>
          </a:prstGeom>
          <a:noFill/>
        </p:spPr>
        <p:txBody>
          <a:bodyPr wrap="square" lIns="254" tIns="254" rIns="254" bIns="254" anchor="ctr">
            <a:normAutofit fontScale="79686" lnSpcReduction="10000"/>
          </a:bodyPr>
          <a:lstStyle/>
          <a:p>
            <a:pPr marL="0" indent="0">
              <a:buNone/>
            </a:pPr>
            <a:r>
              <a:rPr sz="1550">
                <a:solidFill>
                  <a:srgbClr val="1E2B32"/>
                </a:solidFill>
              </a:rPr>
              <a:t>Progress only if quality, traceability, security and schedule evidence justify added autonomy.</a:t>
            </a:r>
            <a:endParaRPr sz="1550"/>
          </a:p>
        </p:txBody>
      </p:sp>
      <p:sp>
        <p:nvSpPr>
          <p:cNvPr id="26" name="Shape 24">
            <a:extLst>
              <a:ext uri="{FF2B5EF4-FFF2-40B4-BE49-F238E27FC236}">
                <a16:creationId xmlns:a16="http://schemas.microsoft.com/office/drawing/2014/main" id="{218037DE-8C42-404B-9388-F5E2FAE1FAC1}"/>
              </a:ext>
            </a:extLst>
          </p:cNvPr>
          <p:cNvSpPr>
            <a:spLocks noGrp="1"/>
          </p:cNvSpPr>
          <p:nvPr/>
        </p:nvSpPr>
        <p:spPr>
          <a:xfrm>
            <a:off x="1005840" y="5257800"/>
            <a:ext cx="10149840" cy="896112"/>
          </a:xfrm>
          <a:prstGeom prst="roundRect">
            <a:avLst>
              <a:gd name="adj" fmla="val 11765"/>
            </a:avLst>
          </a:prstGeom>
          <a:solidFill>
            <a:srgbClr val="ECE9FF"/>
          </a:solidFill>
          <a:ln w="15240">
            <a:solidFill>
              <a:srgbClr val="7461D1"/>
            </a:solidFill>
            <a:prstDash val="solid"/>
          </a:ln>
        </p:spPr>
        <p:txBody>
          <a:bodyPr/>
          <a:lstStyle/>
          <a:p>
            <a:endParaRPr/>
          </a:p>
        </p:txBody>
      </p:sp>
      <p:sp>
        <p:nvSpPr>
          <p:cNvPr id="27" name="Text 25">
            <a:extLst>
              <a:ext uri="{FF2B5EF4-FFF2-40B4-BE49-F238E27FC236}">
                <a16:creationId xmlns:a16="http://schemas.microsoft.com/office/drawing/2014/main" id="{85ABE42D-3BD9-4D5D-BF3E-C9BD88492548}"/>
              </a:ext>
            </a:extLst>
          </p:cNvPr>
          <p:cNvSpPr>
            <a:spLocks noGrp="1"/>
          </p:cNvSpPr>
          <p:nvPr/>
        </p:nvSpPr>
        <p:spPr>
          <a:xfrm>
            <a:off x="1170432" y="5367528"/>
            <a:ext cx="9820656" cy="713232"/>
          </a:xfrm>
          <a:prstGeom prst="rect">
            <a:avLst/>
          </a:prstGeom>
          <a:noFill/>
        </p:spPr>
        <p:txBody>
          <a:bodyPr wrap="square" lIns="254" tIns="254" rIns="254" bIns="254" anchor="ctr">
            <a:normAutofit/>
          </a:bodyPr>
          <a:lstStyle/>
          <a:p>
            <a:pPr marL="0" indent="0">
              <a:buNone/>
            </a:pPr>
            <a:r>
              <a:rPr sz="1550">
                <a:solidFill>
                  <a:srgbClr val="1E2B32"/>
                </a:solidFill>
              </a:rPr>
              <a:t>Agentic orchestration brings potential concurrency and a larger assurance change. If benefit does not exceed integration and review overhead, retain the safer process.</a:t>
            </a:r>
            <a:endParaRPr sz="1550"/>
          </a:p>
        </p:txBody>
      </p:sp>
      <p:sp>
        <p:nvSpPr>
          <p:cNvPr id="28" name="Text 26">
            <a:extLst>
              <a:ext uri="{FF2B5EF4-FFF2-40B4-BE49-F238E27FC236}">
                <a16:creationId xmlns:a16="http://schemas.microsoft.com/office/drawing/2014/main" id="{418F9F8D-8CAD-4E68-A62E-239F39F5A633}"/>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Report synthesis; supported by JSP 936, NIST SP 800-218A and NASA/TM-20250001849.</a:t>
            </a:r>
            <a:endParaRPr sz="750"/>
          </a:p>
        </p:txBody>
      </p:sp>
      <p:sp>
        <p:nvSpPr>
          <p:cNvPr id="29" name="Text 27">
            <a:extLst>
              <a:ext uri="{FF2B5EF4-FFF2-40B4-BE49-F238E27FC236}">
                <a16:creationId xmlns:a16="http://schemas.microsoft.com/office/drawing/2014/main" id="{8B738214-12B2-485B-9EBF-AA7CC6053605}"/>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30" name="Text 28">
            <a:extLst>
              <a:ext uri="{FF2B5EF4-FFF2-40B4-BE49-F238E27FC236}">
                <a16:creationId xmlns:a16="http://schemas.microsoft.com/office/drawing/2014/main" id="{AB3C7518-FAA4-4F23-8F07-FB7322A01A69}"/>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8</a:t>
            </a:r>
          </a:p>
        </p:txBody>
      </p:sp>
    </p:spTree>
    <p:extLst>
      <p:ext uri="{BB962C8B-B14F-4D97-AF65-F5344CB8AC3E}">
        <p14:creationId xmlns:p14="http://schemas.microsoft.com/office/powerpoint/2010/main" val="723731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DFCE3BF-CD59-462D-9B06-D683A0043EF8}"/>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FFB057DD-6410-45A8-A738-1A728E54706D}"/>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AE18939B-B57F-4479-A0DC-3580CD9B95C2}"/>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a:solidFill>
                  <a:srgbClr val="0E2A3B"/>
                </a:solidFill>
                <a:latin typeface="Aptos Display"/>
                <a:ea typeface="Aptos Display"/>
                <a:cs typeface="Aptos Display"/>
              </a:rPr>
              <a:t>Productivity evidence is context-dependent</a:t>
            </a:r>
            <a:endParaRPr sz="2800"/>
          </a:p>
        </p:txBody>
      </p:sp>
      <p:sp>
        <p:nvSpPr>
          <p:cNvPr id="5" name="Text 3">
            <a:extLst>
              <a:ext uri="{FF2B5EF4-FFF2-40B4-BE49-F238E27FC236}">
                <a16:creationId xmlns:a16="http://schemas.microsoft.com/office/drawing/2014/main" id="{6526CFEF-4513-4112-B6C2-38AC96F20061}"/>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Published results do not support a universal schedule-reduction factor.</a:t>
            </a:r>
            <a:endParaRPr sz="1250"/>
          </a:p>
        </p:txBody>
      </p:sp>
      <p:sp>
        <p:nvSpPr>
          <p:cNvPr id="6" name="Shape 4">
            <a:extLst>
              <a:ext uri="{FF2B5EF4-FFF2-40B4-BE49-F238E27FC236}">
                <a16:creationId xmlns:a16="http://schemas.microsoft.com/office/drawing/2014/main" id="{30522C68-4011-4A4E-9DA4-39E992FCC227}"/>
              </a:ext>
            </a:extLst>
          </p:cNvPr>
          <p:cNvSpPr>
            <a:spLocks noGrp="1"/>
          </p:cNvSpPr>
          <p:nvPr/>
        </p:nvSpPr>
        <p:spPr>
          <a:xfrm>
            <a:off x="594360" y="1143000"/>
            <a:ext cx="1828800" cy="749808"/>
          </a:xfrm>
          <a:prstGeom prst="rect">
            <a:avLst/>
          </a:prstGeom>
          <a:solidFill>
            <a:srgbClr val="0E2A3B"/>
          </a:solidFill>
          <a:ln w="10160">
            <a:solidFill>
              <a:srgbClr val="E9EEF1"/>
            </a:solidFill>
            <a:prstDash val="solid"/>
          </a:ln>
        </p:spPr>
        <p:txBody>
          <a:bodyPr/>
          <a:lstStyle/>
          <a:p>
            <a:endParaRPr/>
          </a:p>
        </p:txBody>
      </p:sp>
      <p:sp>
        <p:nvSpPr>
          <p:cNvPr id="7" name="Text 5">
            <a:extLst>
              <a:ext uri="{FF2B5EF4-FFF2-40B4-BE49-F238E27FC236}">
                <a16:creationId xmlns:a16="http://schemas.microsoft.com/office/drawing/2014/main" id="{AECDB3A5-43F7-4663-85C0-9A174DDB0F57}"/>
              </a:ext>
            </a:extLst>
          </p:cNvPr>
          <p:cNvSpPr>
            <a:spLocks noGrp="1"/>
          </p:cNvSpPr>
          <p:nvPr/>
        </p:nvSpPr>
        <p:spPr>
          <a:xfrm>
            <a:off x="667512" y="1243584"/>
            <a:ext cx="1682496" cy="585216"/>
          </a:xfrm>
          <a:prstGeom prst="rect">
            <a:avLst/>
          </a:prstGeom>
          <a:noFill/>
        </p:spPr>
        <p:txBody>
          <a:bodyPr wrap="square" lIns="0" tIns="0" rIns="0" bIns="0" anchor="ctr">
            <a:normAutofit/>
          </a:bodyPr>
          <a:lstStyle/>
          <a:p>
            <a:pPr marL="0" indent="0">
              <a:buNone/>
            </a:pPr>
            <a:r>
              <a:rPr sz="1100" b="1">
                <a:solidFill>
                  <a:srgbClr val="FFFFFF"/>
                </a:solidFill>
              </a:rPr>
              <a:t>Evidence</a:t>
            </a:r>
            <a:endParaRPr sz="1100"/>
          </a:p>
        </p:txBody>
      </p:sp>
      <p:sp>
        <p:nvSpPr>
          <p:cNvPr id="8" name="Shape 6">
            <a:extLst>
              <a:ext uri="{FF2B5EF4-FFF2-40B4-BE49-F238E27FC236}">
                <a16:creationId xmlns:a16="http://schemas.microsoft.com/office/drawing/2014/main" id="{29F3984B-3F94-4379-8F24-F4E4AB0FCE89}"/>
              </a:ext>
            </a:extLst>
          </p:cNvPr>
          <p:cNvSpPr>
            <a:spLocks noGrp="1"/>
          </p:cNvSpPr>
          <p:nvPr/>
        </p:nvSpPr>
        <p:spPr>
          <a:xfrm>
            <a:off x="2423160" y="1143000"/>
            <a:ext cx="2743200" cy="749808"/>
          </a:xfrm>
          <a:prstGeom prst="rect">
            <a:avLst/>
          </a:prstGeom>
          <a:solidFill>
            <a:srgbClr val="0E2A3B"/>
          </a:solidFill>
          <a:ln w="10160">
            <a:solidFill>
              <a:srgbClr val="E9EEF1"/>
            </a:solidFill>
            <a:prstDash val="solid"/>
          </a:ln>
        </p:spPr>
        <p:txBody>
          <a:bodyPr/>
          <a:lstStyle/>
          <a:p>
            <a:endParaRPr/>
          </a:p>
        </p:txBody>
      </p:sp>
      <p:sp>
        <p:nvSpPr>
          <p:cNvPr id="9" name="Text 7">
            <a:extLst>
              <a:ext uri="{FF2B5EF4-FFF2-40B4-BE49-F238E27FC236}">
                <a16:creationId xmlns:a16="http://schemas.microsoft.com/office/drawing/2014/main" id="{0C159AB0-BEFA-4876-93D8-EB4A347C3E49}"/>
              </a:ext>
            </a:extLst>
          </p:cNvPr>
          <p:cNvSpPr>
            <a:spLocks noGrp="1"/>
          </p:cNvSpPr>
          <p:nvPr/>
        </p:nvSpPr>
        <p:spPr>
          <a:xfrm>
            <a:off x="2496312" y="1243584"/>
            <a:ext cx="2596896" cy="585216"/>
          </a:xfrm>
          <a:prstGeom prst="rect">
            <a:avLst/>
          </a:prstGeom>
          <a:noFill/>
        </p:spPr>
        <p:txBody>
          <a:bodyPr wrap="square" lIns="0" tIns="0" rIns="0" bIns="0" anchor="ctr">
            <a:normAutofit/>
          </a:bodyPr>
          <a:lstStyle/>
          <a:p>
            <a:pPr marL="0" indent="0">
              <a:buNone/>
            </a:pPr>
            <a:r>
              <a:rPr sz="1100" b="1">
                <a:solidFill>
                  <a:srgbClr val="FFFFFF"/>
                </a:solidFill>
              </a:rPr>
              <a:t>Context</a:t>
            </a:r>
            <a:endParaRPr sz="1100"/>
          </a:p>
        </p:txBody>
      </p:sp>
      <p:sp>
        <p:nvSpPr>
          <p:cNvPr id="10" name="Shape 8">
            <a:extLst>
              <a:ext uri="{FF2B5EF4-FFF2-40B4-BE49-F238E27FC236}">
                <a16:creationId xmlns:a16="http://schemas.microsoft.com/office/drawing/2014/main" id="{DEE3DB6D-71D3-463C-B018-85F7F1219F1E}"/>
              </a:ext>
            </a:extLst>
          </p:cNvPr>
          <p:cNvSpPr>
            <a:spLocks noGrp="1"/>
          </p:cNvSpPr>
          <p:nvPr/>
        </p:nvSpPr>
        <p:spPr>
          <a:xfrm>
            <a:off x="5166360" y="1143000"/>
            <a:ext cx="6080760" cy="749808"/>
          </a:xfrm>
          <a:prstGeom prst="rect">
            <a:avLst/>
          </a:prstGeom>
          <a:solidFill>
            <a:srgbClr val="0E2A3B"/>
          </a:solidFill>
          <a:ln w="10160">
            <a:solidFill>
              <a:srgbClr val="E9EEF1"/>
            </a:solidFill>
            <a:prstDash val="solid"/>
          </a:ln>
        </p:spPr>
        <p:txBody>
          <a:bodyPr/>
          <a:lstStyle/>
          <a:p>
            <a:endParaRPr/>
          </a:p>
        </p:txBody>
      </p:sp>
      <p:sp>
        <p:nvSpPr>
          <p:cNvPr id="11" name="Text 9">
            <a:extLst>
              <a:ext uri="{FF2B5EF4-FFF2-40B4-BE49-F238E27FC236}">
                <a16:creationId xmlns:a16="http://schemas.microsoft.com/office/drawing/2014/main" id="{8D95A835-51B1-48AF-816F-2D7B81B8081C}"/>
              </a:ext>
            </a:extLst>
          </p:cNvPr>
          <p:cNvSpPr>
            <a:spLocks noGrp="1"/>
          </p:cNvSpPr>
          <p:nvPr/>
        </p:nvSpPr>
        <p:spPr>
          <a:xfrm>
            <a:off x="5239512" y="1243584"/>
            <a:ext cx="5934456" cy="585216"/>
          </a:xfrm>
          <a:prstGeom prst="rect">
            <a:avLst/>
          </a:prstGeom>
          <a:noFill/>
        </p:spPr>
        <p:txBody>
          <a:bodyPr wrap="square" lIns="0" tIns="0" rIns="0" bIns="0" anchor="ctr">
            <a:normAutofit/>
          </a:bodyPr>
          <a:lstStyle/>
          <a:p>
            <a:pPr marL="0" indent="0">
              <a:buNone/>
            </a:pPr>
            <a:r>
              <a:rPr sz="1100" b="1">
                <a:solidFill>
                  <a:srgbClr val="FFFFFF"/>
                </a:solidFill>
              </a:rPr>
              <a:t>Observed effect</a:t>
            </a:r>
            <a:endParaRPr sz="1100"/>
          </a:p>
        </p:txBody>
      </p:sp>
      <p:sp>
        <p:nvSpPr>
          <p:cNvPr id="12" name="Shape 10">
            <a:extLst>
              <a:ext uri="{FF2B5EF4-FFF2-40B4-BE49-F238E27FC236}">
                <a16:creationId xmlns:a16="http://schemas.microsoft.com/office/drawing/2014/main" id="{E9DC6ABF-1E68-47F4-8B55-1E90D630AC2E}"/>
              </a:ext>
            </a:extLst>
          </p:cNvPr>
          <p:cNvSpPr>
            <a:spLocks noGrp="1"/>
          </p:cNvSpPr>
          <p:nvPr/>
        </p:nvSpPr>
        <p:spPr>
          <a:xfrm>
            <a:off x="594360" y="1892808"/>
            <a:ext cx="1828800" cy="749808"/>
          </a:xfrm>
          <a:prstGeom prst="rect">
            <a:avLst/>
          </a:prstGeom>
          <a:solidFill>
            <a:srgbClr val="DCEAF6"/>
          </a:solidFill>
          <a:ln w="10160">
            <a:solidFill>
              <a:srgbClr val="E9EEF1"/>
            </a:solidFill>
            <a:prstDash val="solid"/>
          </a:ln>
        </p:spPr>
        <p:txBody>
          <a:bodyPr/>
          <a:lstStyle/>
          <a:p>
            <a:endParaRPr/>
          </a:p>
        </p:txBody>
      </p:sp>
      <p:sp>
        <p:nvSpPr>
          <p:cNvPr id="13" name="Text 11">
            <a:extLst>
              <a:ext uri="{FF2B5EF4-FFF2-40B4-BE49-F238E27FC236}">
                <a16:creationId xmlns:a16="http://schemas.microsoft.com/office/drawing/2014/main" id="{A41AF40C-674C-41D6-A795-AD1968FD5799}"/>
              </a:ext>
            </a:extLst>
          </p:cNvPr>
          <p:cNvSpPr>
            <a:spLocks noGrp="1"/>
          </p:cNvSpPr>
          <p:nvPr/>
        </p:nvSpPr>
        <p:spPr>
          <a:xfrm>
            <a:off x="667512" y="1993392"/>
            <a:ext cx="1682496" cy="585216"/>
          </a:xfrm>
          <a:prstGeom prst="rect">
            <a:avLst/>
          </a:prstGeom>
          <a:noFill/>
        </p:spPr>
        <p:txBody>
          <a:bodyPr wrap="square" lIns="0" tIns="0" rIns="0" bIns="0" anchor="ctr">
            <a:normAutofit/>
          </a:bodyPr>
          <a:lstStyle/>
          <a:p>
            <a:pPr marL="0" indent="0">
              <a:buNone/>
            </a:pPr>
            <a:r>
              <a:rPr sz="1030" b="1">
                <a:solidFill>
                  <a:srgbClr val="1E2B32"/>
                </a:solidFill>
              </a:rPr>
              <a:t>Peng et al. (2023)</a:t>
            </a:r>
            <a:endParaRPr sz="1030"/>
          </a:p>
        </p:txBody>
      </p:sp>
      <p:sp>
        <p:nvSpPr>
          <p:cNvPr id="14" name="Shape 12">
            <a:extLst>
              <a:ext uri="{FF2B5EF4-FFF2-40B4-BE49-F238E27FC236}">
                <a16:creationId xmlns:a16="http://schemas.microsoft.com/office/drawing/2014/main" id="{924E7DEB-D5DA-44BE-8AB9-AE36534BA064}"/>
              </a:ext>
            </a:extLst>
          </p:cNvPr>
          <p:cNvSpPr>
            <a:spLocks noGrp="1"/>
          </p:cNvSpPr>
          <p:nvPr/>
        </p:nvSpPr>
        <p:spPr>
          <a:xfrm>
            <a:off x="2423160" y="1892808"/>
            <a:ext cx="2743200" cy="749808"/>
          </a:xfrm>
          <a:prstGeom prst="rect">
            <a:avLst/>
          </a:prstGeom>
          <a:solidFill>
            <a:srgbClr val="FFFFFF"/>
          </a:solidFill>
          <a:ln w="10160">
            <a:solidFill>
              <a:srgbClr val="E9EEF1"/>
            </a:solidFill>
            <a:prstDash val="solid"/>
          </a:ln>
        </p:spPr>
        <p:txBody>
          <a:bodyPr/>
          <a:lstStyle/>
          <a:p>
            <a:endParaRPr/>
          </a:p>
        </p:txBody>
      </p:sp>
      <p:sp>
        <p:nvSpPr>
          <p:cNvPr id="15" name="Text 13">
            <a:extLst>
              <a:ext uri="{FF2B5EF4-FFF2-40B4-BE49-F238E27FC236}">
                <a16:creationId xmlns:a16="http://schemas.microsoft.com/office/drawing/2014/main" id="{71870DFE-47C0-48D8-AC87-E381F70885E6}"/>
              </a:ext>
            </a:extLst>
          </p:cNvPr>
          <p:cNvSpPr>
            <a:spLocks noGrp="1"/>
          </p:cNvSpPr>
          <p:nvPr/>
        </p:nvSpPr>
        <p:spPr>
          <a:xfrm>
            <a:off x="2496312" y="1993392"/>
            <a:ext cx="2596896" cy="585216"/>
          </a:xfrm>
          <a:prstGeom prst="rect">
            <a:avLst/>
          </a:prstGeom>
          <a:noFill/>
        </p:spPr>
        <p:txBody>
          <a:bodyPr wrap="square" lIns="0" tIns="0" rIns="0" bIns="0" anchor="ctr">
            <a:normAutofit/>
          </a:bodyPr>
          <a:lstStyle/>
          <a:p>
            <a:pPr marL="0" indent="0">
              <a:buNone/>
            </a:pPr>
            <a:r>
              <a:rPr sz="1030">
                <a:solidFill>
                  <a:srgbClr val="1E2B32"/>
                </a:solidFill>
              </a:rPr>
              <a:t>Standardised JavaScript task</a:t>
            </a:r>
            <a:endParaRPr sz="1030"/>
          </a:p>
        </p:txBody>
      </p:sp>
      <p:sp>
        <p:nvSpPr>
          <p:cNvPr id="16" name="Shape 14">
            <a:extLst>
              <a:ext uri="{FF2B5EF4-FFF2-40B4-BE49-F238E27FC236}">
                <a16:creationId xmlns:a16="http://schemas.microsoft.com/office/drawing/2014/main" id="{0302C091-1B2E-4972-8698-15FAC8AD7BB0}"/>
              </a:ext>
            </a:extLst>
          </p:cNvPr>
          <p:cNvSpPr>
            <a:spLocks noGrp="1"/>
          </p:cNvSpPr>
          <p:nvPr/>
        </p:nvSpPr>
        <p:spPr>
          <a:xfrm>
            <a:off x="5166360" y="1892808"/>
            <a:ext cx="6080760" cy="749808"/>
          </a:xfrm>
          <a:prstGeom prst="rect">
            <a:avLst/>
          </a:prstGeom>
          <a:solidFill>
            <a:srgbClr val="FFFFFF"/>
          </a:solidFill>
          <a:ln w="10160">
            <a:solidFill>
              <a:srgbClr val="E9EEF1"/>
            </a:solidFill>
            <a:prstDash val="solid"/>
          </a:ln>
        </p:spPr>
        <p:txBody>
          <a:bodyPr/>
          <a:lstStyle/>
          <a:p>
            <a:endParaRPr/>
          </a:p>
        </p:txBody>
      </p:sp>
      <p:sp>
        <p:nvSpPr>
          <p:cNvPr id="17" name="Text 15">
            <a:extLst>
              <a:ext uri="{FF2B5EF4-FFF2-40B4-BE49-F238E27FC236}">
                <a16:creationId xmlns:a16="http://schemas.microsoft.com/office/drawing/2014/main" id="{FFD534A9-3948-4ACE-8888-5210D0102F0C}"/>
              </a:ext>
            </a:extLst>
          </p:cNvPr>
          <p:cNvSpPr>
            <a:spLocks noGrp="1"/>
          </p:cNvSpPr>
          <p:nvPr/>
        </p:nvSpPr>
        <p:spPr>
          <a:xfrm>
            <a:off x="5239512" y="1993392"/>
            <a:ext cx="5934456" cy="585216"/>
          </a:xfrm>
          <a:prstGeom prst="rect">
            <a:avLst/>
          </a:prstGeom>
          <a:noFill/>
        </p:spPr>
        <p:txBody>
          <a:bodyPr wrap="square" lIns="0" tIns="0" rIns="0" bIns="0" anchor="ctr">
            <a:normAutofit/>
          </a:bodyPr>
          <a:lstStyle/>
          <a:p>
            <a:pPr marL="0" indent="0">
              <a:buNone/>
            </a:pPr>
            <a:r>
              <a:rPr sz="1030">
                <a:solidFill>
                  <a:srgbClr val="1E2B32"/>
                </a:solidFill>
              </a:rPr>
              <a:t>55.8% faster completion</a:t>
            </a:r>
            <a:endParaRPr sz="1030"/>
          </a:p>
        </p:txBody>
      </p:sp>
      <p:sp>
        <p:nvSpPr>
          <p:cNvPr id="18" name="Shape 16">
            <a:extLst>
              <a:ext uri="{FF2B5EF4-FFF2-40B4-BE49-F238E27FC236}">
                <a16:creationId xmlns:a16="http://schemas.microsoft.com/office/drawing/2014/main" id="{403DAE81-7C93-4AB2-9A50-DA2C40AA4875}"/>
              </a:ext>
            </a:extLst>
          </p:cNvPr>
          <p:cNvSpPr>
            <a:spLocks noGrp="1"/>
          </p:cNvSpPr>
          <p:nvPr/>
        </p:nvSpPr>
        <p:spPr>
          <a:xfrm>
            <a:off x="594360" y="2642616"/>
            <a:ext cx="1828800" cy="749808"/>
          </a:xfrm>
          <a:prstGeom prst="rect">
            <a:avLst/>
          </a:prstGeom>
          <a:solidFill>
            <a:srgbClr val="DCEAF6"/>
          </a:solidFill>
          <a:ln w="10160">
            <a:solidFill>
              <a:srgbClr val="E9EEF1"/>
            </a:solidFill>
            <a:prstDash val="solid"/>
          </a:ln>
        </p:spPr>
        <p:txBody>
          <a:bodyPr/>
          <a:lstStyle/>
          <a:p>
            <a:endParaRPr/>
          </a:p>
        </p:txBody>
      </p:sp>
      <p:sp>
        <p:nvSpPr>
          <p:cNvPr id="19" name="Text 17">
            <a:extLst>
              <a:ext uri="{FF2B5EF4-FFF2-40B4-BE49-F238E27FC236}">
                <a16:creationId xmlns:a16="http://schemas.microsoft.com/office/drawing/2014/main" id="{4A43989E-0749-438F-84D7-C2A67FAA0A2A}"/>
              </a:ext>
            </a:extLst>
          </p:cNvPr>
          <p:cNvSpPr>
            <a:spLocks noGrp="1"/>
          </p:cNvSpPr>
          <p:nvPr/>
        </p:nvSpPr>
        <p:spPr>
          <a:xfrm>
            <a:off x="667512" y="2743200"/>
            <a:ext cx="1682496" cy="585216"/>
          </a:xfrm>
          <a:prstGeom prst="rect">
            <a:avLst/>
          </a:prstGeom>
          <a:noFill/>
        </p:spPr>
        <p:txBody>
          <a:bodyPr wrap="square" lIns="0" tIns="0" rIns="0" bIns="0" anchor="ctr">
            <a:normAutofit/>
          </a:bodyPr>
          <a:lstStyle/>
          <a:p>
            <a:pPr marL="0" indent="0">
              <a:buNone/>
            </a:pPr>
            <a:r>
              <a:rPr sz="1030" b="1">
                <a:solidFill>
                  <a:srgbClr val="1E2B32"/>
                </a:solidFill>
              </a:rPr>
              <a:t>Cui et al. (2026)</a:t>
            </a:r>
            <a:endParaRPr sz="1030"/>
          </a:p>
        </p:txBody>
      </p:sp>
      <p:sp>
        <p:nvSpPr>
          <p:cNvPr id="20" name="Shape 18">
            <a:extLst>
              <a:ext uri="{FF2B5EF4-FFF2-40B4-BE49-F238E27FC236}">
                <a16:creationId xmlns:a16="http://schemas.microsoft.com/office/drawing/2014/main" id="{7414032B-C0F4-43D6-8211-E185E5065BFC}"/>
              </a:ext>
            </a:extLst>
          </p:cNvPr>
          <p:cNvSpPr>
            <a:spLocks noGrp="1"/>
          </p:cNvSpPr>
          <p:nvPr/>
        </p:nvSpPr>
        <p:spPr>
          <a:xfrm>
            <a:off x="2423160" y="2642616"/>
            <a:ext cx="2743200" cy="749808"/>
          </a:xfrm>
          <a:prstGeom prst="rect">
            <a:avLst/>
          </a:prstGeom>
          <a:solidFill>
            <a:srgbClr val="FFFFFF"/>
          </a:solidFill>
          <a:ln w="10160">
            <a:solidFill>
              <a:srgbClr val="E9EEF1"/>
            </a:solidFill>
            <a:prstDash val="solid"/>
          </a:ln>
        </p:spPr>
        <p:txBody>
          <a:bodyPr/>
          <a:lstStyle/>
          <a:p>
            <a:endParaRPr/>
          </a:p>
        </p:txBody>
      </p:sp>
      <p:sp>
        <p:nvSpPr>
          <p:cNvPr id="21" name="Text 19">
            <a:extLst>
              <a:ext uri="{FF2B5EF4-FFF2-40B4-BE49-F238E27FC236}">
                <a16:creationId xmlns:a16="http://schemas.microsoft.com/office/drawing/2014/main" id="{03AD3DF3-1E5B-4173-89E6-B1A8DB24D0C6}"/>
              </a:ext>
            </a:extLst>
          </p:cNvPr>
          <p:cNvSpPr>
            <a:spLocks noGrp="1"/>
          </p:cNvSpPr>
          <p:nvPr/>
        </p:nvSpPr>
        <p:spPr>
          <a:xfrm>
            <a:off x="2496312" y="2743200"/>
            <a:ext cx="2596896" cy="585216"/>
          </a:xfrm>
          <a:prstGeom prst="rect">
            <a:avLst/>
          </a:prstGeom>
          <a:noFill/>
        </p:spPr>
        <p:txBody>
          <a:bodyPr wrap="square" lIns="0" tIns="0" rIns="0" bIns="0" anchor="ctr">
            <a:normAutofit/>
          </a:bodyPr>
          <a:lstStyle/>
          <a:p>
            <a:pPr marL="0" indent="0">
              <a:buNone/>
            </a:pPr>
            <a:r>
              <a:rPr sz="1030">
                <a:solidFill>
                  <a:srgbClr val="1E2B32"/>
                </a:solidFill>
              </a:rPr>
              <a:t>4,867 developers; three companies</a:t>
            </a:r>
            <a:endParaRPr sz="1030"/>
          </a:p>
        </p:txBody>
      </p:sp>
      <p:sp>
        <p:nvSpPr>
          <p:cNvPr id="22" name="Shape 20">
            <a:extLst>
              <a:ext uri="{FF2B5EF4-FFF2-40B4-BE49-F238E27FC236}">
                <a16:creationId xmlns:a16="http://schemas.microsoft.com/office/drawing/2014/main" id="{8A1CBC6B-4B3F-4A8E-B9D7-2C267F294A5F}"/>
              </a:ext>
            </a:extLst>
          </p:cNvPr>
          <p:cNvSpPr>
            <a:spLocks noGrp="1"/>
          </p:cNvSpPr>
          <p:nvPr/>
        </p:nvSpPr>
        <p:spPr>
          <a:xfrm>
            <a:off x="5166360" y="2642616"/>
            <a:ext cx="6080760" cy="749808"/>
          </a:xfrm>
          <a:prstGeom prst="rect">
            <a:avLst/>
          </a:prstGeom>
          <a:solidFill>
            <a:srgbClr val="FFFFFF"/>
          </a:solidFill>
          <a:ln w="10160">
            <a:solidFill>
              <a:srgbClr val="E9EEF1"/>
            </a:solidFill>
            <a:prstDash val="solid"/>
          </a:ln>
        </p:spPr>
        <p:txBody>
          <a:bodyPr/>
          <a:lstStyle/>
          <a:p>
            <a:endParaRPr/>
          </a:p>
        </p:txBody>
      </p:sp>
      <p:sp>
        <p:nvSpPr>
          <p:cNvPr id="23" name="Text 21">
            <a:extLst>
              <a:ext uri="{FF2B5EF4-FFF2-40B4-BE49-F238E27FC236}">
                <a16:creationId xmlns:a16="http://schemas.microsoft.com/office/drawing/2014/main" id="{D69772E5-10BB-4691-A7D9-B01516D7C79D}"/>
              </a:ext>
            </a:extLst>
          </p:cNvPr>
          <p:cNvSpPr>
            <a:spLocks noGrp="1"/>
          </p:cNvSpPr>
          <p:nvPr/>
        </p:nvSpPr>
        <p:spPr>
          <a:xfrm>
            <a:off x="5239512" y="2743200"/>
            <a:ext cx="5934456" cy="585216"/>
          </a:xfrm>
          <a:prstGeom prst="rect">
            <a:avLst/>
          </a:prstGeom>
          <a:noFill/>
        </p:spPr>
        <p:txBody>
          <a:bodyPr wrap="square" lIns="0" tIns="0" rIns="0" bIns="0" anchor="ctr">
            <a:normAutofit/>
          </a:bodyPr>
          <a:lstStyle/>
          <a:p>
            <a:pPr marL="0" indent="0">
              <a:buNone/>
            </a:pPr>
            <a:r>
              <a:rPr sz="1030">
                <a:solidFill>
                  <a:srgbClr val="1E2B32"/>
                </a:solidFill>
              </a:rPr>
              <a:t>26.08% more completed tasks (SE 10.3%)</a:t>
            </a:r>
            <a:endParaRPr sz="1030"/>
          </a:p>
        </p:txBody>
      </p:sp>
      <p:sp>
        <p:nvSpPr>
          <p:cNvPr id="24" name="Shape 22">
            <a:extLst>
              <a:ext uri="{FF2B5EF4-FFF2-40B4-BE49-F238E27FC236}">
                <a16:creationId xmlns:a16="http://schemas.microsoft.com/office/drawing/2014/main" id="{F3A4B4C5-DB63-4538-BA84-D7089A6B5190}"/>
              </a:ext>
            </a:extLst>
          </p:cNvPr>
          <p:cNvSpPr>
            <a:spLocks noGrp="1"/>
          </p:cNvSpPr>
          <p:nvPr/>
        </p:nvSpPr>
        <p:spPr>
          <a:xfrm>
            <a:off x="594360" y="3392424"/>
            <a:ext cx="1828800" cy="749808"/>
          </a:xfrm>
          <a:prstGeom prst="rect">
            <a:avLst/>
          </a:prstGeom>
          <a:solidFill>
            <a:srgbClr val="DCEAF6"/>
          </a:solidFill>
          <a:ln w="10160">
            <a:solidFill>
              <a:srgbClr val="E9EEF1"/>
            </a:solidFill>
            <a:prstDash val="solid"/>
          </a:ln>
        </p:spPr>
        <p:txBody>
          <a:bodyPr/>
          <a:lstStyle/>
          <a:p>
            <a:endParaRPr/>
          </a:p>
        </p:txBody>
      </p:sp>
      <p:sp>
        <p:nvSpPr>
          <p:cNvPr id="25" name="Text 23">
            <a:extLst>
              <a:ext uri="{FF2B5EF4-FFF2-40B4-BE49-F238E27FC236}">
                <a16:creationId xmlns:a16="http://schemas.microsoft.com/office/drawing/2014/main" id="{A1604726-770E-42C9-B63B-D15A683FE3D5}"/>
              </a:ext>
            </a:extLst>
          </p:cNvPr>
          <p:cNvSpPr>
            <a:spLocks noGrp="1"/>
          </p:cNvSpPr>
          <p:nvPr/>
        </p:nvSpPr>
        <p:spPr>
          <a:xfrm>
            <a:off x="667512" y="3493008"/>
            <a:ext cx="1682496" cy="585216"/>
          </a:xfrm>
          <a:prstGeom prst="rect">
            <a:avLst/>
          </a:prstGeom>
          <a:noFill/>
        </p:spPr>
        <p:txBody>
          <a:bodyPr wrap="square" lIns="0" tIns="0" rIns="0" bIns="0" anchor="ctr">
            <a:normAutofit/>
          </a:bodyPr>
          <a:lstStyle/>
          <a:p>
            <a:pPr marL="0" indent="0">
              <a:buNone/>
            </a:pPr>
            <a:r>
              <a:rPr sz="1030" b="1">
                <a:solidFill>
                  <a:srgbClr val="1E2B32"/>
                </a:solidFill>
              </a:rPr>
              <a:t>Becker et al. (2025)</a:t>
            </a:r>
            <a:endParaRPr sz="1030"/>
          </a:p>
        </p:txBody>
      </p:sp>
      <p:sp>
        <p:nvSpPr>
          <p:cNvPr id="26" name="Shape 24">
            <a:extLst>
              <a:ext uri="{FF2B5EF4-FFF2-40B4-BE49-F238E27FC236}">
                <a16:creationId xmlns:a16="http://schemas.microsoft.com/office/drawing/2014/main" id="{CB414EC1-3388-49E0-A7A9-8A5299BA9287}"/>
              </a:ext>
            </a:extLst>
          </p:cNvPr>
          <p:cNvSpPr>
            <a:spLocks noGrp="1"/>
          </p:cNvSpPr>
          <p:nvPr/>
        </p:nvSpPr>
        <p:spPr>
          <a:xfrm>
            <a:off x="2423160" y="3392424"/>
            <a:ext cx="2743200" cy="749808"/>
          </a:xfrm>
          <a:prstGeom prst="rect">
            <a:avLst/>
          </a:prstGeom>
          <a:solidFill>
            <a:srgbClr val="FFFFFF"/>
          </a:solidFill>
          <a:ln w="10160">
            <a:solidFill>
              <a:srgbClr val="E9EEF1"/>
            </a:solidFill>
            <a:prstDash val="solid"/>
          </a:ln>
        </p:spPr>
        <p:txBody>
          <a:bodyPr/>
          <a:lstStyle/>
          <a:p>
            <a:endParaRPr/>
          </a:p>
        </p:txBody>
      </p:sp>
      <p:sp>
        <p:nvSpPr>
          <p:cNvPr id="27" name="Text 25">
            <a:extLst>
              <a:ext uri="{FF2B5EF4-FFF2-40B4-BE49-F238E27FC236}">
                <a16:creationId xmlns:a16="http://schemas.microsoft.com/office/drawing/2014/main" id="{ED25EF19-5389-46CE-BFC9-CBFE893A9E0C}"/>
              </a:ext>
            </a:extLst>
          </p:cNvPr>
          <p:cNvSpPr>
            <a:spLocks noGrp="1"/>
          </p:cNvSpPr>
          <p:nvPr/>
        </p:nvSpPr>
        <p:spPr>
          <a:xfrm>
            <a:off x="2496312" y="3493008"/>
            <a:ext cx="2596896" cy="585216"/>
          </a:xfrm>
          <a:prstGeom prst="rect">
            <a:avLst/>
          </a:prstGeom>
          <a:noFill/>
        </p:spPr>
        <p:txBody>
          <a:bodyPr wrap="square" lIns="0" tIns="0" rIns="0" bIns="0" anchor="ctr">
            <a:normAutofit/>
          </a:bodyPr>
          <a:lstStyle/>
          <a:p>
            <a:pPr marL="0" indent="0">
              <a:buNone/>
            </a:pPr>
            <a:r>
              <a:rPr sz="1030">
                <a:solidFill>
                  <a:srgbClr val="1E2B32"/>
                </a:solidFill>
              </a:rPr>
              <a:t>Experienced maintainers; familiar repos</a:t>
            </a:r>
            <a:endParaRPr sz="1030"/>
          </a:p>
        </p:txBody>
      </p:sp>
      <p:sp>
        <p:nvSpPr>
          <p:cNvPr id="28" name="Shape 26">
            <a:extLst>
              <a:ext uri="{FF2B5EF4-FFF2-40B4-BE49-F238E27FC236}">
                <a16:creationId xmlns:a16="http://schemas.microsoft.com/office/drawing/2014/main" id="{E0A21136-6701-4F36-9D99-599D3505C570}"/>
              </a:ext>
            </a:extLst>
          </p:cNvPr>
          <p:cNvSpPr>
            <a:spLocks noGrp="1"/>
          </p:cNvSpPr>
          <p:nvPr/>
        </p:nvSpPr>
        <p:spPr>
          <a:xfrm>
            <a:off x="5166360" y="3392424"/>
            <a:ext cx="6080760" cy="749808"/>
          </a:xfrm>
          <a:prstGeom prst="rect">
            <a:avLst/>
          </a:prstGeom>
          <a:solidFill>
            <a:srgbClr val="FFFFFF"/>
          </a:solidFill>
          <a:ln w="10160">
            <a:solidFill>
              <a:srgbClr val="E9EEF1"/>
            </a:solidFill>
            <a:prstDash val="solid"/>
          </a:ln>
        </p:spPr>
        <p:txBody>
          <a:bodyPr/>
          <a:lstStyle/>
          <a:p>
            <a:endParaRPr/>
          </a:p>
        </p:txBody>
      </p:sp>
      <p:sp>
        <p:nvSpPr>
          <p:cNvPr id="29" name="Text 27">
            <a:extLst>
              <a:ext uri="{FF2B5EF4-FFF2-40B4-BE49-F238E27FC236}">
                <a16:creationId xmlns:a16="http://schemas.microsoft.com/office/drawing/2014/main" id="{97CA0854-3484-4C24-81F8-BC5CB71B5671}"/>
              </a:ext>
            </a:extLst>
          </p:cNvPr>
          <p:cNvSpPr>
            <a:spLocks noGrp="1"/>
          </p:cNvSpPr>
          <p:nvPr/>
        </p:nvSpPr>
        <p:spPr>
          <a:xfrm>
            <a:off x="5239512" y="3493008"/>
            <a:ext cx="5934456" cy="585216"/>
          </a:xfrm>
          <a:prstGeom prst="rect">
            <a:avLst/>
          </a:prstGeom>
          <a:noFill/>
        </p:spPr>
        <p:txBody>
          <a:bodyPr wrap="square" lIns="0" tIns="0" rIns="0" bIns="0" anchor="ctr">
            <a:normAutofit/>
          </a:bodyPr>
          <a:lstStyle/>
          <a:p>
            <a:pPr marL="0" indent="0">
              <a:buNone/>
            </a:pPr>
            <a:r>
              <a:rPr sz="1030">
                <a:solidFill>
                  <a:srgbClr val="1E2B32"/>
                </a:solidFill>
              </a:rPr>
              <a:t>19% longer task time</a:t>
            </a:r>
            <a:endParaRPr sz="1030"/>
          </a:p>
        </p:txBody>
      </p:sp>
      <p:sp>
        <p:nvSpPr>
          <p:cNvPr id="30" name="Shape 28">
            <a:extLst>
              <a:ext uri="{FF2B5EF4-FFF2-40B4-BE49-F238E27FC236}">
                <a16:creationId xmlns:a16="http://schemas.microsoft.com/office/drawing/2014/main" id="{B48CD4A1-E760-4B8A-9BDC-A7792A96423E}"/>
              </a:ext>
            </a:extLst>
          </p:cNvPr>
          <p:cNvSpPr>
            <a:spLocks noGrp="1"/>
          </p:cNvSpPr>
          <p:nvPr/>
        </p:nvSpPr>
        <p:spPr>
          <a:xfrm>
            <a:off x="594360" y="4142232"/>
            <a:ext cx="1828800" cy="749808"/>
          </a:xfrm>
          <a:prstGeom prst="rect">
            <a:avLst/>
          </a:prstGeom>
          <a:solidFill>
            <a:srgbClr val="DCEAF6"/>
          </a:solidFill>
          <a:ln w="10160">
            <a:solidFill>
              <a:srgbClr val="E9EEF1"/>
            </a:solidFill>
            <a:prstDash val="solid"/>
          </a:ln>
        </p:spPr>
        <p:txBody>
          <a:bodyPr/>
          <a:lstStyle/>
          <a:p>
            <a:endParaRPr/>
          </a:p>
        </p:txBody>
      </p:sp>
      <p:sp>
        <p:nvSpPr>
          <p:cNvPr id="31" name="Text 29">
            <a:extLst>
              <a:ext uri="{FF2B5EF4-FFF2-40B4-BE49-F238E27FC236}">
                <a16:creationId xmlns:a16="http://schemas.microsoft.com/office/drawing/2014/main" id="{26450A05-9361-4341-8B48-818DA58EB63C}"/>
              </a:ext>
            </a:extLst>
          </p:cNvPr>
          <p:cNvSpPr>
            <a:spLocks noGrp="1"/>
          </p:cNvSpPr>
          <p:nvPr/>
        </p:nvSpPr>
        <p:spPr>
          <a:xfrm>
            <a:off x="667512" y="4242816"/>
            <a:ext cx="1682496" cy="585216"/>
          </a:xfrm>
          <a:prstGeom prst="rect">
            <a:avLst/>
          </a:prstGeom>
          <a:noFill/>
        </p:spPr>
        <p:txBody>
          <a:bodyPr wrap="square" lIns="0" tIns="0" rIns="0" bIns="0" anchor="ctr">
            <a:normAutofit/>
          </a:bodyPr>
          <a:lstStyle/>
          <a:p>
            <a:pPr marL="0" indent="0">
              <a:buNone/>
            </a:pPr>
            <a:r>
              <a:rPr sz="1030" b="1">
                <a:solidFill>
                  <a:srgbClr val="1E2B32"/>
                </a:solidFill>
              </a:rPr>
              <a:t>Perry et al. (2023)</a:t>
            </a:r>
            <a:endParaRPr sz="1030"/>
          </a:p>
        </p:txBody>
      </p:sp>
      <p:sp>
        <p:nvSpPr>
          <p:cNvPr id="32" name="Shape 30">
            <a:extLst>
              <a:ext uri="{FF2B5EF4-FFF2-40B4-BE49-F238E27FC236}">
                <a16:creationId xmlns:a16="http://schemas.microsoft.com/office/drawing/2014/main" id="{4A2C3A72-52DE-4EC0-844D-C9961CB1274D}"/>
              </a:ext>
            </a:extLst>
          </p:cNvPr>
          <p:cNvSpPr>
            <a:spLocks noGrp="1"/>
          </p:cNvSpPr>
          <p:nvPr/>
        </p:nvSpPr>
        <p:spPr>
          <a:xfrm>
            <a:off x="2423160" y="4142232"/>
            <a:ext cx="2743200" cy="749808"/>
          </a:xfrm>
          <a:prstGeom prst="rect">
            <a:avLst/>
          </a:prstGeom>
          <a:solidFill>
            <a:srgbClr val="FFFFFF"/>
          </a:solidFill>
          <a:ln w="10160">
            <a:solidFill>
              <a:srgbClr val="E9EEF1"/>
            </a:solidFill>
            <a:prstDash val="solid"/>
          </a:ln>
        </p:spPr>
        <p:txBody>
          <a:bodyPr/>
          <a:lstStyle/>
          <a:p>
            <a:endParaRPr/>
          </a:p>
        </p:txBody>
      </p:sp>
      <p:sp>
        <p:nvSpPr>
          <p:cNvPr id="33" name="Text 31">
            <a:extLst>
              <a:ext uri="{FF2B5EF4-FFF2-40B4-BE49-F238E27FC236}">
                <a16:creationId xmlns:a16="http://schemas.microsoft.com/office/drawing/2014/main" id="{998B650B-0E8F-4DA3-891A-08EFA90C9EAA}"/>
              </a:ext>
            </a:extLst>
          </p:cNvPr>
          <p:cNvSpPr>
            <a:spLocks noGrp="1"/>
          </p:cNvSpPr>
          <p:nvPr/>
        </p:nvSpPr>
        <p:spPr>
          <a:xfrm>
            <a:off x="2496312" y="4242816"/>
            <a:ext cx="2596896" cy="585216"/>
          </a:xfrm>
          <a:prstGeom prst="rect">
            <a:avLst/>
          </a:prstGeom>
          <a:noFill/>
        </p:spPr>
        <p:txBody>
          <a:bodyPr wrap="square" lIns="0" tIns="0" rIns="0" bIns="0" anchor="ctr">
            <a:normAutofit/>
          </a:bodyPr>
          <a:lstStyle/>
          <a:p>
            <a:pPr marL="0" indent="0">
              <a:buNone/>
            </a:pPr>
            <a:r>
              <a:rPr sz="1030">
                <a:solidFill>
                  <a:srgbClr val="1E2B32"/>
                </a:solidFill>
              </a:rPr>
              <a:t>Security programming tasks</a:t>
            </a:r>
            <a:endParaRPr sz="1030"/>
          </a:p>
        </p:txBody>
      </p:sp>
      <p:sp>
        <p:nvSpPr>
          <p:cNvPr id="34" name="Shape 32">
            <a:extLst>
              <a:ext uri="{FF2B5EF4-FFF2-40B4-BE49-F238E27FC236}">
                <a16:creationId xmlns:a16="http://schemas.microsoft.com/office/drawing/2014/main" id="{E5415118-9DF6-4A99-BF64-13DF598CA631}"/>
              </a:ext>
            </a:extLst>
          </p:cNvPr>
          <p:cNvSpPr>
            <a:spLocks noGrp="1"/>
          </p:cNvSpPr>
          <p:nvPr/>
        </p:nvSpPr>
        <p:spPr>
          <a:xfrm>
            <a:off x="5166360" y="4142232"/>
            <a:ext cx="6080760" cy="749808"/>
          </a:xfrm>
          <a:prstGeom prst="rect">
            <a:avLst/>
          </a:prstGeom>
          <a:solidFill>
            <a:srgbClr val="FFFFFF"/>
          </a:solidFill>
          <a:ln w="10160">
            <a:solidFill>
              <a:srgbClr val="E9EEF1"/>
            </a:solidFill>
            <a:prstDash val="solid"/>
          </a:ln>
        </p:spPr>
        <p:txBody>
          <a:bodyPr/>
          <a:lstStyle/>
          <a:p>
            <a:endParaRPr/>
          </a:p>
        </p:txBody>
      </p:sp>
      <p:sp>
        <p:nvSpPr>
          <p:cNvPr id="35" name="Text 33">
            <a:extLst>
              <a:ext uri="{FF2B5EF4-FFF2-40B4-BE49-F238E27FC236}">
                <a16:creationId xmlns:a16="http://schemas.microsoft.com/office/drawing/2014/main" id="{A835C01B-B10B-42F4-9B64-E58CEFB126C8}"/>
              </a:ext>
            </a:extLst>
          </p:cNvPr>
          <p:cNvSpPr>
            <a:spLocks noGrp="1"/>
          </p:cNvSpPr>
          <p:nvPr/>
        </p:nvSpPr>
        <p:spPr>
          <a:xfrm>
            <a:off x="5239512" y="4242816"/>
            <a:ext cx="5934456" cy="585216"/>
          </a:xfrm>
          <a:prstGeom prst="rect">
            <a:avLst/>
          </a:prstGeom>
          <a:noFill/>
        </p:spPr>
        <p:txBody>
          <a:bodyPr wrap="square" lIns="0" tIns="0" rIns="0" bIns="0" anchor="ctr">
            <a:normAutofit/>
          </a:bodyPr>
          <a:lstStyle/>
          <a:p>
            <a:pPr marL="0" indent="0">
              <a:buNone/>
            </a:pPr>
            <a:r>
              <a:rPr sz="1030">
                <a:solidFill>
                  <a:srgbClr val="1E2B32"/>
                </a:solidFill>
              </a:rPr>
              <a:t>Less secure code with AI access</a:t>
            </a:r>
            <a:endParaRPr sz="1030"/>
          </a:p>
        </p:txBody>
      </p:sp>
      <p:sp>
        <p:nvSpPr>
          <p:cNvPr id="36" name="Shape 34">
            <a:extLst>
              <a:ext uri="{FF2B5EF4-FFF2-40B4-BE49-F238E27FC236}">
                <a16:creationId xmlns:a16="http://schemas.microsoft.com/office/drawing/2014/main" id="{540E0B1C-7596-4580-BEED-61175AC28FC9}"/>
              </a:ext>
            </a:extLst>
          </p:cNvPr>
          <p:cNvSpPr>
            <a:spLocks noGrp="1"/>
          </p:cNvSpPr>
          <p:nvPr/>
        </p:nvSpPr>
        <p:spPr>
          <a:xfrm>
            <a:off x="594360" y="4892040"/>
            <a:ext cx="1828800" cy="749808"/>
          </a:xfrm>
          <a:prstGeom prst="rect">
            <a:avLst/>
          </a:prstGeom>
          <a:solidFill>
            <a:srgbClr val="DCEAF6"/>
          </a:solidFill>
          <a:ln w="10160">
            <a:solidFill>
              <a:srgbClr val="E9EEF1"/>
            </a:solidFill>
            <a:prstDash val="solid"/>
          </a:ln>
        </p:spPr>
        <p:txBody>
          <a:bodyPr/>
          <a:lstStyle/>
          <a:p>
            <a:endParaRPr/>
          </a:p>
        </p:txBody>
      </p:sp>
      <p:sp>
        <p:nvSpPr>
          <p:cNvPr id="37" name="Text 35">
            <a:extLst>
              <a:ext uri="{FF2B5EF4-FFF2-40B4-BE49-F238E27FC236}">
                <a16:creationId xmlns:a16="http://schemas.microsoft.com/office/drawing/2014/main" id="{C539A0BF-5256-47B6-87EE-30C3D4C9E910}"/>
              </a:ext>
            </a:extLst>
          </p:cNvPr>
          <p:cNvSpPr>
            <a:spLocks noGrp="1"/>
          </p:cNvSpPr>
          <p:nvPr/>
        </p:nvSpPr>
        <p:spPr>
          <a:xfrm>
            <a:off x="667512" y="4992624"/>
            <a:ext cx="1682496" cy="585216"/>
          </a:xfrm>
          <a:prstGeom prst="rect">
            <a:avLst/>
          </a:prstGeom>
          <a:noFill/>
        </p:spPr>
        <p:txBody>
          <a:bodyPr wrap="square" lIns="0" tIns="0" rIns="0" bIns="0" anchor="ctr">
            <a:normAutofit/>
          </a:bodyPr>
          <a:lstStyle/>
          <a:p>
            <a:pPr marL="0" indent="0">
              <a:buNone/>
            </a:pPr>
            <a:r>
              <a:rPr sz="1030" b="1">
                <a:solidFill>
                  <a:srgbClr val="1E2B32"/>
                </a:solidFill>
              </a:rPr>
              <a:t>NASA (2025)</a:t>
            </a:r>
            <a:endParaRPr sz="1030"/>
          </a:p>
        </p:txBody>
      </p:sp>
      <p:sp>
        <p:nvSpPr>
          <p:cNvPr id="38" name="Shape 36">
            <a:extLst>
              <a:ext uri="{FF2B5EF4-FFF2-40B4-BE49-F238E27FC236}">
                <a16:creationId xmlns:a16="http://schemas.microsoft.com/office/drawing/2014/main" id="{D387C498-16D0-4ED7-BA85-A18F8E2B2B56}"/>
              </a:ext>
            </a:extLst>
          </p:cNvPr>
          <p:cNvSpPr>
            <a:spLocks noGrp="1"/>
          </p:cNvSpPr>
          <p:nvPr/>
        </p:nvSpPr>
        <p:spPr>
          <a:xfrm>
            <a:off x="2423160" y="4892040"/>
            <a:ext cx="2743200" cy="749808"/>
          </a:xfrm>
          <a:prstGeom prst="rect">
            <a:avLst/>
          </a:prstGeom>
          <a:solidFill>
            <a:srgbClr val="FFFFFF"/>
          </a:solidFill>
          <a:ln w="10160">
            <a:solidFill>
              <a:srgbClr val="E9EEF1"/>
            </a:solidFill>
            <a:prstDash val="solid"/>
          </a:ln>
        </p:spPr>
        <p:txBody>
          <a:bodyPr/>
          <a:lstStyle/>
          <a:p>
            <a:endParaRPr/>
          </a:p>
        </p:txBody>
      </p:sp>
      <p:sp>
        <p:nvSpPr>
          <p:cNvPr id="39" name="Text 37">
            <a:extLst>
              <a:ext uri="{FF2B5EF4-FFF2-40B4-BE49-F238E27FC236}">
                <a16:creationId xmlns:a16="http://schemas.microsoft.com/office/drawing/2014/main" id="{E81C47F6-F410-4245-BDF8-6F0BF1F65529}"/>
              </a:ext>
            </a:extLst>
          </p:cNvPr>
          <p:cNvSpPr>
            <a:spLocks noGrp="1"/>
          </p:cNvSpPr>
          <p:nvPr/>
        </p:nvSpPr>
        <p:spPr>
          <a:xfrm>
            <a:off x="2496312" y="4992624"/>
            <a:ext cx="2596896" cy="585216"/>
          </a:xfrm>
          <a:prstGeom prst="rect">
            <a:avLst/>
          </a:prstGeom>
          <a:noFill/>
        </p:spPr>
        <p:txBody>
          <a:bodyPr wrap="square" lIns="0" tIns="0" rIns="0" bIns="0" anchor="ctr">
            <a:normAutofit/>
          </a:bodyPr>
          <a:lstStyle/>
          <a:p>
            <a:pPr marL="0" indent="0">
              <a:buNone/>
            </a:pPr>
            <a:r>
              <a:rPr sz="1030">
                <a:solidFill>
                  <a:srgbClr val="1E2B32"/>
                </a:solidFill>
              </a:rPr>
              <a:t>Assurance-argument literature review</a:t>
            </a:r>
            <a:endParaRPr sz="1030"/>
          </a:p>
        </p:txBody>
      </p:sp>
      <p:sp>
        <p:nvSpPr>
          <p:cNvPr id="40" name="Shape 38">
            <a:extLst>
              <a:ext uri="{FF2B5EF4-FFF2-40B4-BE49-F238E27FC236}">
                <a16:creationId xmlns:a16="http://schemas.microsoft.com/office/drawing/2014/main" id="{49425901-4304-41CF-9D6A-EC3867882313}"/>
              </a:ext>
            </a:extLst>
          </p:cNvPr>
          <p:cNvSpPr>
            <a:spLocks noGrp="1"/>
          </p:cNvSpPr>
          <p:nvPr/>
        </p:nvSpPr>
        <p:spPr>
          <a:xfrm>
            <a:off x="5166360" y="4892040"/>
            <a:ext cx="6080760" cy="749808"/>
          </a:xfrm>
          <a:prstGeom prst="rect">
            <a:avLst/>
          </a:prstGeom>
          <a:solidFill>
            <a:srgbClr val="FFFFFF"/>
          </a:solidFill>
          <a:ln w="10160">
            <a:solidFill>
              <a:srgbClr val="E9EEF1"/>
            </a:solidFill>
            <a:prstDash val="solid"/>
          </a:ln>
        </p:spPr>
        <p:txBody>
          <a:bodyPr/>
          <a:lstStyle/>
          <a:p>
            <a:endParaRPr/>
          </a:p>
        </p:txBody>
      </p:sp>
      <p:sp>
        <p:nvSpPr>
          <p:cNvPr id="41" name="Text 39">
            <a:extLst>
              <a:ext uri="{FF2B5EF4-FFF2-40B4-BE49-F238E27FC236}">
                <a16:creationId xmlns:a16="http://schemas.microsoft.com/office/drawing/2014/main" id="{57D3F9B2-4AB4-48ED-A084-29498007FF2F}"/>
              </a:ext>
            </a:extLst>
          </p:cNvPr>
          <p:cNvSpPr>
            <a:spLocks noGrp="1"/>
          </p:cNvSpPr>
          <p:nvPr/>
        </p:nvSpPr>
        <p:spPr>
          <a:xfrm>
            <a:off x="5239512" y="4992624"/>
            <a:ext cx="5934456" cy="585216"/>
          </a:xfrm>
          <a:prstGeom prst="rect">
            <a:avLst/>
          </a:prstGeom>
          <a:noFill/>
        </p:spPr>
        <p:txBody>
          <a:bodyPr wrap="square" lIns="0" tIns="0" rIns="0" bIns="0" anchor="ctr">
            <a:normAutofit/>
          </a:bodyPr>
          <a:lstStyle/>
          <a:p>
            <a:pPr marL="0" indent="0">
              <a:buNone/>
            </a:pPr>
            <a:r>
              <a:rPr sz="1030">
                <a:solidFill>
                  <a:srgbClr val="1E2B32"/>
                </a:solidFill>
              </a:rPr>
              <a:t>Fitness for engineering practice remains unproven</a:t>
            </a:r>
            <a:endParaRPr sz="1030"/>
          </a:p>
        </p:txBody>
      </p:sp>
      <p:sp>
        <p:nvSpPr>
          <p:cNvPr id="42" name="Text 40">
            <a:extLst>
              <a:ext uri="{FF2B5EF4-FFF2-40B4-BE49-F238E27FC236}">
                <a16:creationId xmlns:a16="http://schemas.microsoft.com/office/drawing/2014/main" id="{A2CC7E07-3BD0-4057-92C4-C540C4F8EC3A}"/>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Implication: measure active time, review, rework and defect escape separately.</a:t>
            </a:r>
            <a:endParaRPr sz="750"/>
          </a:p>
        </p:txBody>
      </p:sp>
      <p:sp>
        <p:nvSpPr>
          <p:cNvPr id="43" name="Text 41">
            <a:extLst>
              <a:ext uri="{FF2B5EF4-FFF2-40B4-BE49-F238E27FC236}">
                <a16:creationId xmlns:a16="http://schemas.microsoft.com/office/drawing/2014/main" id="{891F5973-C46B-48AE-9511-A0D35CF4B40E}"/>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44" name="Text 42">
            <a:extLst>
              <a:ext uri="{FF2B5EF4-FFF2-40B4-BE49-F238E27FC236}">
                <a16:creationId xmlns:a16="http://schemas.microsoft.com/office/drawing/2014/main" id="{24E5A5EE-9AB9-4342-A172-C1CD88B2A4ED}"/>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6</a:t>
            </a:r>
          </a:p>
        </p:txBody>
      </p:sp>
    </p:spTree>
    <p:extLst>
      <p:ext uri="{BB962C8B-B14F-4D97-AF65-F5344CB8AC3E}">
        <p14:creationId xmlns:p14="http://schemas.microsoft.com/office/powerpoint/2010/main" val="490946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C866EF-A903-46E9-A34F-E8FE2456DEFF}"/>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3A083C0B-56A8-4BB5-80ED-3A2C0C5A2635}"/>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61987F9F-9241-4B7A-84F5-DB0F18E4F3D4}"/>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dirty="0">
                <a:solidFill>
                  <a:srgbClr val="0E2A3B"/>
                </a:solidFill>
                <a:latin typeface="Aptos Display"/>
                <a:ea typeface="Aptos Display"/>
                <a:cs typeface="Aptos Display"/>
              </a:rPr>
              <a:t>LLM </a:t>
            </a:r>
            <a:r>
              <a:rPr lang="en-GB" sz="2800" b="1" dirty="0">
                <a:solidFill>
                  <a:srgbClr val="0E2A3B"/>
                </a:solidFill>
                <a:latin typeface="Aptos Display"/>
                <a:ea typeface="Aptos Display"/>
                <a:cs typeface="Aptos Display"/>
              </a:rPr>
              <a:t>/ A</a:t>
            </a:r>
            <a:r>
              <a:rPr sz="2800" b="1" dirty="0" err="1">
                <a:solidFill>
                  <a:srgbClr val="0E2A3B"/>
                </a:solidFill>
                <a:latin typeface="Aptos Display"/>
                <a:ea typeface="Aptos Display"/>
                <a:cs typeface="Aptos Display"/>
              </a:rPr>
              <a:t>gentic</a:t>
            </a:r>
            <a:r>
              <a:rPr sz="2800" b="1" dirty="0">
                <a:solidFill>
                  <a:srgbClr val="0E2A3B"/>
                </a:solidFill>
                <a:latin typeface="Aptos Display"/>
                <a:ea typeface="Aptos Display"/>
                <a:cs typeface="Aptos Display"/>
              </a:rPr>
              <a:t> acceleration </a:t>
            </a:r>
            <a:r>
              <a:rPr lang="en-GB" sz="2800" b="1" dirty="0">
                <a:solidFill>
                  <a:srgbClr val="0E2A3B"/>
                </a:solidFill>
                <a:latin typeface="Aptos Display"/>
                <a:ea typeface="Aptos Display"/>
                <a:cs typeface="Aptos Display"/>
              </a:rPr>
              <a:t>differences</a:t>
            </a:r>
            <a:endParaRPr sz="2800" dirty="0"/>
          </a:p>
        </p:txBody>
      </p:sp>
      <p:sp>
        <p:nvSpPr>
          <p:cNvPr id="5" name="Text 3">
            <a:extLst>
              <a:ext uri="{FF2B5EF4-FFF2-40B4-BE49-F238E27FC236}">
                <a16:creationId xmlns:a16="http://schemas.microsoft.com/office/drawing/2014/main" id="{89A245F8-1EE6-4177-9DB5-C317856C1C0B}"/>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One compresses tasks; the other can compress elapsed time through controlled concurrency.</a:t>
            </a:r>
            <a:endParaRPr sz="1250"/>
          </a:p>
        </p:txBody>
      </p:sp>
      <p:sp>
        <p:nvSpPr>
          <p:cNvPr id="6" name="Shape 4">
            <a:extLst>
              <a:ext uri="{FF2B5EF4-FFF2-40B4-BE49-F238E27FC236}">
                <a16:creationId xmlns:a16="http://schemas.microsoft.com/office/drawing/2014/main" id="{CB30A360-6576-48B5-B128-CD4B466E910C}"/>
              </a:ext>
            </a:extLst>
          </p:cNvPr>
          <p:cNvSpPr>
            <a:spLocks noGrp="1"/>
          </p:cNvSpPr>
          <p:nvPr/>
        </p:nvSpPr>
        <p:spPr>
          <a:xfrm>
            <a:off x="822960" y="1508760"/>
            <a:ext cx="4114800" cy="2011680"/>
          </a:xfrm>
          <a:prstGeom prst="roundRect">
            <a:avLst>
              <a:gd name="adj" fmla="val 3182"/>
            </a:avLst>
          </a:prstGeom>
          <a:solidFill>
            <a:srgbClr val="FFFFFF"/>
          </a:solidFill>
          <a:ln w="15240">
            <a:solidFill>
              <a:srgbClr val="2F67B1"/>
            </a:solidFill>
            <a:prstDash val="solid"/>
          </a:ln>
        </p:spPr>
        <p:txBody>
          <a:bodyPr/>
          <a:lstStyle/>
          <a:p>
            <a:endParaRPr/>
          </a:p>
        </p:txBody>
      </p:sp>
      <p:sp>
        <p:nvSpPr>
          <p:cNvPr id="7" name="Text 5">
            <a:extLst>
              <a:ext uri="{FF2B5EF4-FFF2-40B4-BE49-F238E27FC236}">
                <a16:creationId xmlns:a16="http://schemas.microsoft.com/office/drawing/2014/main" id="{058938EB-CA7B-4989-97FE-23B5D4D46576}"/>
              </a:ext>
            </a:extLst>
          </p:cNvPr>
          <p:cNvSpPr>
            <a:spLocks noGrp="1"/>
          </p:cNvSpPr>
          <p:nvPr/>
        </p:nvSpPr>
        <p:spPr>
          <a:xfrm>
            <a:off x="905256" y="1581912"/>
            <a:ext cx="3950208" cy="1883664"/>
          </a:xfrm>
          <a:prstGeom prst="rect">
            <a:avLst/>
          </a:prstGeom>
          <a:noFill/>
        </p:spPr>
        <p:txBody>
          <a:bodyPr wrap="square" lIns="0" tIns="0" rIns="0" bIns="0" anchor="ctr">
            <a:normAutofit/>
          </a:bodyPr>
          <a:lstStyle/>
          <a:p>
            <a:pPr marL="0" indent="0" algn="ctr">
              <a:buNone/>
            </a:pPr>
            <a:r>
              <a:rPr sz="1600">
                <a:solidFill>
                  <a:srgbClr val="1E2B32"/>
                </a:solidFill>
              </a:rPr>
              <a:t>LLM-supported workflow</a:t>
            </a:r>
            <a:endParaRPr sz="1600"/>
          </a:p>
          <a:p>
            <a:pPr marL="0" indent="0" algn="ctr">
              <a:buNone/>
            </a:pPr>
            <a:endParaRPr sz="1600"/>
          </a:p>
          <a:p>
            <a:pPr marL="0" indent="0" algn="ctr">
              <a:buNone/>
            </a:pPr>
            <a:r>
              <a:rPr sz="1600">
                <a:solidFill>
                  <a:srgbClr val="1E2B32"/>
                </a:solidFill>
              </a:rPr>
              <a:t>• Human initiates each step</a:t>
            </a:r>
            <a:endParaRPr sz="1600"/>
          </a:p>
          <a:p>
            <a:pPr marL="0" indent="0" algn="ctr">
              <a:buNone/>
            </a:pPr>
            <a:r>
              <a:rPr sz="1600">
                <a:solidFill>
                  <a:srgbClr val="1E2B32"/>
                </a:solidFill>
              </a:rPr>
              <a:t>• Model drafts or reviews one artefact at a time</a:t>
            </a:r>
            <a:endParaRPr sz="1600"/>
          </a:p>
          <a:p>
            <a:pPr marL="0" indent="0" algn="ctr">
              <a:buNone/>
            </a:pPr>
            <a:r>
              <a:rPr sz="1600">
                <a:solidFill>
                  <a:srgbClr val="1E2B32"/>
                </a:solidFill>
              </a:rPr>
              <a:t>• Engineer integrates and accepts output</a:t>
            </a:r>
            <a:endParaRPr sz="1600"/>
          </a:p>
          <a:p>
            <a:pPr marL="0" indent="0" algn="ctr">
              <a:buNone/>
            </a:pPr>
            <a:r>
              <a:rPr sz="1600">
                <a:solidFill>
                  <a:srgbClr val="1E2B32"/>
                </a:solidFill>
              </a:rPr>
              <a:t>• Primary gain: active-task time</a:t>
            </a:r>
            <a:endParaRPr sz="1600"/>
          </a:p>
        </p:txBody>
      </p:sp>
      <p:sp>
        <p:nvSpPr>
          <p:cNvPr id="8" name="Shape 6">
            <a:extLst>
              <a:ext uri="{FF2B5EF4-FFF2-40B4-BE49-F238E27FC236}">
                <a16:creationId xmlns:a16="http://schemas.microsoft.com/office/drawing/2014/main" id="{EFCA48DB-7131-455B-A34B-DC34E86D27C4}"/>
              </a:ext>
            </a:extLst>
          </p:cNvPr>
          <p:cNvSpPr>
            <a:spLocks noGrp="1"/>
          </p:cNvSpPr>
          <p:nvPr/>
        </p:nvSpPr>
        <p:spPr>
          <a:xfrm>
            <a:off x="7269480" y="1508760"/>
            <a:ext cx="4114800" cy="2011680"/>
          </a:xfrm>
          <a:prstGeom prst="roundRect">
            <a:avLst>
              <a:gd name="adj" fmla="val 3182"/>
            </a:avLst>
          </a:prstGeom>
          <a:solidFill>
            <a:srgbClr val="FFFFFF"/>
          </a:solidFill>
          <a:ln w="15240">
            <a:solidFill>
              <a:srgbClr val="0F7C80"/>
            </a:solidFill>
            <a:prstDash val="solid"/>
          </a:ln>
        </p:spPr>
        <p:txBody>
          <a:bodyPr/>
          <a:lstStyle/>
          <a:p>
            <a:endParaRPr/>
          </a:p>
        </p:txBody>
      </p:sp>
      <p:sp>
        <p:nvSpPr>
          <p:cNvPr id="9" name="Text 7">
            <a:extLst>
              <a:ext uri="{FF2B5EF4-FFF2-40B4-BE49-F238E27FC236}">
                <a16:creationId xmlns:a16="http://schemas.microsoft.com/office/drawing/2014/main" id="{1EBBA979-22A5-4F43-9BC2-45FF4E2B82AE}"/>
              </a:ext>
            </a:extLst>
          </p:cNvPr>
          <p:cNvSpPr>
            <a:spLocks noGrp="1"/>
          </p:cNvSpPr>
          <p:nvPr/>
        </p:nvSpPr>
        <p:spPr>
          <a:xfrm>
            <a:off x="7351776" y="1581912"/>
            <a:ext cx="3950208" cy="1883664"/>
          </a:xfrm>
          <a:prstGeom prst="rect">
            <a:avLst/>
          </a:prstGeom>
          <a:noFill/>
        </p:spPr>
        <p:txBody>
          <a:bodyPr wrap="square" lIns="0" tIns="0" rIns="0" bIns="0" anchor="ctr">
            <a:normAutofit fontScale="95077"/>
          </a:bodyPr>
          <a:lstStyle/>
          <a:p>
            <a:pPr marL="0" indent="0" algn="ctr">
              <a:buNone/>
            </a:pPr>
            <a:r>
              <a:rPr sz="1600">
                <a:solidFill>
                  <a:srgbClr val="1E2B32"/>
                </a:solidFill>
              </a:rPr>
              <a:t>Agentic workflow</a:t>
            </a:r>
            <a:endParaRPr sz="1600"/>
          </a:p>
          <a:p>
            <a:pPr marL="0" indent="0" algn="ctr">
              <a:buNone/>
            </a:pPr>
            <a:endParaRPr sz="1600"/>
          </a:p>
          <a:p>
            <a:pPr marL="0" indent="0" algn="ctr">
              <a:buNone/>
            </a:pPr>
            <a:r>
              <a:rPr sz="1600">
                <a:solidFill>
                  <a:srgbClr val="1E2B32"/>
                </a:solidFill>
              </a:rPr>
              <a:t>• Orchestrator decomposes work and invokes tools</a:t>
            </a:r>
            <a:endParaRPr sz="1600"/>
          </a:p>
          <a:p>
            <a:pPr marL="0" indent="0" algn="ctr">
              <a:buNone/>
            </a:pPr>
            <a:r>
              <a:rPr sz="1600">
                <a:solidFill>
                  <a:srgbClr val="1E2B32"/>
                </a:solidFill>
              </a:rPr>
              <a:t>• Specialist agents can progress concurrently</a:t>
            </a:r>
            <a:endParaRPr sz="1600"/>
          </a:p>
          <a:p>
            <a:pPr marL="0" indent="0" algn="ctr">
              <a:buNone/>
            </a:pPr>
            <a:r>
              <a:rPr sz="1600">
                <a:solidFill>
                  <a:srgbClr val="1E2B32"/>
                </a:solidFill>
              </a:rPr>
              <a:t>• Integration, validation and recovery become explicit work</a:t>
            </a:r>
            <a:endParaRPr sz="1600"/>
          </a:p>
          <a:p>
            <a:pPr marL="0" indent="0" algn="ctr">
              <a:buNone/>
            </a:pPr>
            <a:r>
              <a:rPr sz="1600">
                <a:solidFill>
                  <a:srgbClr val="1E2B32"/>
                </a:solidFill>
              </a:rPr>
              <a:t>• Potential gain: elapsed time</a:t>
            </a:r>
            <a:endParaRPr sz="1600"/>
          </a:p>
        </p:txBody>
      </p:sp>
      <p:sp>
        <p:nvSpPr>
          <p:cNvPr id="10" name="Shape 8">
            <a:extLst>
              <a:ext uri="{FF2B5EF4-FFF2-40B4-BE49-F238E27FC236}">
                <a16:creationId xmlns:a16="http://schemas.microsoft.com/office/drawing/2014/main" id="{638FD3CD-622B-47CC-91EE-B71FCDB1725F}"/>
              </a:ext>
            </a:extLst>
          </p:cNvPr>
          <p:cNvSpPr>
            <a:spLocks noGrp="1"/>
          </p:cNvSpPr>
          <p:nvPr/>
        </p:nvSpPr>
        <p:spPr>
          <a:xfrm>
            <a:off x="4937760" y="2514600"/>
            <a:ext cx="2331720" cy="0"/>
          </a:xfrm>
          <a:prstGeom prst="line">
            <a:avLst/>
          </a:prstGeom>
          <a:noFill/>
          <a:ln w="17780">
            <a:solidFill>
              <a:srgbClr val="F2A65A"/>
            </a:solidFill>
            <a:prstDash val="solid"/>
            <a:headEnd type="none"/>
            <a:tailEnd type="triangle"/>
          </a:ln>
        </p:spPr>
        <p:txBody>
          <a:bodyPr/>
          <a:lstStyle/>
          <a:p>
            <a:endParaRPr/>
          </a:p>
        </p:txBody>
      </p:sp>
      <p:sp>
        <p:nvSpPr>
          <p:cNvPr id="11" name="Shape 9">
            <a:extLst>
              <a:ext uri="{FF2B5EF4-FFF2-40B4-BE49-F238E27FC236}">
                <a16:creationId xmlns:a16="http://schemas.microsoft.com/office/drawing/2014/main" id="{2FABF858-1282-4CDF-AFAA-22A57B739F02}"/>
              </a:ext>
            </a:extLst>
          </p:cNvPr>
          <p:cNvSpPr>
            <a:spLocks noGrp="1"/>
          </p:cNvSpPr>
          <p:nvPr/>
        </p:nvSpPr>
        <p:spPr>
          <a:xfrm>
            <a:off x="5303520" y="2350784"/>
            <a:ext cx="1554480" cy="320040"/>
          </a:xfrm>
          <a:prstGeom prst="roundRect">
            <a:avLst>
              <a:gd name="adj" fmla="val 17143"/>
            </a:avLst>
          </a:prstGeom>
          <a:solidFill>
            <a:srgbClr val="F2A65A"/>
          </a:solidFill>
          <a:ln w="12700">
            <a:solidFill>
              <a:srgbClr val="F2A65A"/>
            </a:solidFill>
            <a:prstDash val="solid"/>
          </a:ln>
        </p:spPr>
        <p:txBody>
          <a:bodyPr/>
          <a:lstStyle/>
          <a:p>
            <a:endParaRPr/>
          </a:p>
        </p:txBody>
      </p:sp>
      <p:sp>
        <p:nvSpPr>
          <p:cNvPr id="12" name="Text 10">
            <a:extLst>
              <a:ext uri="{FF2B5EF4-FFF2-40B4-BE49-F238E27FC236}">
                <a16:creationId xmlns:a16="http://schemas.microsoft.com/office/drawing/2014/main" id="{A6534EFF-3120-4D77-B8BB-6336FFE2CE30}"/>
              </a:ext>
            </a:extLst>
          </p:cNvPr>
          <p:cNvSpPr>
            <a:spLocks noGrp="1"/>
          </p:cNvSpPr>
          <p:nvPr/>
        </p:nvSpPr>
        <p:spPr>
          <a:xfrm>
            <a:off x="5362956" y="2442224"/>
            <a:ext cx="1408176" cy="137160"/>
          </a:xfrm>
          <a:prstGeom prst="rect">
            <a:avLst/>
          </a:prstGeom>
          <a:noFill/>
        </p:spPr>
        <p:txBody>
          <a:bodyPr wrap="square" lIns="0" tIns="0" rIns="0" bIns="0" anchor="ctr"/>
          <a:lstStyle/>
          <a:p>
            <a:pPr marL="0" indent="0" algn="ctr">
              <a:buNone/>
            </a:pPr>
            <a:r>
              <a:rPr lang="en-GB" sz="900" b="1" dirty="0">
                <a:solidFill>
                  <a:srgbClr val="1E2B32"/>
                </a:solidFill>
              </a:rPr>
              <a:t>Evolves Into</a:t>
            </a:r>
            <a:endParaRPr sz="900" dirty="0"/>
          </a:p>
        </p:txBody>
      </p:sp>
      <p:sp>
        <p:nvSpPr>
          <p:cNvPr id="13" name="Shape 11">
            <a:extLst>
              <a:ext uri="{FF2B5EF4-FFF2-40B4-BE49-F238E27FC236}">
                <a16:creationId xmlns:a16="http://schemas.microsoft.com/office/drawing/2014/main" id="{82B26471-6240-4F1C-B943-96B276B7ED5F}"/>
              </a:ext>
            </a:extLst>
          </p:cNvPr>
          <p:cNvSpPr>
            <a:spLocks noGrp="1"/>
          </p:cNvSpPr>
          <p:nvPr/>
        </p:nvSpPr>
        <p:spPr>
          <a:xfrm>
            <a:off x="1188720" y="4251960"/>
            <a:ext cx="9875520" cy="868680"/>
          </a:xfrm>
          <a:prstGeom prst="roundRect">
            <a:avLst>
              <a:gd name="adj" fmla="val 8421"/>
            </a:avLst>
          </a:prstGeom>
          <a:solidFill>
            <a:srgbClr val="ECE9FF"/>
          </a:solidFill>
          <a:ln w="15240">
            <a:solidFill>
              <a:srgbClr val="7461D1"/>
            </a:solidFill>
            <a:prstDash val="solid"/>
          </a:ln>
        </p:spPr>
        <p:txBody>
          <a:bodyPr/>
          <a:lstStyle/>
          <a:p>
            <a:endParaRPr/>
          </a:p>
        </p:txBody>
      </p:sp>
      <p:sp>
        <p:nvSpPr>
          <p:cNvPr id="14" name="Text 12">
            <a:extLst>
              <a:ext uri="{FF2B5EF4-FFF2-40B4-BE49-F238E27FC236}">
                <a16:creationId xmlns:a16="http://schemas.microsoft.com/office/drawing/2014/main" id="{3A79EC4E-CC00-4424-A5B0-2DF8A48DA79F}"/>
              </a:ext>
            </a:extLst>
          </p:cNvPr>
          <p:cNvSpPr>
            <a:spLocks noGrp="1"/>
          </p:cNvSpPr>
          <p:nvPr/>
        </p:nvSpPr>
        <p:spPr>
          <a:xfrm>
            <a:off x="1353312" y="4379976"/>
            <a:ext cx="9546336" cy="667512"/>
          </a:xfrm>
          <a:prstGeom prst="rect">
            <a:avLst/>
          </a:prstGeom>
          <a:noFill/>
        </p:spPr>
        <p:txBody>
          <a:bodyPr wrap="square" lIns="254" tIns="254" rIns="254" bIns="254" anchor="ctr">
            <a:normAutofit/>
          </a:bodyPr>
          <a:lstStyle/>
          <a:p>
            <a:pPr marL="0" indent="0">
              <a:buNone/>
            </a:pPr>
            <a:r>
              <a:rPr sz="1550">
                <a:solidFill>
                  <a:srgbClr val="1E2B32"/>
                </a:solidFill>
              </a:rPr>
              <a:t>Agentic orchestration is not automatically faster: concurrency helps only when task boundaries, interfaces and independent verification are mature.</a:t>
            </a:r>
            <a:endParaRPr sz="1550"/>
          </a:p>
        </p:txBody>
      </p:sp>
      <p:sp>
        <p:nvSpPr>
          <p:cNvPr id="15" name="Text 13">
            <a:extLst>
              <a:ext uri="{FF2B5EF4-FFF2-40B4-BE49-F238E27FC236}">
                <a16:creationId xmlns:a16="http://schemas.microsoft.com/office/drawing/2014/main" id="{C97A0ED4-7A8F-414F-A0E4-C54547BE4F89}"/>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NCSC agentic AI guidance (2026); NIST SP 800-218A; METR productivity evidence (2025–26).</a:t>
            </a:r>
            <a:endParaRPr sz="750"/>
          </a:p>
        </p:txBody>
      </p:sp>
      <p:sp>
        <p:nvSpPr>
          <p:cNvPr id="16" name="Text 14">
            <a:extLst>
              <a:ext uri="{FF2B5EF4-FFF2-40B4-BE49-F238E27FC236}">
                <a16:creationId xmlns:a16="http://schemas.microsoft.com/office/drawing/2014/main" id="{2ECF6F9A-5E77-4875-AB99-937399E977EE}"/>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17" name="Text 15">
            <a:extLst>
              <a:ext uri="{FF2B5EF4-FFF2-40B4-BE49-F238E27FC236}">
                <a16:creationId xmlns:a16="http://schemas.microsoft.com/office/drawing/2014/main" id="{7188800D-9A26-4C10-9494-15AB754D35FD}"/>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22</a:t>
            </a:r>
          </a:p>
        </p:txBody>
      </p:sp>
    </p:spTree>
    <p:extLst>
      <p:ext uri="{BB962C8B-B14F-4D97-AF65-F5344CB8AC3E}">
        <p14:creationId xmlns:p14="http://schemas.microsoft.com/office/powerpoint/2010/main" val="4171039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DFCE3BF-CD59-462D-9B06-D683A0043EF8}"/>
              </a:ext>
            </a:extLst>
          </p:cNvPr>
          <p:cNvSpPr>
            <a:spLocks noGrp="1"/>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a:extLst>
              <a:ext uri="{FF2B5EF4-FFF2-40B4-BE49-F238E27FC236}">
                <a16:creationId xmlns:a16="http://schemas.microsoft.com/office/drawing/2014/main" id="{FFB057DD-6410-45A8-A738-1A728E54706D}"/>
              </a:ext>
            </a:extLst>
          </p:cNvPr>
          <p:cNvSpPr>
            <a:spLocks noGrp="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a:extLst>
              <a:ext uri="{FF2B5EF4-FFF2-40B4-BE49-F238E27FC236}">
                <a16:creationId xmlns:a16="http://schemas.microsoft.com/office/drawing/2014/main" id="{AE18939B-B57F-4479-A0DC-3580CD9B95C2}"/>
              </a:ext>
            </a:extLst>
          </p:cNvPr>
          <p:cNvSpPr>
            <a:spLocks noGrp="1"/>
          </p:cNvSpPr>
          <p:nvPr/>
        </p:nvSpPr>
        <p:spPr>
          <a:xfrm>
            <a:off x="502920" y="320040"/>
            <a:ext cx="8046720" cy="411480"/>
          </a:xfrm>
          <a:prstGeom prst="rect">
            <a:avLst/>
          </a:prstGeom>
          <a:noFill/>
        </p:spPr>
        <p:txBody>
          <a:bodyPr wrap="square" lIns="0" tIns="0" rIns="0" bIns="0" anchor="ctr"/>
          <a:lstStyle/>
          <a:p>
            <a:pPr marL="0" indent="0">
              <a:buNone/>
            </a:pPr>
            <a:r>
              <a:rPr sz="2800" b="1">
                <a:solidFill>
                  <a:srgbClr val="0E2A3B"/>
                </a:solidFill>
                <a:latin typeface="Aptos Display"/>
                <a:ea typeface="Aptos Display"/>
                <a:cs typeface="Aptos Display"/>
              </a:rPr>
              <a:t>Measure end-to-end acceleration</a:t>
            </a:r>
            <a:endParaRPr sz="2800"/>
          </a:p>
        </p:txBody>
      </p:sp>
      <p:sp>
        <p:nvSpPr>
          <p:cNvPr id="5" name="Text 3">
            <a:extLst>
              <a:ext uri="{FF2B5EF4-FFF2-40B4-BE49-F238E27FC236}">
                <a16:creationId xmlns:a16="http://schemas.microsoft.com/office/drawing/2014/main" id="{6526CFEF-4513-4112-B6C2-38AC96F20061}"/>
              </a:ext>
            </a:extLst>
          </p:cNvPr>
          <p:cNvSpPr>
            <a:spLocks noGrp="1"/>
          </p:cNvSpPr>
          <p:nvPr/>
        </p:nvSpPr>
        <p:spPr>
          <a:xfrm>
            <a:off x="521208" y="804672"/>
            <a:ext cx="9052560" cy="292608"/>
          </a:xfrm>
          <a:prstGeom prst="rect">
            <a:avLst/>
          </a:prstGeom>
          <a:noFill/>
        </p:spPr>
        <p:txBody>
          <a:bodyPr wrap="square" lIns="0" tIns="0" rIns="0" bIns="0" anchor="ctr"/>
          <a:lstStyle/>
          <a:p>
            <a:pPr marL="0" indent="0">
              <a:buNone/>
            </a:pPr>
            <a:r>
              <a:rPr sz="1250">
                <a:solidFill>
                  <a:srgbClr val="35566B"/>
                </a:solidFill>
              </a:rPr>
              <a:t>Include review, integration, recovery and assurance—not just typing speed.</a:t>
            </a:r>
            <a:endParaRPr sz="1250"/>
          </a:p>
        </p:txBody>
      </p:sp>
      <p:sp>
        <p:nvSpPr>
          <p:cNvPr id="6" name="Shape 4">
            <a:extLst>
              <a:ext uri="{FF2B5EF4-FFF2-40B4-BE49-F238E27FC236}">
                <a16:creationId xmlns:a16="http://schemas.microsoft.com/office/drawing/2014/main" id="{30522C68-4011-4A4E-9DA4-39E992FCC227}"/>
              </a:ext>
            </a:extLst>
          </p:cNvPr>
          <p:cNvSpPr>
            <a:spLocks noGrp="1"/>
          </p:cNvSpPr>
          <p:nvPr/>
        </p:nvSpPr>
        <p:spPr>
          <a:xfrm>
            <a:off x="594360" y="1143000"/>
            <a:ext cx="1828800" cy="749808"/>
          </a:xfrm>
          <a:prstGeom prst="rect">
            <a:avLst/>
          </a:prstGeom>
          <a:solidFill>
            <a:srgbClr val="0E2A3B"/>
          </a:solidFill>
          <a:ln w="10160">
            <a:solidFill>
              <a:srgbClr val="E9EEF1"/>
            </a:solidFill>
            <a:prstDash val="solid"/>
          </a:ln>
        </p:spPr>
        <p:txBody>
          <a:bodyPr/>
          <a:lstStyle/>
          <a:p>
            <a:endParaRPr/>
          </a:p>
        </p:txBody>
      </p:sp>
      <p:sp>
        <p:nvSpPr>
          <p:cNvPr id="7" name="Text 5">
            <a:extLst>
              <a:ext uri="{FF2B5EF4-FFF2-40B4-BE49-F238E27FC236}">
                <a16:creationId xmlns:a16="http://schemas.microsoft.com/office/drawing/2014/main" id="{AECDB3A5-43F7-4663-85C0-9A174DDB0F57}"/>
              </a:ext>
            </a:extLst>
          </p:cNvPr>
          <p:cNvSpPr>
            <a:spLocks noGrp="1"/>
          </p:cNvSpPr>
          <p:nvPr/>
        </p:nvSpPr>
        <p:spPr>
          <a:xfrm>
            <a:off x="667512" y="1243584"/>
            <a:ext cx="1682496" cy="585216"/>
          </a:xfrm>
          <a:prstGeom prst="rect">
            <a:avLst/>
          </a:prstGeom>
          <a:noFill/>
        </p:spPr>
        <p:txBody>
          <a:bodyPr wrap="square" lIns="0" tIns="0" rIns="0" bIns="0" anchor="ctr">
            <a:normAutofit/>
          </a:bodyPr>
          <a:lstStyle/>
          <a:p>
            <a:pPr marL="0" indent="0">
              <a:buNone/>
            </a:pPr>
            <a:r>
              <a:rPr sz="1100" b="1">
                <a:solidFill>
                  <a:srgbClr val="FFFFFF"/>
                </a:solidFill>
              </a:rPr>
              <a:t>Measure</a:t>
            </a:r>
            <a:endParaRPr sz="1100"/>
          </a:p>
        </p:txBody>
      </p:sp>
      <p:sp>
        <p:nvSpPr>
          <p:cNvPr id="8" name="Shape 6">
            <a:extLst>
              <a:ext uri="{FF2B5EF4-FFF2-40B4-BE49-F238E27FC236}">
                <a16:creationId xmlns:a16="http://schemas.microsoft.com/office/drawing/2014/main" id="{29F3984B-3F94-4379-8F24-F4E4AB0FCE89}"/>
              </a:ext>
            </a:extLst>
          </p:cNvPr>
          <p:cNvSpPr>
            <a:spLocks noGrp="1"/>
          </p:cNvSpPr>
          <p:nvPr/>
        </p:nvSpPr>
        <p:spPr>
          <a:xfrm>
            <a:off x="2423160" y="1143000"/>
            <a:ext cx="2743200" cy="749808"/>
          </a:xfrm>
          <a:prstGeom prst="rect">
            <a:avLst/>
          </a:prstGeom>
          <a:solidFill>
            <a:srgbClr val="0E2A3B"/>
          </a:solidFill>
          <a:ln w="10160">
            <a:solidFill>
              <a:srgbClr val="E9EEF1"/>
            </a:solidFill>
            <a:prstDash val="solid"/>
          </a:ln>
        </p:spPr>
        <p:txBody>
          <a:bodyPr/>
          <a:lstStyle/>
          <a:p>
            <a:endParaRPr/>
          </a:p>
        </p:txBody>
      </p:sp>
      <p:sp>
        <p:nvSpPr>
          <p:cNvPr id="9" name="Text 7">
            <a:extLst>
              <a:ext uri="{FF2B5EF4-FFF2-40B4-BE49-F238E27FC236}">
                <a16:creationId xmlns:a16="http://schemas.microsoft.com/office/drawing/2014/main" id="{0C159AB0-BEFA-4876-93D8-EB4A347C3E49}"/>
              </a:ext>
            </a:extLst>
          </p:cNvPr>
          <p:cNvSpPr>
            <a:spLocks noGrp="1"/>
          </p:cNvSpPr>
          <p:nvPr/>
        </p:nvSpPr>
        <p:spPr>
          <a:xfrm>
            <a:off x="2496312" y="1243584"/>
            <a:ext cx="2596896" cy="585216"/>
          </a:xfrm>
          <a:prstGeom prst="rect">
            <a:avLst/>
          </a:prstGeom>
          <a:noFill/>
        </p:spPr>
        <p:txBody>
          <a:bodyPr wrap="square" lIns="0" tIns="0" rIns="0" bIns="0" anchor="ctr">
            <a:normAutofit/>
          </a:bodyPr>
          <a:lstStyle/>
          <a:p>
            <a:pPr marL="0" indent="0">
              <a:buNone/>
            </a:pPr>
            <a:r>
              <a:rPr sz="1100" b="1">
                <a:solidFill>
                  <a:srgbClr val="FFFFFF"/>
                </a:solidFill>
              </a:rPr>
              <a:t>LLM-supported workflow</a:t>
            </a:r>
            <a:endParaRPr sz="1100"/>
          </a:p>
        </p:txBody>
      </p:sp>
      <p:sp>
        <p:nvSpPr>
          <p:cNvPr id="10" name="Shape 8">
            <a:extLst>
              <a:ext uri="{FF2B5EF4-FFF2-40B4-BE49-F238E27FC236}">
                <a16:creationId xmlns:a16="http://schemas.microsoft.com/office/drawing/2014/main" id="{DEE3DB6D-71D3-463C-B018-85F7F1219F1E}"/>
              </a:ext>
            </a:extLst>
          </p:cNvPr>
          <p:cNvSpPr>
            <a:spLocks noGrp="1"/>
          </p:cNvSpPr>
          <p:nvPr/>
        </p:nvSpPr>
        <p:spPr>
          <a:xfrm>
            <a:off x="5166360" y="1143000"/>
            <a:ext cx="6080760" cy="749808"/>
          </a:xfrm>
          <a:prstGeom prst="rect">
            <a:avLst/>
          </a:prstGeom>
          <a:solidFill>
            <a:srgbClr val="0E2A3B"/>
          </a:solidFill>
          <a:ln w="10160">
            <a:solidFill>
              <a:srgbClr val="E9EEF1"/>
            </a:solidFill>
            <a:prstDash val="solid"/>
          </a:ln>
        </p:spPr>
        <p:txBody>
          <a:bodyPr/>
          <a:lstStyle/>
          <a:p>
            <a:endParaRPr/>
          </a:p>
        </p:txBody>
      </p:sp>
      <p:sp>
        <p:nvSpPr>
          <p:cNvPr id="11" name="Text 9">
            <a:extLst>
              <a:ext uri="{FF2B5EF4-FFF2-40B4-BE49-F238E27FC236}">
                <a16:creationId xmlns:a16="http://schemas.microsoft.com/office/drawing/2014/main" id="{8D95A835-51B1-48AF-816F-2D7B81B8081C}"/>
              </a:ext>
            </a:extLst>
          </p:cNvPr>
          <p:cNvSpPr>
            <a:spLocks noGrp="1"/>
          </p:cNvSpPr>
          <p:nvPr/>
        </p:nvSpPr>
        <p:spPr>
          <a:xfrm>
            <a:off x="5239512" y="1243584"/>
            <a:ext cx="5934456" cy="585216"/>
          </a:xfrm>
          <a:prstGeom prst="rect">
            <a:avLst/>
          </a:prstGeom>
          <a:noFill/>
        </p:spPr>
        <p:txBody>
          <a:bodyPr wrap="square" lIns="0" tIns="0" rIns="0" bIns="0" anchor="ctr">
            <a:normAutofit/>
          </a:bodyPr>
          <a:lstStyle/>
          <a:p>
            <a:pPr marL="0" indent="0">
              <a:buNone/>
            </a:pPr>
            <a:r>
              <a:rPr sz="1100" b="1">
                <a:solidFill>
                  <a:srgbClr val="FFFFFF"/>
                </a:solidFill>
              </a:rPr>
              <a:t>Agentic workflow</a:t>
            </a:r>
            <a:endParaRPr sz="1100"/>
          </a:p>
        </p:txBody>
      </p:sp>
      <p:sp>
        <p:nvSpPr>
          <p:cNvPr id="12" name="Shape 10">
            <a:extLst>
              <a:ext uri="{FF2B5EF4-FFF2-40B4-BE49-F238E27FC236}">
                <a16:creationId xmlns:a16="http://schemas.microsoft.com/office/drawing/2014/main" id="{E9DC6ABF-1E68-47F4-8B55-1E90D630AC2E}"/>
              </a:ext>
            </a:extLst>
          </p:cNvPr>
          <p:cNvSpPr>
            <a:spLocks noGrp="1"/>
          </p:cNvSpPr>
          <p:nvPr/>
        </p:nvSpPr>
        <p:spPr>
          <a:xfrm>
            <a:off x="594360" y="1892808"/>
            <a:ext cx="1828800" cy="749808"/>
          </a:xfrm>
          <a:prstGeom prst="rect">
            <a:avLst/>
          </a:prstGeom>
          <a:solidFill>
            <a:srgbClr val="DCEAF6"/>
          </a:solidFill>
          <a:ln w="10160">
            <a:solidFill>
              <a:srgbClr val="E9EEF1"/>
            </a:solidFill>
            <a:prstDash val="solid"/>
          </a:ln>
        </p:spPr>
        <p:txBody>
          <a:bodyPr/>
          <a:lstStyle/>
          <a:p>
            <a:endParaRPr/>
          </a:p>
        </p:txBody>
      </p:sp>
      <p:sp>
        <p:nvSpPr>
          <p:cNvPr id="13" name="Text 11">
            <a:extLst>
              <a:ext uri="{FF2B5EF4-FFF2-40B4-BE49-F238E27FC236}">
                <a16:creationId xmlns:a16="http://schemas.microsoft.com/office/drawing/2014/main" id="{A41AF40C-674C-41D6-A795-AD1968FD5799}"/>
              </a:ext>
            </a:extLst>
          </p:cNvPr>
          <p:cNvSpPr>
            <a:spLocks noGrp="1"/>
          </p:cNvSpPr>
          <p:nvPr/>
        </p:nvSpPr>
        <p:spPr>
          <a:xfrm>
            <a:off x="667512" y="1993392"/>
            <a:ext cx="1682496" cy="585216"/>
          </a:xfrm>
          <a:prstGeom prst="rect">
            <a:avLst/>
          </a:prstGeom>
          <a:noFill/>
        </p:spPr>
        <p:txBody>
          <a:bodyPr wrap="square" lIns="0" tIns="0" rIns="0" bIns="0" anchor="ctr">
            <a:normAutofit/>
          </a:bodyPr>
          <a:lstStyle/>
          <a:p>
            <a:pPr marL="0" indent="0">
              <a:buNone/>
            </a:pPr>
            <a:r>
              <a:rPr sz="1030" b="1">
                <a:solidFill>
                  <a:srgbClr val="1E2B32"/>
                </a:solidFill>
              </a:rPr>
              <a:t>Elapsed time</a:t>
            </a:r>
            <a:endParaRPr sz="1030"/>
          </a:p>
        </p:txBody>
      </p:sp>
      <p:sp>
        <p:nvSpPr>
          <p:cNvPr id="14" name="Shape 12">
            <a:extLst>
              <a:ext uri="{FF2B5EF4-FFF2-40B4-BE49-F238E27FC236}">
                <a16:creationId xmlns:a16="http://schemas.microsoft.com/office/drawing/2014/main" id="{924E7DEB-D5DA-44BE-8AB9-AE36534BA064}"/>
              </a:ext>
            </a:extLst>
          </p:cNvPr>
          <p:cNvSpPr>
            <a:spLocks noGrp="1"/>
          </p:cNvSpPr>
          <p:nvPr/>
        </p:nvSpPr>
        <p:spPr>
          <a:xfrm>
            <a:off x="2423160" y="1892808"/>
            <a:ext cx="2743200" cy="749808"/>
          </a:xfrm>
          <a:prstGeom prst="rect">
            <a:avLst/>
          </a:prstGeom>
          <a:solidFill>
            <a:srgbClr val="FFFFFF"/>
          </a:solidFill>
          <a:ln w="10160">
            <a:solidFill>
              <a:srgbClr val="E9EEF1"/>
            </a:solidFill>
            <a:prstDash val="solid"/>
          </a:ln>
        </p:spPr>
        <p:txBody>
          <a:bodyPr/>
          <a:lstStyle/>
          <a:p>
            <a:endParaRPr/>
          </a:p>
        </p:txBody>
      </p:sp>
      <p:sp>
        <p:nvSpPr>
          <p:cNvPr id="15" name="Text 13">
            <a:extLst>
              <a:ext uri="{FF2B5EF4-FFF2-40B4-BE49-F238E27FC236}">
                <a16:creationId xmlns:a16="http://schemas.microsoft.com/office/drawing/2014/main" id="{71870DFE-47C0-48D8-AC87-E381F70885E6}"/>
              </a:ext>
            </a:extLst>
          </p:cNvPr>
          <p:cNvSpPr>
            <a:spLocks noGrp="1"/>
          </p:cNvSpPr>
          <p:nvPr/>
        </p:nvSpPr>
        <p:spPr>
          <a:xfrm>
            <a:off x="2496312" y="1993392"/>
            <a:ext cx="2596896" cy="585216"/>
          </a:xfrm>
          <a:prstGeom prst="rect">
            <a:avLst/>
          </a:prstGeom>
          <a:noFill/>
        </p:spPr>
        <p:txBody>
          <a:bodyPr wrap="square" lIns="0" tIns="0" rIns="0" bIns="0" anchor="ctr">
            <a:normAutofit/>
          </a:bodyPr>
          <a:lstStyle/>
          <a:p>
            <a:pPr marL="0" indent="0">
              <a:buNone/>
            </a:pPr>
            <a:r>
              <a:rPr sz="1030">
                <a:solidFill>
                  <a:srgbClr val="1E2B32"/>
                </a:solidFill>
              </a:rPr>
              <a:t>Usually serial; gains come from shorter tasks</a:t>
            </a:r>
            <a:endParaRPr sz="1030"/>
          </a:p>
        </p:txBody>
      </p:sp>
      <p:sp>
        <p:nvSpPr>
          <p:cNvPr id="16" name="Shape 14">
            <a:extLst>
              <a:ext uri="{FF2B5EF4-FFF2-40B4-BE49-F238E27FC236}">
                <a16:creationId xmlns:a16="http://schemas.microsoft.com/office/drawing/2014/main" id="{0302C091-1B2E-4972-8698-15FAC8AD7BB0}"/>
              </a:ext>
            </a:extLst>
          </p:cNvPr>
          <p:cNvSpPr>
            <a:spLocks noGrp="1"/>
          </p:cNvSpPr>
          <p:nvPr/>
        </p:nvSpPr>
        <p:spPr>
          <a:xfrm>
            <a:off x="5166360" y="1892808"/>
            <a:ext cx="6080760" cy="749808"/>
          </a:xfrm>
          <a:prstGeom prst="rect">
            <a:avLst/>
          </a:prstGeom>
          <a:solidFill>
            <a:srgbClr val="FFFFFF"/>
          </a:solidFill>
          <a:ln w="10160">
            <a:solidFill>
              <a:srgbClr val="E9EEF1"/>
            </a:solidFill>
            <a:prstDash val="solid"/>
          </a:ln>
        </p:spPr>
        <p:txBody>
          <a:bodyPr/>
          <a:lstStyle/>
          <a:p>
            <a:endParaRPr/>
          </a:p>
        </p:txBody>
      </p:sp>
      <p:sp>
        <p:nvSpPr>
          <p:cNvPr id="17" name="Text 15">
            <a:extLst>
              <a:ext uri="{FF2B5EF4-FFF2-40B4-BE49-F238E27FC236}">
                <a16:creationId xmlns:a16="http://schemas.microsoft.com/office/drawing/2014/main" id="{FFD534A9-3948-4ACE-8888-5210D0102F0C}"/>
              </a:ext>
            </a:extLst>
          </p:cNvPr>
          <p:cNvSpPr>
            <a:spLocks noGrp="1"/>
          </p:cNvSpPr>
          <p:nvPr/>
        </p:nvSpPr>
        <p:spPr>
          <a:xfrm>
            <a:off x="5239512" y="1993392"/>
            <a:ext cx="5934456" cy="585216"/>
          </a:xfrm>
          <a:prstGeom prst="rect">
            <a:avLst/>
          </a:prstGeom>
          <a:noFill/>
        </p:spPr>
        <p:txBody>
          <a:bodyPr wrap="square" lIns="0" tIns="0" rIns="0" bIns="0" anchor="ctr">
            <a:normAutofit/>
          </a:bodyPr>
          <a:lstStyle/>
          <a:p>
            <a:pPr marL="0" indent="0">
              <a:buNone/>
            </a:pPr>
            <a:r>
              <a:rPr sz="1030">
                <a:solidFill>
                  <a:srgbClr val="1E2B32"/>
                </a:solidFill>
              </a:rPr>
              <a:t>Concurrency can help; integration may offset it</a:t>
            </a:r>
            <a:endParaRPr sz="1030"/>
          </a:p>
        </p:txBody>
      </p:sp>
      <p:sp>
        <p:nvSpPr>
          <p:cNvPr id="18" name="Shape 16">
            <a:extLst>
              <a:ext uri="{FF2B5EF4-FFF2-40B4-BE49-F238E27FC236}">
                <a16:creationId xmlns:a16="http://schemas.microsoft.com/office/drawing/2014/main" id="{403DAE81-7C93-4AB2-9A50-DA2C40AA4875}"/>
              </a:ext>
            </a:extLst>
          </p:cNvPr>
          <p:cNvSpPr>
            <a:spLocks noGrp="1"/>
          </p:cNvSpPr>
          <p:nvPr/>
        </p:nvSpPr>
        <p:spPr>
          <a:xfrm>
            <a:off x="594360" y="2642616"/>
            <a:ext cx="1828800" cy="749808"/>
          </a:xfrm>
          <a:prstGeom prst="rect">
            <a:avLst/>
          </a:prstGeom>
          <a:solidFill>
            <a:srgbClr val="DCEAF6"/>
          </a:solidFill>
          <a:ln w="10160">
            <a:solidFill>
              <a:srgbClr val="E9EEF1"/>
            </a:solidFill>
            <a:prstDash val="solid"/>
          </a:ln>
        </p:spPr>
        <p:txBody>
          <a:bodyPr/>
          <a:lstStyle/>
          <a:p>
            <a:endParaRPr/>
          </a:p>
        </p:txBody>
      </p:sp>
      <p:sp>
        <p:nvSpPr>
          <p:cNvPr id="19" name="Text 17">
            <a:extLst>
              <a:ext uri="{FF2B5EF4-FFF2-40B4-BE49-F238E27FC236}">
                <a16:creationId xmlns:a16="http://schemas.microsoft.com/office/drawing/2014/main" id="{4A43989E-0749-438F-84D7-C2A67FAA0A2A}"/>
              </a:ext>
            </a:extLst>
          </p:cNvPr>
          <p:cNvSpPr>
            <a:spLocks noGrp="1"/>
          </p:cNvSpPr>
          <p:nvPr/>
        </p:nvSpPr>
        <p:spPr>
          <a:xfrm>
            <a:off x="667512" y="2743200"/>
            <a:ext cx="1682496" cy="585216"/>
          </a:xfrm>
          <a:prstGeom prst="rect">
            <a:avLst/>
          </a:prstGeom>
          <a:noFill/>
        </p:spPr>
        <p:txBody>
          <a:bodyPr wrap="square" lIns="0" tIns="0" rIns="0" bIns="0" anchor="ctr">
            <a:normAutofit/>
          </a:bodyPr>
          <a:lstStyle/>
          <a:p>
            <a:pPr marL="0" indent="0">
              <a:buNone/>
            </a:pPr>
            <a:r>
              <a:rPr sz="1030" b="1">
                <a:solidFill>
                  <a:srgbClr val="1E2B32"/>
                </a:solidFill>
              </a:rPr>
              <a:t>Engineering effort</a:t>
            </a:r>
            <a:endParaRPr sz="1030"/>
          </a:p>
        </p:txBody>
      </p:sp>
      <p:sp>
        <p:nvSpPr>
          <p:cNvPr id="20" name="Shape 18">
            <a:extLst>
              <a:ext uri="{FF2B5EF4-FFF2-40B4-BE49-F238E27FC236}">
                <a16:creationId xmlns:a16="http://schemas.microsoft.com/office/drawing/2014/main" id="{7414032B-C0F4-43D6-8211-E185E5065BFC}"/>
              </a:ext>
            </a:extLst>
          </p:cNvPr>
          <p:cNvSpPr>
            <a:spLocks noGrp="1"/>
          </p:cNvSpPr>
          <p:nvPr/>
        </p:nvSpPr>
        <p:spPr>
          <a:xfrm>
            <a:off x="2423160" y="2642616"/>
            <a:ext cx="2743200" cy="749808"/>
          </a:xfrm>
          <a:prstGeom prst="rect">
            <a:avLst/>
          </a:prstGeom>
          <a:solidFill>
            <a:srgbClr val="FFFFFF"/>
          </a:solidFill>
          <a:ln w="10160">
            <a:solidFill>
              <a:srgbClr val="E9EEF1"/>
            </a:solidFill>
            <a:prstDash val="solid"/>
          </a:ln>
        </p:spPr>
        <p:txBody>
          <a:bodyPr/>
          <a:lstStyle/>
          <a:p>
            <a:endParaRPr/>
          </a:p>
        </p:txBody>
      </p:sp>
      <p:sp>
        <p:nvSpPr>
          <p:cNvPr id="21" name="Text 19">
            <a:extLst>
              <a:ext uri="{FF2B5EF4-FFF2-40B4-BE49-F238E27FC236}">
                <a16:creationId xmlns:a16="http://schemas.microsoft.com/office/drawing/2014/main" id="{03AD3DF3-1E5B-4173-89E6-B1A8DB24D0C6}"/>
              </a:ext>
            </a:extLst>
          </p:cNvPr>
          <p:cNvSpPr>
            <a:spLocks noGrp="1"/>
          </p:cNvSpPr>
          <p:nvPr/>
        </p:nvSpPr>
        <p:spPr>
          <a:xfrm>
            <a:off x="2496312" y="2743200"/>
            <a:ext cx="2596896" cy="585216"/>
          </a:xfrm>
          <a:prstGeom prst="rect">
            <a:avLst/>
          </a:prstGeom>
          <a:noFill/>
        </p:spPr>
        <p:txBody>
          <a:bodyPr wrap="square" lIns="0" tIns="0" rIns="0" bIns="0" anchor="ctr">
            <a:normAutofit/>
          </a:bodyPr>
          <a:lstStyle/>
          <a:p>
            <a:pPr marL="0" indent="0">
              <a:buNone/>
            </a:pPr>
            <a:r>
              <a:rPr sz="1030">
                <a:solidFill>
                  <a:srgbClr val="1E2B32"/>
                </a:solidFill>
              </a:rPr>
              <a:t>Prompting, review and rework</a:t>
            </a:r>
            <a:endParaRPr sz="1030"/>
          </a:p>
        </p:txBody>
      </p:sp>
      <p:sp>
        <p:nvSpPr>
          <p:cNvPr id="22" name="Shape 20">
            <a:extLst>
              <a:ext uri="{FF2B5EF4-FFF2-40B4-BE49-F238E27FC236}">
                <a16:creationId xmlns:a16="http://schemas.microsoft.com/office/drawing/2014/main" id="{8A1CBC6B-4B3F-4A8E-B9D7-2C267F294A5F}"/>
              </a:ext>
            </a:extLst>
          </p:cNvPr>
          <p:cNvSpPr>
            <a:spLocks noGrp="1"/>
          </p:cNvSpPr>
          <p:nvPr/>
        </p:nvSpPr>
        <p:spPr>
          <a:xfrm>
            <a:off x="5166360" y="2642616"/>
            <a:ext cx="6080760" cy="749808"/>
          </a:xfrm>
          <a:prstGeom prst="rect">
            <a:avLst/>
          </a:prstGeom>
          <a:solidFill>
            <a:srgbClr val="FFFFFF"/>
          </a:solidFill>
          <a:ln w="10160">
            <a:solidFill>
              <a:srgbClr val="E9EEF1"/>
            </a:solidFill>
            <a:prstDash val="solid"/>
          </a:ln>
        </p:spPr>
        <p:txBody>
          <a:bodyPr/>
          <a:lstStyle/>
          <a:p>
            <a:endParaRPr/>
          </a:p>
        </p:txBody>
      </p:sp>
      <p:sp>
        <p:nvSpPr>
          <p:cNvPr id="23" name="Text 21">
            <a:extLst>
              <a:ext uri="{FF2B5EF4-FFF2-40B4-BE49-F238E27FC236}">
                <a16:creationId xmlns:a16="http://schemas.microsoft.com/office/drawing/2014/main" id="{D69772E5-10BB-4691-A7D9-B01516D7C79D}"/>
              </a:ext>
            </a:extLst>
          </p:cNvPr>
          <p:cNvSpPr>
            <a:spLocks noGrp="1"/>
          </p:cNvSpPr>
          <p:nvPr/>
        </p:nvSpPr>
        <p:spPr>
          <a:xfrm>
            <a:off x="5239512" y="2743200"/>
            <a:ext cx="5934456" cy="585216"/>
          </a:xfrm>
          <a:prstGeom prst="rect">
            <a:avLst/>
          </a:prstGeom>
          <a:noFill/>
        </p:spPr>
        <p:txBody>
          <a:bodyPr wrap="square" lIns="0" tIns="0" rIns="0" bIns="0" anchor="ctr">
            <a:normAutofit/>
          </a:bodyPr>
          <a:lstStyle/>
          <a:p>
            <a:pPr marL="0" indent="0">
              <a:buNone/>
            </a:pPr>
            <a:r>
              <a:rPr sz="1030">
                <a:solidFill>
                  <a:srgbClr val="1E2B32"/>
                </a:solidFill>
              </a:rPr>
              <a:t>Orchestration, supervision, integration and recovery</a:t>
            </a:r>
            <a:endParaRPr sz="1030"/>
          </a:p>
        </p:txBody>
      </p:sp>
      <p:sp>
        <p:nvSpPr>
          <p:cNvPr id="24" name="Shape 22">
            <a:extLst>
              <a:ext uri="{FF2B5EF4-FFF2-40B4-BE49-F238E27FC236}">
                <a16:creationId xmlns:a16="http://schemas.microsoft.com/office/drawing/2014/main" id="{F3A4B4C5-DB63-4538-BA84-D7089A6B5190}"/>
              </a:ext>
            </a:extLst>
          </p:cNvPr>
          <p:cNvSpPr>
            <a:spLocks noGrp="1"/>
          </p:cNvSpPr>
          <p:nvPr/>
        </p:nvSpPr>
        <p:spPr>
          <a:xfrm>
            <a:off x="594360" y="3392424"/>
            <a:ext cx="1828800" cy="749808"/>
          </a:xfrm>
          <a:prstGeom prst="rect">
            <a:avLst/>
          </a:prstGeom>
          <a:solidFill>
            <a:srgbClr val="DCEAF6"/>
          </a:solidFill>
          <a:ln w="10160">
            <a:solidFill>
              <a:srgbClr val="E9EEF1"/>
            </a:solidFill>
            <a:prstDash val="solid"/>
          </a:ln>
        </p:spPr>
        <p:txBody>
          <a:bodyPr/>
          <a:lstStyle/>
          <a:p>
            <a:endParaRPr/>
          </a:p>
        </p:txBody>
      </p:sp>
      <p:sp>
        <p:nvSpPr>
          <p:cNvPr id="25" name="Text 23">
            <a:extLst>
              <a:ext uri="{FF2B5EF4-FFF2-40B4-BE49-F238E27FC236}">
                <a16:creationId xmlns:a16="http://schemas.microsoft.com/office/drawing/2014/main" id="{A1604726-770E-42C9-B63B-D15A683FE3D5}"/>
              </a:ext>
            </a:extLst>
          </p:cNvPr>
          <p:cNvSpPr>
            <a:spLocks noGrp="1"/>
          </p:cNvSpPr>
          <p:nvPr/>
        </p:nvSpPr>
        <p:spPr>
          <a:xfrm>
            <a:off x="667512" y="3493008"/>
            <a:ext cx="1682496" cy="585216"/>
          </a:xfrm>
          <a:prstGeom prst="rect">
            <a:avLst/>
          </a:prstGeom>
          <a:noFill/>
        </p:spPr>
        <p:txBody>
          <a:bodyPr wrap="square" lIns="0" tIns="0" rIns="0" bIns="0" anchor="ctr">
            <a:normAutofit/>
          </a:bodyPr>
          <a:lstStyle/>
          <a:p>
            <a:pPr marL="0" indent="0">
              <a:buNone/>
            </a:pPr>
            <a:r>
              <a:rPr sz="1030" b="1">
                <a:solidFill>
                  <a:srgbClr val="1E2B32"/>
                </a:solidFill>
              </a:rPr>
              <a:t>Quality</a:t>
            </a:r>
            <a:endParaRPr sz="1030"/>
          </a:p>
        </p:txBody>
      </p:sp>
      <p:sp>
        <p:nvSpPr>
          <p:cNvPr id="26" name="Shape 24">
            <a:extLst>
              <a:ext uri="{FF2B5EF4-FFF2-40B4-BE49-F238E27FC236}">
                <a16:creationId xmlns:a16="http://schemas.microsoft.com/office/drawing/2014/main" id="{CB414EC1-3388-49E0-A7A9-8A5299BA9287}"/>
              </a:ext>
            </a:extLst>
          </p:cNvPr>
          <p:cNvSpPr>
            <a:spLocks noGrp="1"/>
          </p:cNvSpPr>
          <p:nvPr/>
        </p:nvSpPr>
        <p:spPr>
          <a:xfrm>
            <a:off x="2423160" y="3392424"/>
            <a:ext cx="2743200" cy="749808"/>
          </a:xfrm>
          <a:prstGeom prst="rect">
            <a:avLst/>
          </a:prstGeom>
          <a:solidFill>
            <a:srgbClr val="FFFFFF"/>
          </a:solidFill>
          <a:ln w="10160">
            <a:solidFill>
              <a:srgbClr val="E9EEF1"/>
            </a:solidFill>
            <a:prstDash val="solid"/>
          </a:ln>
        </p:spPr>
        <p:txBody>
          <a:bodyPr/>
          <a:lstStyle/>
          <a:p>
            <a:endParaRPr/>
          </a:p>
        </p:txBody>
      </p:sp>
      <p:sp>
        <p:nvSpPr>
          <p:cNvPr id="27" name="Text 25">
            <a:extLst>
              <a:ext uri="{FF2B5EF4-FFF2-40B4-BE49-F238E27FC236}">
                <a16:creationId xmlns:a16="http://schemas.microsoft.com/office/drawing/2014/main" id="{ED25EF19-5389-46CE-BFC9-CBFE893A9E0C}"/>
              </a:ext>
            </a:extLst>
          </p:cNvPr>
          <p:cNvSpPr>
            <a:spLocks noGrp="1"/>
          </p:cNvSpPr>
          <p:nvPr/>
        </p:nvSpPr>
        <p:spPr>
          <a:xfrm>
            <a:off x="2496312" y="3493008"/>
            <a:ext cx="2596896" cy="585216"/>
          </a:xfrm>
          <a:prstGeom prst="rect">
            <a:avLst/>
          </a:prstGeom>
          <a:noFill/>
        </p:spPr>
        <p:txBody>
          <a:bodyPr wrap="square" lIns="0" tIns="0" rIns="0" bIns="0" anchor="ctr">
            <a:normAutofit/>
          </a:bodyPr>
          <a:lstStyle/>
          <a:p>
            <a:pPr marL="0" indent="0">
              <a:buNone/>
            </a:pPr>
            <a:r>
              <a:rPr sz="1030">
                <a:solidFill>
                  <a:srgbClr val="1E2B32"/>
                </a:solidFill>
              </a:rPr>
              <a:t>Defects found during human review</a:t>
            </a:r>
            <a:endParaRPr sz="1030"/>
          </a:p>
        </p:txBody>
      </p:sp>
      <p:sp>
        <p:nvSpPr>
          <p:cNvPr id="28" name="Shape 26">
            <a:extLst>
              <a:ext uri="{FF2B5EF4-FFF2-40B4-BE49-F238E27FC236}">
                <a16:creationId xmlns:a16="http://schemas.microsoft.com/office/drawing/2014/main" id="{E0A21136-6701-4F36-9D99-599D3505C570}"/>
              </a:ext>
            </a:extLst>
          </p:cNvPr>
          <p:cNvSpPr>
            <a:spLocks noGrp="1"/>
          </p:cNvSpPr>
          <p:nvPr/>
        </p:nvSpPr>
        <p:spPr>
          <a:xfrm>
            <a:off x="5166360" y="3392424"/>
            <a:ext cx="6080760" cy="749808"/>
          </a:xfrm>
          <a:prstGeom prst="rect">
            <a:avLst/>
          </a:prstGeom>
          <a:solidFill>
            <a:srgbClr val="FFFFFF"/>
          </a:solidFill>
          <a:ln w="10160">
            <a:solidFill>
              <a:srgbClr val="E9EEF1"/>
            </a:solidFill>
            <a:prstDash val="solid"/>
          </a:ln>
        </p:spPr>
        <p:txBody>
          <a:bodyPr/>
          <a:lstStyle/>
          <a:p>
            <a:endParaRPr/>
          </a:p>
        </p:txBody>
      </p:sp>
      <p:sp>
        <p:nvSpPr>
          <p:cNvPr id="29" name="Text 27">
            <a:extLst>
              <a:ext uri="{FF2B5EF4-FFF2-40B4-BE49-F238E27FC236}">
                <a16:creationId xmlns:a16="http://schemas.microsoft.com/office/drawing/2014/main" id="{97CA0854-3484-4C24-81F8-BC5CB71B5671}"/>
              </a:ext>
            </a:extLst>
          </p:cNvPr>
          <p:cNvSpPr>
            <a:spLocks noGrp="1"/>
          </p:cNvSpPr>
          <p:nvPr/>
        </p:nvSpPr>
        <p:spPr>
          <a:xfrm>
            <a:off x="5239512" y="3493008"/>
            <a:ext cx="5934456" cy="585216"/>
          </a:xfrm>
          <a:prstGeom prst="rect">
            <a:avLst/>
          </a:prstGeom>
          <a:noFill/>
        </p:spPr>
        <p:txBody>
          <a:bodyPr wrap="square" lIns="0" tIns="0" rIns="0" bIns="0" anchor="ctr">
            <a:normAutofit/>
          </a:bodyPr>
          <a:lstStyle/>
          <a:p>
            <a:pPr marL="0" indent="0">
              <a:buNone/>
            </a:pPr>
            <a:r>
              <a:rPr sz="1030">
                <a:solidFill>
                  <a:srgbClr val="1E2B32"/>
                </a:solidFill>
              </a:rPr>
              <a:t>Cross-agent errors can propagate before review</a:t>
            </a:r>
            <a:endParaRPr sz="1030"/>
          </a:p>
        </p:txBody>
      </p:sp>
      <p:sp>
        <p:nvSpPr>
          <p:cNvPr id="30" name="Shape 28">
            <a:extLst>
              <a:ext uri="{FF2B5EF4-FFF2-40B4-BE49-F238E27FC236}">
                <a16:creationId xmlns:a16="http://schemas.microsoft.com/office/drawing/2014/main" id="{B48CD4A1-E760-4B8A-9BDC-A7792A96423E}"/>
              </a:ext>
            </a:extLst>
          </p:cNvPr>
          <p:cNvSpPr>
            <a:spLocks noGrp="1"/>
          </p:cNvSpPr>
          <p:nvPr/>
        </p:nvSpPr>
        <p:spPr>
          <a:xfrm>
            <a:off x="594360" y="4142232"/>
            <a:ext cx="1828800" cy="749808"/>
          </a:xfrm>
          <a:prstGeom prst="rect">
            <a:avLst/>
          </a:prstGeom>
          <a:solidFill>
            <a:srgbClr val="DCEAF6"/>
          </a:solidFill>
          <a:ln w="10160">
            <a:solidFill>
              <a:srgbClr val="E9EEF1"/>
            </a:solidFill>
            <a:prstDash val="solid"/>
          </a:ln>
        </p:spPr>
        <p:txBody>
          <a:bodyPr/>
          <a:lstStyle/>
          <a:p>
            <a:endParaRPr/>
          </a:p>
        </p:txBody>
      </p:sp>
      <p:sp>
        <p:nvSpPr>
          <p:cNvPr id="31" name="Text 29">
            <a:extLst>
              <a:ext uri="{FF2B5EF4-FFF2-40B4-BE49-F238E27FC236}">
                <a16:creationId xmlns:a16="http://schemas.microsoft.com/office/drawing/2014/main" id="{26450A05-9361-4341-8B48-818DA58EB63C}"/>
              </a:ext>
            </a:extLst>
          </p:cNvPr>
          <p:cNvSpPr>
            <a:spLocks noGrp="1"/>
          </p:cNvSpPr>
          <p:nvPr/>
        </p:nvSpPr>
        <p:spPr>
          <a:xfrm>
            <a:off x="667512" y="4242816"/>
            <a:ext cx="1682496" cy="585216"/>
          </a:xfrm>
          <a:prstGeom prst="rect">
            <a:avLst/>
          </a:prstGeom>
          <a:noFill/>
        </p:spPr>
        <p:txBody>
          <a:bodyPr wrap="square" lIns="0" tIns="0" rIns="0" bIns="0" anchor="ctr">
            <a:normAutofit/>
          </a:bodyPr>
          <a:lstStyle/>
          <a:p>
            <a:pPr marL="0" indent="0">
              <a:buNone/>
            </a:pPr>
            <a:r>
              <a:rPr sz="1030" b="1">
                <a:solidFill>
                  <a:srgbClr val="1E2B32"/>
                </a:solidFill>
              </a:rPr>
              <a:t>Evidence</a:t>
            </a:r>
            <a:endParaRPr sz="1030"/>
          </a:p>
        </p:txBody>
      </p:sp>
      <p:sp>
        <p:nvSpPr>
          <p:cNvPr id="32" name="Shape 30">
            <a:extLst>
              <a:ext uri="{FF2B5EF4-FFF2-40B4-BE49-F238E27FC236}">
                <a16:creationId xmlns:a16="http://schemas.microsoft.com/office/drawing/2014/main" id="{4A2C3A72-52DE-4EC0-844D-C9961CB1274D}"/>
              </a:ext>
            </a:extLst>
          </p:cNvPr>
          <p:cNvSpPr>
            <a:spLocks noGrp="1"/>
          </p:cNvSpPr>
          <p:nvPr/>
        </p:nvSpPr>
        <p:spPr>
          <a:xfrm>
            <a:off x="2423160" y="4142232"/>
            <a:ext cx="2743200" cy="749808"/>
          </a:xfrm>
          <a:prstGeom prst="rect">
            <a:avLst/>
          </a:prstGeom>
          <a:solidFill>
            <a:srgbClr val="FFFFFF"/>
          </a:solidFill>
          <a:ln w="10160">
            <a:solidFill>
              <a:srgbClr val="E9EEF1"/>
            </a:solidFill>
            <a:prstDash val="solid"/>
          </a:ln>
        </p:spPr>
        <p:txBody>
          <a:bodyPr/>
          <a:lstStyle/>
          <a:p>
            <a:endParaRPr/>
          </a:p>
        </p:txBody>
      </p:sp>
      <p:sp>
        <p:nvSpPr>
          <p:cNvPr id="33" name="Text 31">
            <a:extLst>
              <a:ext uri="{FF2B5EF4-FFF2-40B4-BE49-F238E27FC236}">
                <a16:creationId xmlns:a16="http://schemas.microsoft.com/office/drawing/2014/main" id="{998B650B-0E8F-4DA3-891A-08EFA90C9EAA}"/>
              </a:ext>
            </a:extLst>
          </p:cNvPr>
          <p:cNvSpPr>
            <a:spLocks noGrp="1"/>
          </p:cNvSpPr>
          <p:nvPr/>
        </p:nvSpPr>
        <p:spPr>
          <a:xfrm>
            <a:off x="2496312" y="4242816"/>
            <a:ext cx="2596896" cy="585216"/>
          </a:xfrm>
          <a:prstGeom prst="rect">
            <a:avLst/>
          </a:prstGeom>
          <a:noFill/>
        </p:spPr>
        <p:txBody>
          <a:bodyPr wrap="square" lIns="0" tIns="0" rIns="0" bIns="0" anchor="ctr">
            <a:normAutofit/>
          </a:bodyPr>
          <a:lstStyle/>
          <a:p>
            <a:pPr marL="0" indent="0">
              <a:buNone/>
            </a:pPr>
            <a:r>
              <a:rPr sz="1030">
                <a:solidFill>
                  <a:srgbClr val="1E2B32"/>
                </a:solidFill>
              </a:rPr>
              <a:t>Prompt, source, output and acceptance trace</a:t>
            </a:r>
            <a:endParaRPr sz="1030"/>
          </a:p>
        </p:txBody>
      </p:sp>
      <p:sp>
        <p:nvSpPr>
          <p:cNvPr id="34" name="Shape 32">
            <a:extLst>
              <a:ext uri="{FF2B5EF4-FFF2-40B4-BE49-F238E27FC236}">
                <a16:creationId xmlns:a16="http://schemas.microsoft.com/office/drawing/2014/main" id="{E5415118-9DF6-4A99-BF64-13DF598CA631}"/>
              </a:ext>
            </a:extLst>
          </p:cNvPr>
          <p:cNvSpPr>
            <a:spLocks noGrp="1"/>
          </p:cNvSpPr>
          <p:nvPr/>
        </p:nvSpPr>
        <p:spPr>
          <a:xfrm>
            <a:off x="5166360" y="4142232"/>
            <a:ext cx="6080760" cy="749808"/>
          </a:xfrm>
          <a:prstGeom prst="rect">
            <a:avLst/>
          </a:prstGeom>
          <a:solidFill>
            <a:srgbClr val="FFFFFF"/>
          </a:solidFill>
          <a:ln w="10160">
            <a:solidFill>
              <a:srgbClr val="E9EEF1"/>
            </a:solidFill>
            <a:prstDash val="solid"/>
          </a:ln>
        </p:spPr>
        <p:txBody>
          <a:bodyPr/>
          <a:lstStyle/>
          <a:p>
            <a:endParaRPr/>
          </a:p>
        </p:txBody>
      </p:sp>
      <p:sp>
        <p:nvSpPr>
          <p:cNvPr id="35" name="Text 33">
            <a:extLst>
              <a:ext uri="{FF2B5EF4-FFF2-40B4-BE49-F238E27FC236}">
                <a16:creationId xmlns:a16="http://schemas.microsoft.com/office/drawing/2014/main" id="{A835C01B-B10B-42F4-9B64-E58CEFB126C8}"/>
              </a:ext>
            </a:extLst>
          </p:cNvPr>
          <p:cNvSpPr>
            <a:spLocks noGrp="1"/>
          </p:cNvSpPr>
          <p:nvPr/>
        </p:nvSpPr>
        <p:spPr>
          <a:xfrm>
            <a:off x="5239512" y="4242816"/>
            <a:ext cx="5934456" cy="585216"/>
          </a:xfrm>
          <a:prstGeom prst="rect">
            <a:avLst/>
          </a:prstGeom>
          <a:noFill/>
        </p:spPr>
        <p:txBody>
          <a:bodyPr wrap="square" lIns="0" tIns="0" rIns="0" bIns="0" anchor="ctr">
            <a:normAutofit/>
          </a:bodyPr>
          <a:lstStyle/>
          <a:p>
            <a:pPr marL="0" indent="0">
              <a:buNone/>
            </a:pPr>
            <a:r>
              <a:rPr sz="1030">
                <a:solidFill>
                  <a:srgbClr val="1E2B32"/>
                </a:solidFill>
              </a:rPr>
              <a:t>Action/tool trace plus every agent configuration</a:t>
            </a:r>
            <a:endParaRPr sz="1030"/>
          </a:p>
        </p:txBody>
      </p:sp>
      <p:sp>
        <p:nvSpPr>
          <p:cNvPr id="36" name="Shape 34">
            <a:extLst>
              <a:ext uri="{FF2B5EF4-FFF2-40B4-BE49-F238E27FC236}">
                <a16:creationId xmlns:a16="http://schemas.microsoft.com/office/drawing/2014/main" id="{540E0B1C-7596-4580-BEED-61175AC28FC9}"/>
              </a:ext>
            </a:extLst>
          </p:cNvPr>
          <p:cNvSpPr>
            <a:spLocks noGrp="1"/>
          </p:cNvSpPr>
          <p:nvPr/>
        </p:nvSpPr>
        <p:spPr>
          <a:xfrm>
            <a:off x="594360" y="4892040"/>
            <a:ext cx="1828800" cy="749808"/>
          </a:xfrm>
          <a:prstGeom prst="rect">
            <a:avLst/>
          </a:prstGeom>
          <a:solidFill>
            <a:srgbClr val="DCEAF6"/>
          </a:solidFill>
          <a:ln w="10160">
            <a:solidFill>
              <a:srgbClr val="E9EEF1"/>
            </a:solidFill>
            <a:prstDash val="solid"/>
          </a:ln>
        </p:spPr>
        <p:txBody>
          <a:bodyPr/>
          <a:lstStyle/>
          <a:p>
            <a:endParaRPr/>
          </a:p>
        </p:txBody>
      </p:sp>
      <p:sp>
        <p:nvSpPr>
          <p:cNvPr id="37" name="Text 35">
            <a:extLst>
              <a:ext uri="{FF2B5EF4-FFF2-40B4-BE49-F238E27FC236}">
                <a16:creationId xmlns:a16="http://schemas.microsoft.com/office/drawing/2014/main" id="{C539A0BF-5256-47B6-87EE-30C3D4C9E910}"/>
              </a:ext>
            </a:extLst>
          </p:cNvPr>
          <p:cNvSpPr>
            <a:spLocks noGrp="1"/>
          </p:cNvSpPr>
          <p:nvPr/>
        </p:nvSpPr>
        <p:spPr>
          <a:xfrm>
            <a:off x="667512" y="4992624"/>
            <a:ext cx="1682496" cy="585216"/>
          </a:xfrm>
          <a:prstGeom prst="rect">
            <a:avLst/>
          </a:prstGeom>
          <a:noFill/>
        </p:spPr>
        <p:txBody>
          <a:bodyPr wrap="square" lIns="0" tIns="0" rIns="0" bIns="0" anchor="ctr">
            <a:normAutofit/>
          </a:bodyPr>
          <a:lstStyle/>
          <a:p>
            <a:pPr marL="0" indent="0">
              <a:buNone/>
            </a:pPr>
            <a:r>
              <a:rPr sz="1030" b="1">
                <a:solidFill>
                  <a:srgbClr val="1E2B32"/>
                </a:solidFill>
              </a:rPr>
              <a:t>Decision</a:t>
            </a:r>
            <a:endParaRPr sz="1030"/>
          </a:p>
        </p:txBody>
      </p:sp>
      <p:sp>
        <p:nvSpPr>
          <p:cNvPr id="38" name="Shape 36">
            <a:extLst>
              <a:ext uri="{FF2B5EF4-FFF2-40B4-BE49-F238E27FC236}">
                <a16:creationId xmlns:a16="http://schemas.microsoft.com/office/drawing/2014/main" id="{D387C498-16D0-4ED7-BA85-A18F8E2B2B56}"/>
              </a:ext>
            </a:extLst>
          </p:cNvPr>
          <p:cNvSpPr>
            <a:spLocks noGrp="1"/>
          </p:cNvSpPr>
          <p:nvPr/>
        </p:nvSpPr>
        <p:spPr>
          <a:xfrm>
            <a:off x="2423160" y="4892040"/>
            <a:ext cx="2743200" cy="749808"/>
          </a:xfrm>
          <a:prstGeom prst="rect">
            <a:avLst/>
          </a:prstGeom>
          <a:solidFill>
            <a:srgbClr val="FFFFFF"/>
          </a:solidFill>
          <a:ln w="10160">
            <a:solidFill>
              <a:srgbClr val="E9EEF1"/>
            </a:solidFill>
            <a:prstDash val="solid"/>
          </a:ln>
        </p:spPr>
        <p:txBody>
          <a:bodyPr/>
          <a:lstStyle/>
          <a:p>
            <a:endParaRPr/>
          </a:p>
        </p:txBody>
      </p:sp>
      <p:sp>
        <p:nvSpPr>
          <p:cNvPr id="39" name="Text 37">
            <a:extLst>
              <a:ext uri="{FF2B5EF4-FFF2-40B4-BE49-F238E27FC236}">
                <a16:creationId xmlns:a16="http://schemas.microsoft.com/office/drawing/2014/main" id="{E81C47F6-F410-4245-BDF8-6F0BF1F65529}"/>
              </a:ext>
            </a:extLst>
          </p:cNvPr>
          <p:cNvSpPr>
            <a:spLocks noGrp="1"/>
          </p:cNvSpPr>
          <p:nvPr/>
        </p:nvSpPr>
        <p:spPr>
          <a:xfrm>
            <a:off x="2496312" y="4992624"/>
            <a:ext cx="2596896" cy="585216"/>
          </a:xfrm>
          <a:prstGeom prst="rect">
            <a:avLst/>
          </a:prstGeom>
          <a:noFill/>
        </p:spPr>
        <p:txBody>
          <a:bodyPr wrap="square" lIns="0" tIns="0" rIns="0" bIns="0" anchor="ctr">
            <a:normAutofit/>
          </a:bodyPr>
          <a:lstStyle/>
          <a:p>
            <a:pPr marL="0" indent="0">
              <a:buNone/>
            </a:pPr>
            <a:r>
              <a:rPr sz="1030">
                <a:solidFill>
                  <a:srgbClr val="1E2B32"/>
                </a:solidFill>
              </a:rPr>
              <a:t>Adopt where benefit exceeds review cost</a:t>
            </a:r>
            <a:endParaRPr sz="1030"/>
          </a:p>
        </p:txBody>
      </p:sp>
      <p:sp>
        <p:nvSpPr>
          <p:cNvPr id="40" name="Shape 38">
            <a:extLst>
              <a:ext uri="{FF2B5EF4-FFF2-40B4-BE49-F238E27FC236}">
                <a16:creationId xmlns:a16="http://schemas.microsoft.com/office/drawing/2014/main" id="{49425901-4304-41CF-9D6A-EC3867882313}"/>
              </a:ext>
            </a:extLst>
          </p:cNvPr>
          <p:cNvSpPr>
            <a:spLocks noGrp="1"/>
          </p:cNvSpPr>
          <p:nvPr/>
        </p:nvSpPr>
        <p:spPr>
          <a:xfrm>
            <a:off x="5166360" y="4892040"/>
            <a:ext cx="6080760" cy="749808"/>
          </a:xfrm>
          <a:prstGeom prst="rect">
            <a:avLst/>
          </a:prstGeom>
          <a:solidFill>
            <a:srgbClr val="FFFFFF"/>
          </a:solidFill>
          <a:ln w="10160">
            <a:solidFill>
              <a:srgbClr val="E9EEF1"/>
            </a:solidFill>
            <a:prstDash val="solid"/>
          </a:ln>
        </p:spPr>
        <p:txBody>
          <a:bodyPr/>
          <a:lstStyle/>
          <a:p>
            <a:endParaRPr/>
          </a:p>
        </p:txBody>
      </p:sp>
      <p:sp>
        <p:nvSpPr>
          <p:cNvPr id="41" name="Text 39">
            <a:extLst>
              <a:ext uri="{FF2B5EF4-FFF2-40B4-BE49-F238E27FC236}">
                <a16:creationId xmlns:a16="http://schemas.microsoft.com/office/drawing/2014/main" id="{57D3F9B2-4AB4-48ED-A084-29498007FF2F}"/>
              </a:ext>
            </a:extLst>
          </p:cNvPr>
          <p:cNvSpPr>
            <a:spLocks noGrp="1"/>
          </p:cNvSpPr>
          <p:nvPr/>
        </p:nvSpPr>
        <p:spPr>
          <a:xfrm>
            <a:off x="5239512" y="4992624"/>
            <a:ext cx="5934456" cy="585216"/>
          </a:xfrm>
          <a:prstGeom prst="rect">
            <a:avLst/>
          </a:prstGeom>
          <a:noFill/>
        </p:spPr>
        <p:txBody>
          <a:bodyPr wrap="square" lIns="0" tIns="0" rIns="0" bIns="0" anchor="ctr">
            <a:normAutofit/>
          </a:bodyPr>
          <a:lstStyle/>
          <a:p>
            <a:pPr marL="0" indent="0">
              <a:buNone/>
            </a:pPr>
            <a:r>
              <a:rPr sz="1030">
                <a:solidFill>
                  <a:srgbClr val="1E2B32"/>
                </a:solidFill>
              </a:rPr>
              <a:t>Advance only if elapsed time improves and assurance is non-inferior</a:t>
            </a:r>
            <a:endParaRPr sz="1030"/>
          </a:p>
        </p:txBody>
      </p:sp>
      <p:sp>
        <p:nvSpPr>
          <p:cNvPr id="42" name="Text 40">
            <a:extLst>
              <a:ext uri="{FF2B5EF4-FFF2-40B4-BE49-F238E27FC236}">
                <a16:creationId xmlns:a16="http://schemas.microsoft.com/office/drawing/2014/main" id="{A2CC7E07-3BD0-4057-92C4-C540C4F8EC3A}"/>
              </a:ext>
            </a:extLst>
          </p:cNvPr>
          <p:cNvSpPr>
            <a:spLocks noGrp="1"/>
          </p:cNvSpPr>
          <p:nvPr/>
        </p:nvSpPr>
        <p:spPr>
          <a:xfrm>
            <a:off x="502920" y="6327648"/>
            <a:ext cx="10789920" cy="182880"/>
          </a:xfrm>
          <a:prstGeom prst="rect">
            <a:avLst/>
          </a:prstGeom>
          <a:noFill/>
        </p:spPr>
        <p:txBody>
          <a:bodyPr wrap="square" lIns="0" tIns="0" rIns="0" bIns="0" anchor="ctr"/>
          <a:lstStyle/>
          <a:p>
            <a:pPr marL="0" indent="0">
              <a:buNone/>
            </a:pPr>
            <a:r>
              <a:rPr sz="750" i="1">
                <a:solidFill>
                  <a:srgbClr val="35566B"/>
                </a:solidFill>
              </a:rPr>
              <a:t>Use the same baseline and acceptance criteria; separate active from elapsed time. Sources: NCSC (2026); METR (2025–26).</a:t>
            </a:r>
            <a:endParaRPr sz="750"/>
          </a:p>
        </p:txBody>
      </p:sp>
      <p:sp>
        <p:nvSpPr>
          <p:cNvPr id="43" name="Text 41">
            <a:extLst>
              <a:ext uri="{FF2B5EF4-FFF2-40B4-BE49-F238E27FC236}">
                <a16:creationId xmlns:a16="http://schemas.microsoft.com/office/drawing/2014/main" id="{891F5973-C46B-48AE-9511-A0D35CF4B40E}"/>
              </a:ext>
            </a:extLst>
          </p:cNvPr>
          <p:cNvSpPr>
            <a:spLocks noGrp="1"/>
          </p:cNvSpPr>
          <p:nvPr/>
        </p:nvSpPr>
        <p:spPr>
          <a:xfrm>
            <a:off x="502920" y="6665976"/>
            <a:ext cx="6217920" cy="137160"/>
          </a:xfrm>
          <a:prstGeom prst="rect">
            <a:avLst/>
          </a:prstGeom>
          <a:noFill/>
        </p:spPr>
        <p:txBody>
          <a:bodyPr wrap="square" lIns="0" tIns="0" rIns="0" bIns="0" anchor="ctr"/>
          <a:lstStyle/>
          <a:p>
            <a:pPr marL="0" indent="0">
              <a:buNone/>
            </a:pPr>
            <a:r>
              <a:rPr sz="700">
                <a:solidFill>
                  <a:srgbClr val="D8E5EA"/>
                </a:solidFill>
              </a:rPr>
              <a:t>Assuring ML Applications and AI-Enabled Engineering</a:t>
            </a:r>
            <a:endParaRPr sz="700"/>
          </a:p>
        </p:txBody>
      </p:sp>
      <p:sp>
        <p:nvSpPr>
          <p:cNvPr id="44" name="Text 42">
            <a:extLst>
              <a:ext uri="{FF2B5EF4-FFF2-40B4-BE49-F238E27FC236}">
                <a16:creationId xmlns:a16="http://schemas.microsoft.com/office/drawing/2014/main" id="{24E5A5EE-9AB9-4342-A172-C1CD88B2A4ED}"/>
              </a:ext>
            </a:extLst>
          </p:cNvPr>
          <p:cNvSpPr>
            <a:spLocks noGrp="1"/>
          </p:cNvSpPr>
          <p:nvPr/>
        </p:nvSpPr>
        <p:spPr>
          <a:xfrm>
            <a:off x="11384280" y="6647688"/>
            <a:ext cx="320040" cy="137160"/>
          </a:xfrm>
          <a:prstGeom prst="rect">
            <a:avLst/>
          </a:prstGeom>
          <a:noFill/>
        </p:spPr>
        <p:txBody>
          <a:bodyPr wrap="square" lIns="0" tIns="0" rIns="0" bIns="0" anchor="ctr"/>
          <a:lstStyle/>
          <a:p>
            <a:r>
              <a:rPr>
                <a:solidFill>
                  <a:schemeClr val="bg1"/>
                </a:solidFill>
              </a:rPr>
              <a:t>23</a:t>
            </a:r>
          </a:p>
        </p:txBody>
      </p:sp>
    </p:spTree>
    <p:extLst>
      <p:ext uri="{BB962C8B-B14F-4D97-AF65-F5344CB8AC3E}">
        <p14:creationId xmlns:p14="http://schemas.microsoft.com/office/powerpoint/2010/main" val="1112383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C80"/>
          </a:solidFill>
          <a:ln w="12700">
            <a:solidFill>
              <a:srgbClr val="0F7C80"/>
            </a:solidFill>
            <a:prstDash val="solid"/>
          </a:ln>
        </p:spPr>
        <p:txBody>
          <a:bodyPr/>
          <a:lstStyle/>
          <a:p>
            <a:endParaRPr/>
          </a:p>
        </p:txBody>
      </p:sp>
      <p:sp>
        <p:nvSpPr>
          <p:cNvPr id="3" name="Shape 1"/>
          <p:cNvSpPr/>
          <p:nvPr/>
        </p:nvSpPr>
        <p:spPr>
          <a:xfrm>
            <a:off x="0" y="6629400"/>
            <a:ext cx="12191695" cy="228600"/>
          </a:xfrm>
          <a:prstGeom prst="rect">
            <a:avLst/>
          </a:prstGeom>
          <a:solidFill>
            <a:srgbClr val="0E2A3B"/>
          </a:solidFill>
          <a:ln w="12700">
            <a:solidFill>
              <a:srgbClr val="0E2A3B"/>
            </a:solidFill>
            <a:prstDash val="solid"/>
          </a:ln>
        </p:spPr>
        <p:txBody>
          <a:bodyPr/>
          <a:lstStyle/>
          <a:p>
            <a:endParaRPr/>
          </a:p>
        </p:txBody>
      </p:sp>
      <p:sp>
        <p:nvSpPr>
          <p:cNvPr id="4" name="Text 2"/>
          <p:cNvSpPr/>
          <p:nvPr/>
        </p:nvSpPr>
        <p:spPr>
          <a:xfrm>
            <a:off x="502920" y="320040"/>
            <a:ext cx="8046720" cy="411480"/>
          </a:xfrm>
          <a:prstGeom prst="rect">
            <a:avLst/>
          </a:prstGeom>
          <a:noFill/>
          <a:ln/>
        </p:spPr>
        <p:txBody>
          <a:bodyPr wrap="square" lIns="0" tIns="0" rIns="0" bIns="0" rtlCol="0" anchor="ctr"/>
          <a:lstStyle/>
          <a:p>
            <a:pPr marL="0" indent="0">
              <a:buNone/>
            </a:pPr>
            <a:r>
              <a:rPr lang="en-US" sz="2800" b="1" dirty="0">
                <a:solidFill>
                  <a:srgbClr val="0E2A3B"/>
                </a:solidFill>
                <a:latin typeface="Aptos Display" pitchFamily="34" charset="0"/>
                <a:ea typeface="Aptos Display" pitchFamily="34" charset="-122"/>
                <a:cs typeface="Aptos Display" pitchFamily="34" charset="-120"/>
              </a:rPr>
              <a:t>Ethical and operational risk cannot be bolted on</a:t>
            </a:r>
            <a:endParaRPr lang="en-US" sz="2800" dirty="0"/>
          </a:p>
        </p:txBody>
      </p:sp>
      <p:sp>
        <p:nvSpPr>
          <p:cNvPr id="5" name="Text 3"/>
          <p:cNvSpPr/>
          <p:nvPr/>
        </p:nvSpPr>
        <p:spPr>
          <a:xfrm>
            <a:off x="521208" y="804672"/>
            <a:ext cx="9052560" cy="292608"/>
          </a:xfrm>
          <a:prstGeom prst="rect">
            <a:avLst/>
          </a:prstGeom>
          <a:noFill/>
          <a:ln/>
        </p:spPr>
        <p:txBody>
          <a:bodyPr wrap="square" lIns="0" tIns="0" rIns="0" bIns="0" rtlCol="0" anchor="ctr"/>
          <a:lstStyle/>
          <a:p>
            <a:pPr marL="0" indent="0">
              <a:buNone/>
            </a:pPr>
            <a:r>
              <a:rPr lang="en-US" sz="1250" dirty="0">
                <a:solidFill>
                  <a:srgbClr val="35566B"/>
                </a:solidFill>
              </a:rPr>
              <a:t>Human oversight and security must be evidenced, not assumed.</a:t>
            </a:r>
            <a:endParaRPr lang="en-US" sz="1250" dirty="0"/>
          </a:p>
        </p:txBody>
      </p:sp>
      <p:sp>
        <p:nvSpPr>
          <p:cNvPr id="6" name="Shape 4"/>
          <p:cNvSpPr/>
          <p:nvPr/>
        </p:nvSpPr>
        <p:spPr>
          <a:xfrm>
            <a:off x="868680" y="1417320"/>
            <a:ext cx="3246120" cy="2103120"/>
          </a:xfrm>
          <a:prstGeom prst="roundRect">
            <a:avLst>
              <a:gd name="adj" fmla="val 3043"/>
            </a:avLst>
          </a:prstGeom>
          <a:solidFill>
            <a:srgbClr val="FFFFFF"/>
          </a:solidFill>
          <a:ln w="15240">
            <a:solidFill>
              <a:srgbClr val="2F67B1"/>
            </a:solidFill>
            <a:prstDash val="solid"/>
          </a:ln>
        </p:spPr>
        <p:txBody>
          <a:bodyPr/>
          <a:lstStyle/>
          <a:p>
            <a:endParaRPr/>
          </a:p>
        </p:txBody>
      </p:sp>
      <p:sp>
        <p:nvSpPr>
          <p:cNvPr id="7" name="Text 5"/>
          <p:cNvSpPr/>
          <p:nvPr/>
        </p:nvSpPr>
        <p:spPr>
          <a:xfrm>
            <a:off x="950976" y="1490472"/>
            <a:ext cx="3081528" cy="197510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Human factors</a:t>
            </a:r>
            <a:endParaRPr lang="en-US" sz="1600" dirty="0"/>
          </a:p>
          <a:p>
            <a:pPr marL="0" indent="0" algn="ctr">
              <a:buNone/>
            </a:pPr>
            <a:endParaRPr lang="en-US" sz="1600" dirty="0"/>
          </a:p>
          <a:p>
            <a:pPr marL="0" indent="0" algn="ctr">
              <a:buNone/>
            </a:pPr>
            <a:r>
              <a:rPr lang="en-US" sz="1600" dirty="0">
                <a:solidFill>
                  <a:srgbClr val="1E2B32"/>
                </a:solidFill>
              </a:rPr>
              <a:t>Workload, time available, mode awareness, trust calibration, training, intervention feasibility</a:t>
            </a:r>
            <a:endParaRPr lang="en-US" sz="1600" dirty="0"/>
          </a:p>
        </p:txBody>
      </p:sp>
      <p:sp>
        <p:nvSpPr>
          <p:cNvPr id="8" name="Shape 6"/>
          <p:cNvSpPr/>
          <p:nvPr/>
        </p:nvSpPr>
        <p:spPr>
          <a:xfrm>
            <a:off x="4480560" y="1417320"/>
            <a:ext cx="3246120" cy="2103120"/>
          </a:xfrm>
          <a:prstGeom prst="roundRect">
            <a:avLst>
              <a:gd name="adj" fmla="val 3043"/>
            </a:avLst>
          </a:prstGeom>
          <a:solidFill>
            <a:srgbClr val="FFFFFF"/>
          </a:solidFill>
          <a:ln w="15240">
            <a:solidFill>
              <a:srgbClr val="D34B43"/>
            </a:solidFill>
            <a:prstDash val="solid"/>
          </a:ln>
        </p:spPr>
        <p:txBody>
          <a:bodyPr/>
          <a:lstStyle/>
          <a:p>
            <a:endParaRPr/>
          </a:p>
        </p:txBody>
      </p:sp>
      <p:sp>
        <p:nvSpPr>
          <p:cNvPr id="9" name="Text 7"/>
          <p:cNvSpPr/>
          <p:nvPr/>
        </p:nvSpPr>
        <p:spPr>
          <a:xfrm>
            <a:off x="4562856" y="1490472"/>
            <a:ext cx="3081528" cy="197510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Security</a:t>
            </a:r>
            <a:endParaRPr lang="en-US" sz="1600" dirty="0"/>
          </a:p>
          <a:p>
            <a:pPr marL="0" indent="0" algn="ctr">
              <a:buNone/>
            </a:pPr>
            <a:endParaRPr lang="en-US" sz="1600" dirty="0"/>
          </a:p>
          <a:p>
            <a:pPr marL="0" indent="0" algn="ctr">
              <a:buNone/>
            </a:pPr>
            <a:r>
              <a:rPr lang="en-US" sz="1600" dirty="0">
                <a:solidFill>
                  <a:srgbClr val="1E2B32"/>
                </a:solidFill>
              </a:rPr>
              <a:t>Data poisoning, adversarial examples, model extraction, unauthorised retraining, compromised pipelines</a:t>
            </a:r>
            <a:endParaRPr lang="en-US" sz="1600" dirty="0"/>
          </a:p>
        </p:txBody>
      </p:sp>
      <p:sp>
        <p:nvSpPr>
          <p:cNvPr id="10" name="Shape 8"/>
          <p:cNvSpPr/>
          <p:nvPr/>
        </p:nvSpPr>
        <p:spPr>
          <a:xfrm>
            <a:off x="8092440" y="1417320"/>
            <a:ext cx="3246120" cy="2103120"/>
          </a:xfrm>
          <a:prstGeom prst="roundRect">
            <a:avLst>
              <a:gd name="adj" fmla="val 3043"/>
            </a:avLst>
          </a:prstGeom>
          <a:solidFill>
            <a:srgbClr val="FFFFFF"/>
          </a:solidFill>
          <a:ln w="15240">
            <a:solidFill>
              <a:srgbClr val="0F7C80"/>
            </a:solidFill>
            <a:prstDash val="solid"/>
          </a:ln>
        </p:spPr>
        <p:txBody>
          <a:bodyPr/>
          <a:lstStyle/>
          <a:p>
            <a:endParaRPr/>
          </a:p>
        </p:txBody>
      </p:sp>
      <p:sp>
        <p:nvSpPr>
          <p:cNvPr id="11" name="Text 9"/>
          <p:cNvSpPr/>
          <p:nvPr/>
        </p:nvSpPr>
        <p:spPr>
          <a:xfrm>
            <a:off x="8174736" y="1490472"/>
            <a:ext cx="3081528" cy="1975104"/>
          </a:xfrm>
          <a:prstGeom prst="rect">
            <a:avLst/>
          </a:prstGeom>
          <a:noFill/>
          <a:ln/>
        </p:spPr>
        <p:txBody>
          <a:bodyPr wrap="square" lIns="0" tIns="0" rIns="0" bIns="0" rtlCol="0" anchor="ctr">
            <a:normAutofit/>
          </a:bodyPr>
          <a:lstStyle/>
          <a:p>
            <a:pPr marL="0" indent="0" algn="ctr">
              <a:buNone/>
            </a:pPr>
            <a:r>
              <a:rPr lang="en-US" sz="1600" dirty="0">
                <a:solidFill>
                  <a:srgbClr val="1E2B32"/>
                </a:solidFill>
              </a:rPr>
              <a:t>Ethical assurance</a:t>
            </a:r>
            <a:endParaRPr lang="en-US" sz="1600" dirty="0"/>
          </a:p>
          <a:p>
            <a:pPr marL="0" indent="0" algn="ctr">
              <a:buNone/>
            </a:pPr>
            <a:endParaRPr lang="en-US" sz="1600" dirty="0"/>
          </a:p>
          <a:p>
            <a:pPr marL="0" indent="0" algn="ctr">
              <a:buNone/>
            </a:pPr>
            <a:r>
              <a:rPr lang="en-US" sz="1600" dirty="0">
                <a:solidFill>
                  <a:srgbClr val="1E2B32"/>
                </a:solidFill>
              </a:rPr>
              <a:t>Bias, transparency, contestability, accountability and proportionality of AI authority</a:t>
            </a:r>
            <a:endParaRPr lang="en-US" sz="1600" dirty="0"/>
          </a:p>
        </p:txBody>
      </p:sp>
      <p:sp>
        <p:nvSpPr>
          <p:cNvPr id="12" name="Shape 10"/>
          <p:cNvSpPr/>
          <p:nvPr/>
        </p:nvSpPr>
        <p:spPr>
          <a:xfrm>
            <a:off x="1188720" y="3840481"/>
            <a:ext cx="9784080" cy="2310154"/>
          </a:xfrm>
          <a:prstGeom prst="roundRect">
            <a:avLst>
              <a:gd name="adj" fmla="val 10667"/>
            </a:avLst>
          </a:prstGeom>
          <a:solidFill>
            <a:srgbClr val="ECE9FF"/>
          </a:solidFill>
          <a:ln w="15240">
            <a:solidFill>
              <a:srgbClr val="7461D1"/>
            </a:solidFill>
            <a:prstDash val="solid"/>
          </a:ln>
        </p:spPr>
        <p:txBody>
          <a:bodyPr/>
          <a:lstStyle/>
          <a:p>
            <a:endParaRPr/>
          </a:p>
        </p:txBody>
      </p:sp>
      <p:sp>
        <p:nvSpPr>
          <p:cNvPr id="13" name="Text 11"/>
          <p:cNvSpPr/>
          <p:nvPr/>
        </p:nvSpPr>
        <p:spPr>
          <a:xfrm>
            <a:off x="1353312" y="3944341"/>
            <a:ext cx="9454896" cy="2108987"/>
          </a:xfrm>
          <a:prstGeom prst="rect">
            <a:avLst/>
          </a:prstGeom>
          <a:noFill/>
          <a:ln/>
        </p:spPr>
        <p:txBody>
          <a:bodyPr wrap="square" lIns="254" tIns="254" rIns="254" bIns="254" rtlCol="0" anchor="ctr">
            <a:normAutofit fontScale="85000" lnSpcReduction="20000"/>
          </a:bodyPr>
          <a:lstStyle/>
          <a:p>
            <a:pPr marL="0" indent="0">
              <a:buNone/>
            </a:pPr>
            <a:r>
              <a:rPr lang="en-US" sz="1550" dirty="0">
                <a:solidFill>
                  <a:srgbClr val="1E2B32"/>
                </a:solidFill>
              </a:rPr>
              <a:t>“Human in the loop” is not a safety argument unless the system gives the human enough information, time and authority to intervene meaningfully.</a:t>
            </a:r>
          </a:p>
          <a:p>
            <a:pPr marL="0" indent="0">
              <a:buNone/>
            </a:pPr>
            <a:endParaRPr lang="en-US" sz="1550" dirty="0">
              <a:solidFill>
                <a:srgbClr val="1E2B32"/>
              </a:solidFill>
            </a:endParaRPr>
          </a:p>
          <a:p>
            <a:pPr marL="0" indent="0">
              <a:buNone/>
            </a:pPr>
            <a:r>
              <a:rPr lang="en-US" sz="1550" dirty="0">
                <a:solidFill>
                  <a:srgbClr val="1E2B32"/>
                </a:solidFill>
              </a:rPr>
              <a:t>Specific reference must be made to the level of autonomy, selected for the application of an MLA. If an EASA defined classification is to be taken, similar to Design Assurance Level ratings under D0-178c, varying processes and types of evidence may be desired or rescinded.</a:t>
            </a:r>
          </a:p>
          <a:p>
            <a:pPr marL="0" indent="0">
              <a:buNone/>
            </a:pPr>
            <a:endParaRPr lang="en-US" sz="1550" dirty="0">
              <a:solidFill>
                <a:srgbClr val="1E2B32"/>
              </a:solidFill>
            </a:endParaRPr>
          </a:p>
          <a:p>
            <a:pPr marL="0" indent="0">
              <a:buNone/>
            </a:pPr>
            <a:r>
              <a:rPr lang="en-US" sz="1550" dirty="0"/>
              <a:t>Any mitigations placed around the interruption of model output, must be </a:t>
            </a:r>
            <a:r>
              <a:rPr lang="en-US" sz="1550" dirty="0" err="1"/>
              <a:t>utilisable</a:t>
            </a:r>
            <a:r>
              <a:rPr lang="en-US" sz="1550" dirty="0"/>
              <a:t> in a manner which respects HF, Security and ethical considerations.</a:t>
            </a:r>
          </a:p>
          <a:p>
            <a:pPr marL="0" indent="0">
              <a:buNone/>
            </a:pPr>
            <a:endParaRPr lang="en-US" sz="1550" dirty="0"/>
          </a:p>
          <a:p>
            <a:pPr marL="0" indent="0">
              <a:buNone/>
            </a:pPr>
            <a:r>
              <a:rPr lang="en-US" sz="1550" dirty="0"/>
              <a:t>These considerations must be designed into the system architecture, into HMI design, into the software architecture and must inform the safety case.</a:t>
            </a:r>
          </a:p>
        </p:txBody>
      </p:sp>
      <p:sp>
        <p:nvSpPr>
          <p:cNvPr id="14" name="Text 12"/>
          <p:cNvSpPr/>
          <p:nvPr/>
        </p:nvSpPr>
        <p:spPr>
          <a:xfrm>
            <a:off x="502920" y="6665976"/>
            <a:ext cx="6217920" cy="137160"/>
          </a:xfrm>
          <a:prstGeom prst="rect">
            <a:avLst/>
          </a:prstGeom>
          <a:noFill/>
          <a:ln/>
        </p:spPr>
        <p:txBody>
          <a:bodyPr wrap="square" lIns="0" tIns="0" rIns="0" bIns="0" rtlCol="0" anchor="ctr"/>
          <a:lstStyle/>
          <a:p>
            <a:pPr marL="0" indent="0">
              <a:buNone/>
            </a:pPr>
            <a:r>
              <a:rPr lang="en-US" sz="700" dirty="0">
                <a:solidFill>
                  <a:srgbClr val="D8E5EA"/>
                </a:solidFill>
              </a:rPr>
              <a:t>Ethical Assurance &amp; Certification of MLA under DO-178C</a:t>
            </a:r>
            <a:endParaRPr lang="en-US" sz="700" dirty="0"/>
          </a:p>
        </p:txBody>
      </p:sp>
      <p:sp>
        <p:nvSpPr>
          <p:cNvPr id="15" name="Text 13"/>
          <p:cNvSpPr/>
          <p:nvPr/>
        </p:nvSpPr>
        <p:spPr>
          <a:xfrm>
            <a:off x="11369040" y="6665976"/>
            <a:ext cx="320040" cy="137160"/>
          </a:xfrm>
          <a:prstGeom prst="rect">
            <a:avLst/>
          </a:prstGeom>
          <a:noFill/>
          <a:ln/>
        </p:spPr>
        <p:txBody>
          <a:bodyPr wrap="square" lIns="0" tIns="0" rIns="0" bIns="0" rtlCol="0" anchor="ctr"/>
          <a:lstStyle/>
          <a:p>
            <a:r>
              <a:rPr dirty="0">
                <a:solidFill>
                  <a:schemeClr val="bg1"/>
                </a:solidFill>
              </a:rPr>
              <a:t>18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0E2A3B"/>
        </a:solidFill>
        <a:effectLst/>
      </p:bgPr>
    </p:bg>
    <p:spTree>
      <p:nvGrpSpPr>
        <p:cNvPr id="1" name=""/>
        <p:cNvGrpSpPr/>
        <p:nvPr/>
      </p:nvGrpSpPr>
      <p:grpSpPr>
        <a:xfrm>
          <a:off x="0" y="0"/>
          <a:ext cx="0" cy="0"/>
          <a:chOff x="0" y="0"/>
          <a:chExt cx="0" cy="0"/>
        </a:xfrm>
      </p:grpSpPr>
      <p:sp>
        <p:nvSpPr>
          <p:cNvPr id="2" name="Text 0"/>
          <p:cNvSpPr/>
          <p:nvPr/>
        </p:nvSpPr>
        <p:spPr>
          <a:xfrm>
            <a:off x="640080" y="594360"/>
            <a:ext cx="5029200" cy="457200"/>
          </a:xfrm>
          <a:prstGeom prst="rect">
            <a:avLst/>
          </a:prstGeom>
          <a:noFill/>
          <a:ln/>
        </p:spPr>
        <p:txBody>
          <a:bodyPr wrap="square" lIns="0" tIns="0" rIns="0" bIns="0" rtlCol="0" anchor="ctr"/>
          <a:lstStyle/>
          <a:p>
            <a:pPr marL="0" indent="0">
              <a:buNone/>
            </a:pPr>
            <a:r>
              <a:rPr lang="en-US" sz="3400" b="1" dirty="0">
                <a:solidFill>
                  <a:srgbClr val="FFFFFF"/>
                </a:solidFill>
              </a:rPr>
              <a:t>Need for action</a:t>
            </a:r>
            <a:endParaRPr lang="en-US" sz="3400" dirty="0"/>
          </a:p>
        </p:txBody>
      </p:sp>
      <p:sp>
        <p:nvSpPr>
          <p:cNvPr id="3" name="Text 1"/>
          <p:cNvSpPr/>
          <p:nvPr/>
        </p:nvSpPr>
        <p:spPr>
          <a:xfrm>
            <a:off x="658368" y="1115568"/>
            <a:ext cx="5029200" cy="320040"/>
          </a:xfrm>
          <a:prstGeom prst="rect">
            <a:avLst/>
          </a:prstGeom>
          <a:noFill/>
          <a:ln/>
        </p:spPr>
        <p:txBody>
          <a:bodyPr wrap="square" lIns="0" tIns="0" rIns="0" bIns="0" rtlCol="0" anchor="ctr"/>
          <a:lstStyle/>
          <a:p>
            <a:pPr marL="0" indent="0">
              <a:buNone/>
            </a:pPr>
            <a:r>
              <a:rPr lang="en-US" sz="1700" dirty="0">
                <a:solidFill>
                  <a:srgbClr val="CFE6EB"/>
                </a:solidFill>
              </a:rPr>
              <a:t>A practical agenda for certifiable MLA</a:t>
            </a:r>
            <a:endParaRPr lang="en-US" sz="1700" dirty="0"/>
          </a:p>
        </p:txBody>
      </p:sp>
      <p:sp>
        <p:nvSpPr>
          <p:cNvPr id="4" name="Shape 2"/>
          <p:cNvSpPr/>
          <p:nvPr/>
        </p:nvSpPr>
        <p:spPr>
          <a:xfrm>
            <a:off x="822960" y="1828800"/>
            <a:ext cx="384048" cy="384048"/>
          </a:xfrm>
          <a:prstGeom prst="ellipse">
            <a:avLst/>
          </a:prstGeom>
          <a:solidFill>
            <a:srgbClr val="0F7C80"/>
          </a:solidFill>
          <a:ln w="12700">
            <a:solidFill>
              <a:srgbClr val="0F7C80"/>
            </a:solidFill>
            <a:prstDash val="solid"/>
          </a:ln>
        </p:spPr>
        <p:txBody>
          <a:bodyPr/>
          <a:lstStyle/>
          <a:p>
            <a:endParaRPr/>
          </a:p>
        </p:txBody>
      </p:sp>
      <p:sp>
        <p:nvSpPr>
          <p:cNvPr id="5" name="Text 3"/>
          <p:cNvSpPr/>
          <p:nvPr/>
        </p:nvSpPr>
        <p:spPr>
          <a:xfrm>
            <a:off x="877824" y="1888236"/>
            <a:ext cx="274320" cy="265176"/>
          </a:xfrm>
          <a:prstGeom prst="rect">
            <a:avLst/>
          </a:prstGeom>
          <a:noFill/>
          <a:ln/>
        </p:spPr>
        <p:txBody>
          <a:bodyPr wrap="square" lIns="0" tIns="0" rIns="0" bIns="0" rtlCol="0" anchor="ctr"/>
          <a:lstStyle/>
          <a:p>
            <a:pPr marL="0" indent="0" algn="ctr">
              <a:buNone/>
            </a:pPr>
            <a:r>
              <a:rPr lang="en-US" sz="1200" b="1" dirty="0">
                <a:solidFill>
                  <a:srgbClr val="FFFFFF"/>
                </a:solidFill>
              </a:rPr>
              <a:t>1</a:t>
            </a:r>
          </a:p>
        </p:txBody>
      </p:sp>
      <p:sp>
        <p:nvSpPr>
          <p:cNvPr id="6" name="Text 4"/>
          <p:cNvSpPr/>
          <p:nvPr/>
        </p:nvSpPr>
        <p:spPr>
          <a:xfrm>
            <a:off x="1417320" y="1847088"/>
            <a:ext cx="9052560" cy="329184"/>
          </a:xfrm>
          <a:prstGeom prst="rect">
            <a:avLst/>
          </a:prstGeom>
          <a:noFill/>
          <a:ln/>
        </p:spPr>
        <p:txBody>
          <a:bodyPr wrap="square" lIns="0" tIns="0" rIns="0" bIns="0" rtlCol="0" anchor="ctr">
            <a:normAutofit/>
          </a:bodyPr>
          <a:lstStyle/>
          <a:p>
            <a:pPr marL="0" indent="0">
              <a:buNone/>
            </a:pPr>
            <a:r>
              <a:rPr lang="en-US" sz="1800" dirty="0">
                <a:solidFill>
                  <a:srgbClr val="FFFFFF"/>
                </a:solidFill>
              </a:rPr>
              <a:t>Engage the authority early and agree the certification basis.</a:t>
            </a:r>
            <a:endParaRPr lang="en-US" sz="1800" dirty="0"/>
          </a:p>
        </p:txBody>
      </p:sp>
      <p:sp>
        <p:nvSpPr>
          <p:cNvPr id="7" name="Shape 5"/>
          <p:cNvSpPr/>
          <p:nvPr/>
        </p:nvSpPr>
        <p:spPr>
          <a:xfrm>
            <a:off x="822960" y="2578608"/>
            <a:ext cx="384048" cy="384048"/>
          </a:xfrm>
          <a:prstGeom prst="ellipse">
            <a:avLst/>
          </a:prstGeom>
          <a:solidFill>
            <a:srgbClr val="0F7C80"/>
          </a:solidFill>
          <a:ln w="12700">
            <a:solidFill>
              <a:srgbClr val="0F7C80"/>
            </a:solidFill>
            <a:prstDash val="solid"/>
          </a:ln>
        </p:spPr>
        <p:txBody>
          <a:bodyPr/>
          <a:lstStyle/>
          <a:p>
            <a:endParaRPr/>
          </a:p>
        </p:txBody>
      </p:sp>
      <p:sp>
        <p:nvSpPr>
          <p:cNvPr id="9" name="Text 7"/>
          <p:cNvSpPr/>
          <p:nvPr/>
        </p:nvSpPr>
        <p:spPr>
          <a:xfrm>
            <a:off x="1417320" y="2596896"/>
            <a:ext cx="9052560" cy="329184"/>
          </a:xfrm>
          <a:prstGeom prst="rect">
            <a:avLst/>
          </a:prstGeom>
          <a:noFill/>
          <a:ln/>
        </p:spPr>
        <p:txBody>
          <a:bodyPr wrap="square" lIns="0" tIns="0" rIns="0" bIns="0" rtlCol="0" anchor="ctr">
            <a:normAutofit/>
          </a:bodyPr>
          <a:lstStyle/>
          <a:p>
            <a:pPr marL="0" indent="0">
              <a:buNone/>
            </a:pPr>
            <a:r>
              <a:rPr lang="en-US" sz="1800" dirty="0">
                <a:solidFill>
                  <a:srgbClr val="FFFFFF"/>
                </a:solidFill>
              </a:rPr>
              <a:t>Define MLA hazards, ODD limits and safety architecture before model development.</a:t>
            </a:r>
            <a:endParaRPr lang="en-US" sz="1800" dirty="0"/>
          </a:p>
        </p:txBody>
      </p:sp>
      <p:sp>
        <p:nvSpPr>
          <p:cNvPr id="10" name="Shape 8"/>
          <p:cNvSpPr/>
          <p:nvPr/>
        </p:nvSpPr>
        <p:spPr>
          <a:xfrm>
            <a:off x="822960" y="3328416"/>
            <a:ext cx="384048" cy="384048"/>
          </a:xfrm>
          <a:prstGeom prst="ellipse">
            <a:avLst/>
          </a:prstGeom>
          <a:solidFill>
            <a:srgbClr val="0F7C80"/>
          </a:solidFill>
          <a:ln w="12700">
            <a:solidFill>
              <a:srgbClr val="0F7C80"/>
            </a:solidFill>
            <a:prstDash val="solid"/>
          </a:ln>
        </p:spPr>
        <p:txBody>
          <a:bodyPr/>
          <a:lstStyle/>
          <a:p>
            <a:endParaRPr/>
          </a:p>
        </p:txBody>
      </p:sp>
      <p:sp>
        <p:nvSpPr>
          <p:cNvPr id="12" name="Text 10"/>
          <p:cNvSpPr/>
          <p:nvPr/>
        </p:nvSpPr>
        <p:spPr>
          <a:xfrm>
            <a:off x="1417320" y="3346704"/>
            <a:ext cx="9052560" cy="329184"/>
          </a:xfrm>
          <a:prstGeom prst="rect">
            <a:avLst/>
          </a:prstGeom>
          <a:noFill/>
          <a:ln/>
        </p:spPr>
        <p:txBody>
          <a:bodyPr wrap="square" lIns="0" tIns="0" rIns="0" bIns="0" rtlCol="0" anchor="ctr">
            <a:normAutofit/>
          </a:bodyPr>
          <a:lstStyle/>
          <a:p>
            <a:pPr marL="0" indent="0">
              <a:buNone/>
            </a:pPr>
            <a:r>
              <a:rPr lang="en-US" sz="1800" dirty="0">
                <a:solidFill>
                  <a:srgbClr val="FFFFFF"/>
                </a:solidFill>
              </a:rPr>
              <a:t>Implement an assurance-grade MLDevOps pipeline with repeatable evidence generation.</a:t>
            </a:r>
            <a:endParaRPr lang="en-US" sz="1800" dirty="0"/>
          </a:p>
        </p:txBody>
      </p:sp>
      <p:sp>
        <p:nvSpPr>
          <p:cNvPr id="13" name="Shape 11"/>
          <p:cNvSpPr/>
          <p:nvPr/>
        </p:nvSpPr>
        <p:spPr>
          <a:xfrm>
            <a:off x="822960" y="4078224"/>
            <a:ext cx="384048" cy="384048"/>
          </a:xfrm>
          <a:prstGeom prst="ellipse">
            <a:avLst/>
          </a:prstGeom>
          <a:solidFill>
            <a:srgbClr val="0F7C80"/>
          </a:solidFill>
          <a:ln w="12700">
            <a:solidFill>
              <a:srgbClr val="0F7C80"/>
            </a:solidFill>
            <a:prstDash val="solid"/>
          </a:ln>
        </p:spPr>
        <p:txBody>
          <a:bodyPr/>
          <a:lstStyle/>
          <a:p>
            <a:endParaRPr/>
          </a:p>
        </p:txBody>
      </p:sp>
      <p:sp>
        <p:nvSpPr>
          <p:cNvPr id="14" name="Text 12"/>
          <p:cNvSpPr/>
          <p:nvPr/>
        </p:nvSpPr>
        <p:spPr>
          <a:xfrm>
            <a:off x="932688" y="4160520"/>
            <a:ext cx="146304" cy="109728"/>
          </a:xfrm>
          <a:prstGeom prst="rect">
            <a:avLst/>
          </a:prstGeom>
          <a:noFill/>
          <a:ln/>
        </p:spPr>
        <p:txBody>
          <a:bodyPr wrap="square" lIns="0" tIns="0" rIns="0" bIns="0" rtlCol="0" anchor="ctr"/>
          <a:lstStyle/>
          <a:p>
            <a:pPr marL="0" indent="0" algn="ctr">
              <a:buNone/>
            </a:pPr>
            <a:endParaRPr lang="en-US" sz="900" dirty="0"/>
          </a:p>
        </p:txBody>
      </p:sp>
      <p:sp>
        <p:nvSpPr>
          <p:cNvPr id="15" name="Text 13"/>
          <p:cNvSpPr/>
          <p:nvPr/>
        </p:nvSpPr>
        <p:spPr>
          <a:xfrm>
            <a:off x="1417320" y="4096512"/>
            <a:ext cx="9052560" cy="329184"/>
          </a:xfrm>
          <a:prstGeom prst="rect">
            <a:avLst/>
          </a:prstGeom>
          <a:noFill/>
          <a:ln/>
        </p:spPr>
        <p:txBody>
          <a:bodyPr wrap="square" lIns="0" tIns="0" rIns="0" bIns="0" rtlCol="0" anchor="ctr">
            <a:normAutofit/>
          </a:bodyPr>
          <a:lstStyle/>
          <a:p>
            <a:pPr marL="0" indent="0">
              <a:buNone/>
            </a:pPr>
            <a:r>
              <a:rPr lang="en-US" sz="1800" dirty="0">
                <a:solidFill>
                  <a:srgbClr val="FFFFFF"/>
                </a:solidFill>
              </a:rPr>
              <a:t>Package evidence by configured release: model, data, tools, environment and monitors.</a:t>
            </a:r>
            <a:endParaRPr lang="en-US" sz="1800" dirty="0"/>
          </a:p>
        </p:txBody>
      </p:sp>
      <p:sp>
        <p:nvSpPr>
          <p:cNvPr id="16" name="Shape 14"/>
          <p:cNvSpPr/>
          <p:nvPr/>
        </p:nvSpPr>
        <p:spPr>
          <a:xfrm>
            <a:off x="822960" y="4828032"/>
            <a:ext cx="384048" cy="384048"/>
          </a:xfrm>
          <a:prstGeom prst="ellipse">
            <a:avLst/>
          </a:prstGeom>
          <a:solidFill>
            <a:srgbClr val="0F7C80"/>
          </a:solidFill>
          <a:ln w="12700">
            <a:solidFill>
              <a:srgbClr val="0F7C80"/>
            </a:solidFill>
            <a:prstDash val="solid"/>
          </a:ln>
        </p:spPr>
        <p:txBody>
          <a:bodyPr/>
          <a:lstStyle/>
          <a:p>
            <a:endParaRPr/>
          </a:p>
        </p:txBody>
      </p:sp>
      <p:sp>
        <p:nvSpPr>
          <p:cNvPr id="18" name="Text 16"/>
          <p:cNvSpPr/>
          <p:nvPr/>
        </p:nvSpPr>
        <p:spPr>
          <a:xfrm>
            <a:off x="1417320" y="4846320"/>
            <a:ext cx="9052560" cy="329184"/>
          </a:xfrm>
          <a:prstGeom prst="rect">
            <a:avLst/>
          </a:prstGeom>
          <a:noFill/>
          <a:ln/>
        </p:spPr>
        <p:txBody>
          <a:bodyPr wrap="square" lIns="0" tIns="0" rIns="0" bIns="0" rtlCol="0" anchor="ctr">
            <a:normAutofit/>
          </a:bodyPr>
          <a:lstStyle/>
          <a:p>
            <a:pPr marL="0" indent="0">
              <a:buNone/>
            </a:pPr>
            <a:r>
              <a:rPr lang="en-US" sz="1800" dirty="0">
                <a:solidFill>
                  <a:srgbClr val="FFFFFF"/>
                </a:solidFill>
              </a:rPr>
              <a:t>Monitor in service and treat retraining as a formal configuration change.</a:t>
            </a:r>
            <a:endParaRPr lang="en-US" sz="1800" dirty="0"/>
          </a:p>
        </p:txBody>
      </p:sp>
      <p:sp>
        <p:nvSpPr>
          <p:cNvPr id="19" name="Text 17"/>
          <p:cNvSpPr/>
          <p:nvPr/>
        </p:nvSpPr>
        <p:spPr>
          <a:xfrm>
            <a:off x="960120" y="6080760"/>
            <a:ext cx="10332720" cy="438912"/>
          </a:xfrm>
          <a:prstGeom prst="rect">
            <a:avLst/>
          </a:prstGeom>
          <a:noFill/>
          <a:ln/>
        </p:spPr>
        <p:txBody>
          <a:bodyPr wrap="square" lIns="0" tIns="0" rIns="0" bIns="0" rtlCol="0" anchor="ctr">
            <a:normAutofit/>
          </a:bodyPr>
          <a:lstStyle/>
          <a:p>
            <a:pPr marL="0" indent="0" algn="ctr">
              <a:buNone/>
            </a:pPr>
            <a:r>
              <a:rPr lang="en-US" sz="1320" dirty="0">
                <a:solidFill>
                  <a:srgbClr val="CFE6EB"/>
                </a:solidFill>
              </a:rPr>
              <a:t>Bottom line: the burden of proof remains with the integrator. If MLA cannot reduce risk, improve resilience, or provide capability unattainable by safer conventional means, it should not be adopted in a safety-critical function.</a:t>
            </a:r>
            <a:endParaRPr lang="en-US" sz="1320" dirty="0"/>
          </a:p>
        </p:txBody>
      </p:sp>
      <p:sp>
        <p:nvSpPr>
          <p:cNvPr id="20" name="Text 18"/>
          <p:cNvSpPr/>
          <p:nvPr/>
        </p:nvSpPr>
        <p:spPr>
          <a:xfrm>
            <a:off x="11429999" y="6519672"/>
            <a:ext cx="483079" cy="201168"/>
          </a:xfrm>
          <a:prstGeom prst="rect">
            <a:avLst/>
          </a:prstGeom>
          <a:noFill/>
          <a:ln/>
        </p:spPr>
        <p:txBody>
          <a:bodyPr wrap="square" rtlCol="0" anchor="ctr"/>
          <a:lstStyle/>
          <a:p>
            <a:r>
              <a:rPr dirty="0">
                <a:solidFill>
                  <a:schemeClr val="bg1"/>
                </a:solidFill>
              </a:rPr>
              <a:t>19</a:t>
            </a:r>
          </a:p>
        </p:txBody>
      </p:sp>
      <p:sp>
        <p:nvSpPr>
          <p:cNvPr id="22" name="Text 3">
            <a:extLst>
              <a:ext uri="{FF2B5EF4-FFF2-40B4-BE49-F238E27FC236}">
                <a16:creationId xmlns:a16="http://schemas.microsoft.com/office/drawing/2014/main" id="{6707A33C-0BD1-F589-3988-AE19BC5A8B62}"/>
              </a:ext>
            </a:extLst>
          </p:cNvPr>
          <p:cNvSpPr/>
          <p:nvPr/>
        </p:nvSpPr>
        <p:spPr>
          <a:xfrm>
            <a:off x="885760" y="2638044"/>
            <a:ext cx="274320" cy="265176"/>
          </a:xfrm>
          <a:prstGeom prst="rect">
            <a:avLst/>
          </a:prstGeom>
          <a:noFill/>
          <a:ln/>
        </p:spPr>
        <p:txBody>
          <a:bodyPr wrap="square" lIns="0" tIns="0" rIns="0" bIns="0" rtlCol="0" anchor="ctr"/>
          <a:lstStyle/>
          <a:p>
            <a:pPr marL="0" indent="0" algn="ctr">
              <a:buNone/>
            </a:pPr>
            <a:r>
              <a:rPr lang="en-US" sz="1200" b="1" dirty="0">
                <a:solidFill>
                  <a:srgbClr val="FFFFFF"/>
                </a:solidFill>
              </a:rPr>
              <a:t>2</a:t>
            </a:r>
          </a:p>
        </p:txBody>
      </p:sp>
      <p:sp>
        <p:nvSpPr>
          <p:cNvPr id="24" name="Text 3">
            <a:extLst>
              <a:ext uri="{FF2B5EF4-FFF2-40B4-BE49-F238E27FC236}">
                <a16:creationId xmlns:a16="http://schemas.microsoft.com/office/drawing/2014/main" id="{06D1B584-2998-1BD0-D29F-5C30015E5CD3}"/>
              </a:ext>
            </a:extLst>
          </p:cNvPr>
          <p:cNvSpPr/>
          <p:nvPr/>
        </p:nvSpPr>
        <p:spPr>
          <a:xfrm>
            <a:off x="885760" y="3403034"/>
            <a:ext cx="274320" cy="265176"/>
          </a:xfrm>
          <a:prstGeom prst="rect">
            <a:avLst/>
          </a:prstGeom>
          <a:noFill/>
          <a:ln/>
        </p:spPr>
        <p:txBody>
          <a:bodyPr wrap="square" lIns="0" tIns="0" rIns="0" bIns="0" rtlCol="0" anchor="ctr"/>
          <a:lstStyle/>
          <a:p>
            <a:pPr marL="0" indent="0" algn="ctr">
              <a:buNone/>
            </a:pPr>
            <a:r>
              <a:rPr lang="en-US" sz="1200" b="1" dirty="0">
                <a:solidFill>
                  <a:srgbClr val="FFFFFF"/>
                </a:solidFill>
              </a:rPr>
              <a:t>3</a:t>
            </a:r>
          </a:p>
        </p:txBody>
      </p:sp>
      <p:sp>
        <p:nvSpPr>
          <p:cNvPr id="26" name="Text 3">
            <a:extLst>
              <a:ext uri="{FF2B5EF4-FFF2-40B4-BE49-F238E27FC236}">
                <a16:creationId xmlns:a16="http://schemas.microsoft.com/office/drawing/2014/main" id="{03A0FB0A-C8D2-206F-35E6-7A52AA892AA6}"/>
              </a:ext>
            </a:extLst>
          </p:cNvPr>
          <p:cNvSpPr/>
          <p:nvPr/>
        </p:nvSpPr>
        <p:spPr>
          <a:xfrm>
            <a:off x="877824" y="4160520"/>
            <a:ext cx="274320" cy="265176"/>
          </a:xfrm>
          <a:prstGeom prst="rect">
            <a:avLst/>
          </a:prstGeom>
          <a:noFill/>
          <a:ln/>
        </p:spPr>
        <p:txBody>
          <a:bodyPr wrap="square" lIns="0" tIns="0" rIns="0" bIns="0" rtlCol="0" anchor="ctr"/>
          <a:lstStyle/>
          <a:p>
            <a:pPr marL="0" indent="0" algn="ctr">
              <a:buNone/>
            </a:pPr>
            <a:r>
              <a:rPr lang="en-US" sz="1200" b="1" dirty="0">
                <a:solidFill>
                  <a:srgbClr val="FFFFFF"/>
                </a:solidFill>
              </a:rPr>
              <a:t>4</a:t>
            </a:r>
          </a:p>
        </p:txBody>
      </p:sp>
      <p:sp>
        <p:nvSpPr>
          <p:cNvPr id="28" name="Text 3">
            <a:extLst>
              <a:ext uri="{FF2B5EF4-FFF2-40B4-BE49-F238E27FC236}">
                <a16:creationId xmlns:a16="http://schemas.microsoft.com/office/drawing/2014/main" id="{613BED96-34AE-9963-148D-BD14D7F45208}"/>
              </a:ext>
            </a:extLst>
          </p:cNvPr>
          <p:cNvSpPr/>
          <p:nvPr/>
        </p:nvSpPr>
        <p:spPr>
          <a:xfrm>
            <a:off x="868680" y="4878324"/>
            <a:ext cx="274320" cy="265176"/>
          </a:xfrm>
          <a:prstGeom prst="rect">
            <a:avLst/>
          </a:prstGeom>
          <a:noFill/>
          <a:ln/>
        </p:spPr>
        <p:txBody>
          <a:bodyPr wrap="square" lIns="0" tIns="0" rIns="0" bIns="0" rtlCol="0" anchor="ctr"/>
          <a:lstStyle/>
          <a:p>
            <a:pPr marL="0" indent="0" algn="ctr">
              <a:buNone/>
            </a:pPr>
            <a:r>
              <a:rPr lang="en-US" sz="1200" b="1" dirty="0">
                <a:solidFill>
                  <a:srgbClr val="FFFFFF"/>
                </a:solidFill>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4011</Words>
  <Application>Microsoft Office PowerPoint</Application>
  <PresentationFormat>Widescreen</PresentationFormat>
  <Paragraphs>512</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Assurance and Certification of MLA Under DO-178C</dc:title>
  <dc:subject>Ethical Assurance and Certification of MLA Under DO-178C</dc:subject>
  <dc:creator>OpenAI</dc:creator>
  <cp:lastModifiedBy>Oliver Haythornthwaite</cp:lastModifiedBy>
  <cp:revision>39</cp:revision>
  <dcterms:created xsi:type="dcterms:W3CDTF">2026-07-11T15:28:45Z</dcterms:created>
  <dcterms:modified xsi:type="dcterms:W3CDTF">2026-08-16T16:35:48Z</dcterms:modified>
</cp:coreProperties>
</file>