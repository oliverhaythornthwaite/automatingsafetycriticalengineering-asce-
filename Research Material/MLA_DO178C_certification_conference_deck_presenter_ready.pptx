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6904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685800"/>
            <a:ext cx="2743200" cy="2743200"/>
          </a:xfrm>
          <a:prstGeom prst="arc">
            <a:avLst/>
          </a:prstGeom>
          <a:noFill/>
          <a:ln w="25400">
            <a:solidFill>
              <a:srgbClr val="0F7C80">
                <a:alpha val="7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235440" y="1051560"/>
            <a:ext cx="2377440" cy="2377440"/>
          </a:xfrm>
          <a:prstGeom prst="arc">
            <a:avLst/>
          </a:prstGeom>
          <a:noFill/>
          <a:ln w="12700">
            <a:solidFill>
              <a:srgbClr val="9BD6D2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Ethical Assurance &amp; Certification of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Machine Learning Algorithms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21792" y="24231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6EB"/>
                </a:solidFill>
              </a:rPr>
              <a:t>Under DO-178C — conference presentation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1792" y="28803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C8D4"/>
                </a:solidFill>
              </a:rPr>
              <a:t>Oliver Haythornthwaite · 28 May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6949440" cy="914400"/>
          </a:xfrm>
          <a:prstGeom prst="roundRect">
            <a:avLst>
              <a:gd name="adj" fmla="val 7000"/>
            </a:avLst>
          </a:prstGeom>
          <a:solidFill>
            <a:srgbClr val="183A4F"/>
          </a:solidFill>
          <a:ln w="15240">
            <a:solidFill>
              <a:srgbClr val="4EA3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22376" y="4233672"/>
            <a:ext cx="67848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chemeClr val="bg1"/>
                </a:solidFill>
              </a:rPr>
              <a:t>Thesis: MLA is certifiable only as a controlled system component, bounded by deterministic architecture and backed by auditable evidence.</a:t>
            </a:r>
          </a:p>
        </p:txBody>
      </p:sp>
      <p:sp>
        <p:nvSpPr>
          <p:cNvPr id="9" name="Text 7"/>
          <p:cNvSpPr/>
          <p:nvPr/>
        </p:nvSpPr>
        <p:spPr>
          <a:xfrm>
            <a:off x="11430000" y="65379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state of certification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5566B"/>
                </a:solidFill>
              </a:rPr>
              <a:t>Aviation AI assurance is converging, but no single “MLA certification recipe” exists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41248" y="1581912"/>
            <a:ext cx="21122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DO-178C baseline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96112" y="2185416"/>
            <a:ext cx="2002536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Mature lifecycle evidence for airborne software: requirements, verification, coverage, independence, CM and QA.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3429000" y="150876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538728" y="1581912"/>
            <a:ext cx="21122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System safety baseline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29000" y="205740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593592" y="2185416"/>
            <a:ext cx="2002536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ARP4754A/B and ARP4761 remain the route for hazard-driven system assurance and safety case closure.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236208" y="1581912"/>
            <a:ext cx="21122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AI/ML guidance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26480" y="205740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291072" y="2185416"/>
            <a:ext cx="2002536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EASA, FAA, UK CAA and MAA guidance recognises additional needs: learning assurance, explainability, data, drift and ethics.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823960" y="1508760"/>
            <a:ext cx="2331720" cy="457200"/>
          </a:xfrm>
          <a:prstGeom prst="roundRect">
            <a:avLst>
              <a:gd name="adj" fmla="val 16000"/>
            </a:avLst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933688" y="1581912"/>
            <a:ext cx="21122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Authority engagement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823960" y="205740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988552" y="2185416"/>
            <a:ext cx="2002536" cy="1856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Early engagement is essential because first-of-type MLA assurance introduces atypical review points and evidence needs.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22960" y="48920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3B"/>
                </a:solidFill>
              </a:rPr>
              <a:t>Implication: the field is not starting from zero — it is adapting established assurance discipline to learned behaviour.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2920" y="632764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5566B"/>
                </a:solidFill>
              </a:rPr>
              <a:t>External context: EASA AI Concept Paper Issue 2 (2024); FAA AI Safety Assurance Roadmap (2024); UK CAA AI principles/strategy; MAA/RN/2025/04.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" y="6665976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8E5EA"/>
                </a:solidFill>
              </a:rPr>
              <a:t>Ethical Assurance &amp; Certification of MLA under DO-178C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138428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certification gap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5566B"/>
                </a:solidFill>
              </a:rPr>
              <a:t>DO-178C evidence remains necessary — but is insufficient for learned behaviour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411480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5240">
            <a:solidFill>
              <a:srgbClr val="2F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05256" y="1581912"/>
            <a:ext cx="395020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B32"/>
                </a:solidFill>
              </a:rPr>
              <a:t>Traditional software assurance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E2B32"/>
                </a:solidFill>
              </a:rPr>
              <a:t>• Requirements-based tests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E2B32"/>
                </a:solidFill>
              </a:rPr>
              <a:t>• Structural coverage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E2B32"/>
                </a:solidFill>
              </a:rPr>
              <a:t>• Tool qualification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E2B32"/>
                </a:solidFill>
              </a:rPr>
              <a:t>• CM / QA / independence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269480" y="1508760"/>
            <a:ext cx="411480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524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351776" y="1581912"/>
            <a:ext cx="395020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B32"/>
                </a:solidFill>
              </a:rPr>
              <a:t>MLA-specific assurance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E2B32"/>
                </a:solidFill>
              </a:rPr>
              <a:t>• Data provenance &amp; representativeness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E2B32"/>
                </a:solidFill>
              </a:rPr>
              <a:t>• ODD coverage &amp; distribution shift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E2B32"/>
                </a:solidFill>
              </a:rPr>
              <a:t>• Robustness &amp; uncertainty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E2B32"/>
                </a:solidFill>
              </a:rPr>
              <a:t>• Explainability, drift &amp; security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37760" y="2514600"/>
            <a:ext cx="2331720" cy="0"/>
          </a:xfrm>
          <a:prstGeom prst="line">
            <a:avLst/>
          </a:prstGeom>
          <a:noFill/>
          <a:ln w="17780">
            <a:solidFill>
              <a:srgbClr val="F2A65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303520" y="2350784"/>
            <a:ext cx="1554480" cy="320040"/>
          </a:xfrm>
          <a:prstGeom prst="roundRect">
            <a:avLst>
              <a:gd name="adj" fmla="val 17143"/>
            </a:avLst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362956" y="2442224"/>
            <a:ext cx="1408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B32"/>
                </a:solidFill>
              </a:rPr>
              <a:t>Assurance bridge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88720" y="4251960"/>
            <a:ext cx="9875520" cy="868680"/>
          </a:xfrm>
          <a:prstGeom prst="roundRect">
            <a:avLst>
              <a:gd name="adj" fmla="val 8421"/>
            </a:avLst>
          </a:prstGeom>
          <a:solidFill>
            <a:srgbClr val="ECE9FF"/>
          </a:solidFill>
          <a:ln w="15240">
            <a:solidFill>
              <a:srgbClr val="746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353312" y="4379976"/>
            <a:ext cx="954633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The document argues that MLA must not be treated as a special exception. It must be controlled, constrained, verified and monitored as part of the integrated system safety case.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02920" y="632764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5566B"/>
                </a:solidFill>
              </a:rPr>
              <a:t>Document abstract and preface: DO-178C is a baseline; additional evidence is required for model behaviour, data and operational drift.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02920" y="6665976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8E5EA"/>
                </a:solidFill>
              </a:rPr>
              <a:t>Ethical Assurance &amp; Certification of MLA under DO-178C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38428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Purpose, scope and boundary conditions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5566B"/>
                </a:solidFill>
              </a:rPr>
              <a:t>Start by narrowing the problem before claiming certifiability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4C9A5F"/>
          </a:solidFill>
          <a:ln w="12700">
            <a:solidFill>
              <a:srgbClr val="4C9A5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86968" y="1399032"/>
            <a:ext cx="4809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In scope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965960"/>
            <a:ext cx="46634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1E2B32"/>
                </a:solidFill>
              </a:rPr>
              <a:t>Supervised, offline-trained ML models</a:t>
            </a:r>
            <a:endParaRPr lang="en-US" sz="1500" dirty="0"/>
          </a:p>
          <a:p>
            <a:r>
              <a:rPr lang="en-US" sz="1500" dirty="0">
                <a:solidFill>
                  <a:srgbClr val="1E2B32"/>
                </a:solidFill>
              </a:rPr>
              <a:t>Classifiers, perception, decision support, anomaly detection and optimisation</a:t>
            </a:r>
            <a:endParaRPr lang="en-US" sz="1500" dirty="0"/>
          </a:p>
          <a:p>
            <a:r>
              <a:rPr lang="en-US" sz="1500" dirty="0">
                <a:solidFill>
                  <a:srgbClr val="1E2B32"/>
                </a:solidFill>
              </a:rPr>
              <a:t>Airborne and aviation-influencing systems including ground support, mission planning, maintenance and training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325880"/>
            <a:ext cx="5029200" cy="457200"/>
          </a:xfrm>
          <a:prstGeom prst="roundRect">
            <a:avLst>
              <a:gd name="adj" fmla="val 16000"/>
            </a:avLst>
          </a:prstGeom>
          <a:solidFill>
            <a:srgbClr val="D34B43"/>
          </a:solidFill>
          <a:ln w="12700">
            <a:solidFill>
              <a:srgbClr val="D34B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510528" y="1399032"/>
            <a:ext cx="48097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Out of scope / not approved by this argument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1965960"/>
            <a:ext cx="46634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1E2B32"/>
                </a:solidFill>
              </a:rPr>
              <a:t>Adaptive in-service learning</a:t>
            </a:r>
            <a:endParaRPr lang="en-US" sz="1500" dirty="0"/>
          </a:p>
          <a:p>
            <a:r>
              <a:rPr lang="en-US" sz="1500" dirty="0">
                <a:solidFill>
                  <a:srgbClr val="1E2B32"/>
                </a:solidFill>
              </a:rPr>
              <a:t>Autonomous lethal decision-making</a:t>
            </a:r>
            <a:endParaRPr lang="en-US" sz="1500" dirty="0"/>
          </a:p>
          <a:p>
            <a:r>
              <a:rPr lang="en-US" sz="1500" dirty="0">
                <a:solidFill>
                  <a:srgbClr val="1E2B32"/>
                </a:solidFill>
              </a:rPr>
              <a:t>Uncontrolled online model updates</a:t>
            </a:r>
            <a:endParaRPr lang="en-US" sz="1500" dirty="0"/>
          </a:p>
          <a:p>
            <a:r>
              <a:rPr lang="en-US" sz="1500" dirty="0">
                <a:solidFill>
                  <a:srgbClr val="1E2B32"/>
                </a:solidFill>
              </a:rPr>
              <a:t>Opaque third-party foundation-model dependency</a:t>
            </a:r>
            <a:endParaRPr lang="en-US" sz="1500" dirty="0"/>
          </a:p>
          <a:p>
            <a:r>
              <a:rPr lang="en-US" sz="1500" dirty="0">
                <a:solidFill>
                  <a:srgbClr val="1E2B32"/>
                </a:solidFill>
              </a:rPr>
              <a:t>Any deployment without agreed certification and safety basis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97280" y="4800600"/>
            <a:ext cx="99669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261872" y="4928616"/>
            <a:ext cx="96377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Default stance: freeze the model, configuration-control the datasets/tools/parameters, bound the output, and treat retraining as a formal change.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02920" y="6665976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8E5EA"/>
                </a:solidFill>
              </a:rPr>
              <a:t>Ethical Assurance &amp; Certification of MLA under DO-178C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38428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ecosystem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5566B"/>
                </a:solidFill>
              </a:rPr>
              <a:t>The report links assurance claims to defence, civil aviation and software assurance sources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32688" y="1399032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MOD dependable AI / safety / HFI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0" y="1325880"/>
            <a:ext cx="6537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736592" y="1453896"/>
            <a:ext cx="62087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Governance, ethics, human factors and safety accountability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37744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32688" y="2450592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DO-178C + DO-330/331/332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0" y="2377440"/>
            <a:ext cx="6537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736592" y="2505456"/>
            <a:ext cx="62087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Software lifecycle, tools, model-based development and OO techniques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342900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32688" y="3502152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ARP4754 / ARP4761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0" y="3429000"/>
            <a:ext cx="6537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736592" y="3557016"/>
            <a:ext cx="62087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System development, FHA/PSSA/SSA and safety case closure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22960" y="448056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32688" y="4553712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EASA / FAA / CAA / MAA AI guidance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0" y="4480560"/>
            <a:ext cx="65379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24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736592" y="4608576"/>
            <a:ext cx="62087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Learning assurance, explainability, transparency, oversight and staged adoption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14400" y="55961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2A3B"/>
                </a:solidFill>
              </a:rPr>
              <a:t>Key message for the audience: policy is already pointing toward a safety-case approach, not a generic model-accuracy argument.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2920" y="632764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5566B"/>
                </a:solidFill>
              </a:rPr>
              <a:t>Based on the document policy-context table and policy-traced arguments.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2920" y="6665976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8E5EA"/>
                </a:solidFill>
              </a:rPr>
              <a:t>Ethical Assurance &amp; Certification of MLA under DO-178C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138428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High-level certification 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5566B"/>
                </a:solidFill>
              </a:rPr>
              <a:t>Treat the flow as iterative, not as a simple waterfall schedule</a:t>
            </a:r>
            <a:endParaRPr lang="en-US" sz="1250" dirty="0"/>
          </a:p>
        </p:txBody>
      </p:sp>
      <p:pic>
        <p:nvPicPr>
          <p:cNvPr id="6" name="Image 0" descr="/mnt/data/docx_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517" y="1143000"/>
            <a:ext cx="3050005" cy="5074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0" y="1325880"/>
            <a:ext cx="571500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1E2B32"/>
                </a:solidFill>
              </a:rPr>
              <a:t>Concept and safety assessment define the certification basis and DAL early.</a:t>
            </a:r>
            <a:endParaRPr lang="en-US" sz="1600" dirty="0"/>
          </a:p>
          <a:p>
            <a:r>
              <a:rPr lang="en-US" sz="1600" dirty="0">
                <a:solidFill>
                  <a:srgbClr val="1E2B32"/>
                </a:solidFill>
              </a:rPr>
              <a:t>ML requirements and dataset definition must sit alongside system requirements.</a:t>
            </a:r>
            <a:endParaRPr lang="en-US" sz="1600" dirty="0"/>
          </a:p>
          <a:p>
            <a:r>
              <a:rPr lang="en-US" sz="1600" dirty="0">
                <a:solidFill>
                  <a:srgbClr val="1E2B32"/>
                </a:solidFill>
              </a:rPr>
              <a:t>Model training, software implementation and integrated verification converge before SIL, HIL and flight test.</a:t>
            </a:r>
            <a:endParaRPr lang="en-US" sz="1600" dirty="0"/>
          </a:p>
          <a:p>
            <a:r>
              <a:rPr lang="en-US" sz="1600" dirty="0">
                <a:solidFill>
                  <a:srgbClr val="1E2B32"/>
                </a:solidFill>
              </a:rPr>
              <a:t>Authority engagement, issue closure and evidence funding are programme dependencies, not late-stage admin.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897880" y="41605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ECE9FF"/>
          </a:solidFill>
          <a:ln w="15240">
            <a:solidFill>
              <a:srgbClr val="746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062472" y="4288536"/>
            <a:ext cx="506577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Piecemeal narrative: introduce each box as an evidence decision point. The question is not “did the model perform?” but “does the evidence still apply to the configured system?”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02920" y="632764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5566B"/>
                </a:solidFill>
              </a:rPr>
              <a:t>Document Figure 1, p.11.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02920" y="6665976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8E5EA"/>
                </a:solidFill>
              </a:rPr>
              <a:t>Ethical Assurance &amp; Certification of MLA under DO-178C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138428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assessment first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5566B"/>
                </a:solidFill>
              </a:rPr>
              <a:t>MLA hazards must be explicit before safety functions are allocated</a:t>
            </a:r>
            <a:endParaRPr lang="en-US" sz="1250" dirty="0"/>
          </a:p>
        </p:txBody>
      </p:sp>
      <p:pic>
        <p:nvPicPr>
          <p:cNvPr id="6" name="Image 0" descr="/mnt/data/docx_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8727"/>
            <a:ext cx="5303520" cy="57730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3246120"/>
            <a:ext cx="1508760" cy="475488"/>
          </a:xfrm>
          <a:prstGeom prst="rect">
            <a:avLst/>
          </a:prstGeom>
          <a:solidFill>
            <a:srgbClr val="0E2A3B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22960" y="33284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Factor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286000" y="3246120"/>
            <a:ext cx="1143000" cy="475488"/>
          </a:xfrm>
          <a:prstGeom prst="rect">
            <a:avLst/>
          </a:prstGeom>
          <a:solidFill>
            <a:srgbClr val="0E2A3B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2331720" y="332841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Low concern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29000" y="3246120"/>
            <a:ext cx="1325880" cy="475488"/>
          </a:xfrm>
          <a:prstGeom prst="rect">
            <a:avLst/>
          </a:prstGeom>
          <a:solidFill>
            <a:srgbClr val="0E2A3B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3474720" y="332841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Medium concern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54880" y="3246120"/>
            <a:ext cx="1051560" cy="475488"/>
          </a:xfrm>
          <a:prstGeom prst="rect">
            <a:avLst/>
          </a:prstGeom>
          <a:solidFill>
            <a:srgbClr val="0E2A3B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800600" y="332841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High concern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77240" y="3721608"/>
            <a:ext cx="1508760" cy="475488"/>
          </a:xfrm>
          <a:prstGeom prst="rect">
            <a:avLst/>
          </a:prstGeom>
          <a:solidFill>
            <a:srgbClr val="DCEAF6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822960" y="380390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B32"/>
                </a:solidFill>
              </a:rPr>
              <a:t>Function criticality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286000" y="3721608"/>
            <a:ext cx="1143000" cy="475488"/>
          </a:xfrm>
          <a:prstGeom prst="rect">
            <a:avLst/>
          </a:prstGeom>
          <a:solidFill>
            <a:srgbClr val="F8D868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2331720" y="380390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B32"/>
                </a:solidFill>
              </a:rPr>
              <a:t>Advisory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429000" y="3721608"/>
            <a:ext cx="1325880" cy="475488"/>
          </a:xfrm>
          <a:prstGeom prst="rect">
            <a:avLst/>
          </a:prstGeom>
          <a:solidFill>
            <a:srgbClr val="F2A65A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3474720" y="380390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B32"/>
                </a:solidFill>
              </a:rPr>
              <a:t>Influences operator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754880" y="3721608"/>
            <a:ext cx="1051560" cy="475488"/>
          </a:xfrm>
          <a:prstGeom prst="rect">
            <a:avLst/>
          </a:prstGeom>
          <a:solidFill>
            <a:srgbClr val="D34B43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4800600" y="380390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B32"/>
                </a:solidFill>
              </a:rPr>
              <a:t>Affects control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77240" y="4197096"/>
            <a:ext cx="1508760" cy="475488"/>
          </a:xfrm>
          <a:prstGeom prst="rect">
            <a:avLst/>
          </a:prstGeom>
          <a:solidFill>
            <a:srgbClr val="DCEAF6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822960" y="42793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B32"/>
                </a:solidFill>
              </a:rPr>
              <a:t>Model authority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286000" y="4197096"/>
            <a:ext cx="1143000" cy="475488"/>
          </a:xfrm>
          <a:prstGeom prst="rect">
            <a:avLst/>
          </a:prstGeom>
          <a:solidFill>
            <a:srgbClr val="F8D868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2331720" y="427939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B32"/>
                </a:solidFill>
              </a:rPr>
              <a:t>Recommendation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429000" y="4197096"/>
            <a:ext cx="1325880" cy="475488"/>
          </a:xfrm>
          <a:prstGeom prst="rect">
            <a:avLst/>
          </a:prstGeom>
          <a:solidFill>
            <a:srgbClr val="F2A65A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3474720" y="42793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B32"/>
                </a:solidFill>
              </a:rPr>
              <a:t>Bounded decision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54880" y="4197096"/>
            <a:ext cx="1051560" cy="475488"/>
          </a:xfrm>
          <a:prstGeom prst="rect">
            <a:avLst/>
          </a:prstGeom>
          <a:solidFill>
            <a:srgbClr val="D34B43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4800600" y="427939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B32"/>
                </a:solidFill>
              </a:rPr>
              <a:t>Autonomous action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77240" y="4672584"/>
            <a:ext cx="1508760" cy="475488"/>
          </a:xfrm>
          <a:prstGeom prst="rect">
            <a:avLst/>
          </a:prstGeom>
          <a:solidFill>
            <a:srgbClr val="DCEAF6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822960" y="47548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B32"/>
                </a:solidFill>
              </a:rPr>
              <a:t>Explainability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2286000" y="4672584"/>
            <a:ext cx="1143000" cy="475488"/>
          </a:xfrm>
          <a:prstGeom prst="rect">
            <a:avLst/>
          </a:prstGeom>
          <a:solidFill>
            <a:srgbClr val="F8D868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/>
          <p:nvPr/>
        </p:nvSpPr>
        <p:spPr>
          <a:xfrm>
            <a:off x="2331720" y="47548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B32"/>
                </a:solidFill>
              </a:rPr>
              <a:t>Clear rationale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429000" y="4672584"/>
            <a:ext cx="1325880" cy="475488"/>
          </a:xfrm>
          <a:prstGeom prst="rect">
            <a:avLst/>
          </a:prstGeom>
          <a:solidFill>
            <a:srgbClr val="F2A65A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3474720" y="47548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B32"/>
                </a:solidFill>
              </a:rPr>
              <a:t>Partial rationale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754880" y="4672584"/>
            <a:ext cx="1051560" cy="475488"/>
          </a:xfrm>
          <a:prstGeom prst="rect">
            <a:avLst/>
          </a:prstGeom>
          <a:solidFill>
            <a:srgbClr val="D34B43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4800600" y="47548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B32"/>
                </a:solidFill>
              </a:rPr>
              <a:t>Opaque output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777240" y="5148072"/>
            <a:ext cx="1508760" cy="475488"/>
          </a:xfrm>
          <a:prstGeom prst="rect">
            <a:avLst/>
          </a:prstGeom>
          <a:solidFill>
            <a:srgbClr val="DCEAF6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822960" y="52303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B32"/>
                </a:solidFill>
              </a:rPr>
              <a:t>ODD containment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2286000" y="5148072"/>
            <a:ext cx="1143000" cy="475488"/>
          </a:xfrm>
          <a:prstGeom prst="rect">
            <a:avLst/>
          </a:prstGeom>
          <a:solidFill>
            <a:srgbClr val="F8D868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2331720" y="523036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B32"/>
                </a:solidFill>
              </a:rPr>
              <a:t>Well defined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429000" y="5148072"/>
            <a:ext cx="1325880" cy="475488"/>
          </a:xfrm>
          <a:prstGeom prst="rect">
            <a:avLst/>
          </a:prstGeom>
          <a:solidFill>
            <a:srgbClr val="F2A65A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3474720" y="523036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B32"/>
                </a:solidFill>
              </a:rPr>
              <a:t>Partially monitored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754880" y="5148072"/>
            <a:ext cx="1051560" cy="475488"/>
          </a:xfrm>
          <a:prstGeom prst="rect">
            <a:avLst/>
          </a:prstGeom>
          <a:solidFill>
            <a:srgbClr val="D34B43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3"/>
          <p:cNvSpPr/>
          <p:nvPr/>
        </p:nvSpPr>
        <p:spPr>
          <a:xfrm>
            <a:off x="4800600" y="523036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B32"/>
                </a:solidFill>
              </a:rPr>
              <a:t>Poorly bounded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777240" y="5623560"/>
            <a:ext cx="1508760" cy="475488"/>
          </a:xfrm>
          <a:prstGeom prst="rect">
            <a:avLst/>
          </a:prstGeom>
          <a:solidFill>
            <a:srgbClr val="DCEAF6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5"/>
          <p:cNvSpPr/>
          <p:nvPr/>
        </p:nvSpPr>
        <p:spPr>
          <a:xfrm>
            <a:off x="822960" y="57058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E2B32"/>
                </a:solidFill>
              </a:rPr>
              <a:t>Fallback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2286000" y="5623560"/>
            <a:ext cx="1143000" cy="475488"/>
          </a:xfrm>
          <a:prstGeom prst="rect">
            <a:avLst/>
          </a:prstGeom>
          <a:solidFill>
            <a:srgbClr val="F8D868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7"/>
          <p:cNvSpPr/>
          <p:nvPr/>
        </p:nvSpPr>
        <p:spPr>
          <a:xfrm>
            <a:off x="2331720" y="57058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B32"/>
                </a:solidFill>
              </a:rPr>
              <a:t>Deterministic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3429000" y="5623560"/>
            <a:ext cx="1325880" cy="475488"/>
          </a:xfrm>
          <a:prstGeom prst="rect">
            <a:avLst/>
          </a:prstGeom>
          <a:solidFill>
            <a:srgbClr val="F2A65A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49"/>
          <p:cNvSpPr/>
          <p:nvPr/>
        </p:nvSpPr>
        <p:spPr>
          <a:xfrm>
            <a:off x="3474720" y="570585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B32"/>
                </a:solidFill>
              </a:rPr>
              <a:t>Verified human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4754880" y="5623560"/>
            <a:ext cx="1051560" cy="475488"/>
          </a:xfrm>
          <a:prstGeom prst="rect">
            <a:avLst/>
          </a:prstGeom>
          <a:solidFill>
            <a:srgbClr val="D34B43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1"/>
          <p:cNvSpPr/>
          <p:nvPr/>
        </p:nvSpPr>
        <p:spPr>
          <a:xfrm>
            <a:off x="4800600" y="570585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E2B32"/>
                </a:solidFill>
              </a:rPr>
              <a:t>No fallback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6172200" y="1325880"/>
            <a:ext cx="530352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1E2B32"/>
                </a:solidFill>
              </a:rPr>
              <a:t>A suitability matrix gives the audience a concrete decision screen.</a:t>
            </a:r>
            <a:endParaRPr lang="en-US" sz="1600" dirty="0"/>
          </a:p>
          <a:p>
            <a:r>
              <a:rPr lang="en-US" sz="1600" dirty="0">
                <a:solidFill>
                  <a:srgbClr val="1E2B32"/>
                </a:solidFill>
              </a:rPr>
              <a:t>High-criticality, opaque, unbounded or no-fallback cases should be de-scoped, downgraded or isolated.</a:t>
            </a:r>
            <a:endParaRPr lang="en-US" sz="1600" dirty="0"/>
          </a:p>
          <a:p>
            <a:r>
              <a:rPr lang="en-US" sz="1600" dirty="0">
                <a:solidFill>
                  <a:srgbClr val="1E2B32"/>
                </a:solidFill>
              </a:rPr>
              <a:t>The safety architecture — not model confidence alone — determines whether MLA can be credited.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309360" y="4069080"/>
            <a:ext cx="4983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34B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4"/>
          <p:cNvSpPr/>
          <p:nvPr/>
        </p:nvSpPr>
        <p:spPr>
          <a:xfrm>
            <a:off x="6473952" y="4197096"/>
            <a:ext cx="465429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Need for action: projects need a repeatable “go / constrain / stop” mechanism before AI becomes embedded in the design.</a:t>
            </a:r>
            <a:endParaRPr lang="en-US" sz="1550" dirty="0"/>
          </a:p>
        </p:txBody>
      </p:sp>
      <p:sp>
        <p:nvSpPr>
          <p:cNvPr id="58" name="Text 55"/>
          <p:cNvSpPr/>
          <p:nvPr/>
        </p:nvSpPr>
        <p:spPr>
          <a:xfrm>
            <a:off x="502920" y="632764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5566B"/>
                </a:solidFill>
              </a:rPr>
              <a:t>Document Figure 2, p.12 and Table 2, p.13.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502920" y="6665976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8E5EA"/>
                </a:solidFill>
              </a:rPr>
              <a:t>Ethical Assurance &amp; Certification of MLA under DO-178C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1138428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principle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5566B"/>
                </a:solidFill>
              </a:rPr>
              <a:t>Make the system boundary deterministic even when the model is statistical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94560" y="1874520"/>
            <a:ext cx="1645920" cy="0"/>
          </a:xfrm>
          <a:prstGeom prst="line">
            <a:avLst/>
          </a:prstGeom>
          <a:noFill/>
          <a:ln w="17780">
            <a:solidFill>
              <a:srgbClr val="35566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577840" y="1874520"/>
            <a:ext cx="1645920" cy="0"/>
          </a:xfrm>
          <a:prstGeom prst="line">
            <a:avLst/>
          </a:prstGeom>
          <a:noFill/>
          <a:ln w="17780">
            <a:solidFill>
              <a:srgbClr val="35566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778240" y="1874520"/>
            <a:ext cx="1280160" cy="0"/>
          </a:xfrm>
          <a:prstGeom prst="line">
            <a:avLst/>
          </a:prstGeom>
          <a:noFill/>
          <a:ln w="17780">
            <a:solidFill>
              <a:srgbClr val="35566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035040" y="2743200"/>
            <a:ext cx="0" cy="960120"/>
          </a:xfrm>
          <a:prstGeom prst="line">
            <a:avLst/>
          </a:prstGeom>
          <a:noFill/>
          <a:ln w="17780">
            <a:solidFill>
              <a:srgbClr val="0F7C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31520" y="1508760"/>
            <a:ext cx="1737360" cy="731520"/>
          </a:xfrm>
          <a:prstGeom prst="roundRect">
            <a:avLst>
              <a:gd name="adj" fmla="val 8750"/>
            </a:avLst>
          </a:prstGeom>
          <a:solidFill>
            <a:srgbClr val="DCEAF6"/>
          </a:solidFill>
          <a:ln w="15240">
            <a:solidFill>
              <a:srgbClr val="2F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13816" y="1581912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B32"/>
                </a:solidFill>
              </a:rPr>
              <a:t>Constrained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B32"/>
                </a:solidFill>
              </a:rPr>
              <a:t>inputs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0" y="1508760"/>
            <a:ext cx="2011680" cy="731520"/>
          </a:xfrm>
          <a:prstGeom prst="roundRect">
            <a:avLst>
              <a:gd name="adj" fmla="val 8750"/>
            </a:avLst>
          </a:prstGeom>
          <a:solidFill>
            <a:srgbClr val="ECE9FF"/>
          </a:solidFill>
          <a:ln w="15240">
            <a:solidFill>
              <a:srgbClr val="746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739896" y="1581912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B32"/>
                </a:solidFill>
              </a:rPr>
              <a:t>MLA 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B32"/>
                </a:solidFill>
              </a:rPr>
              <a:t>(frozen baseline)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78040" y="1508760"/>
            <a:ext cx="1783080" cy="731520"/>
          </a:xfrm>
          <a:prstGeom prst="roundRect">
            <a:avLst>
              <a:gd name="adj" fmla="val 8750"/>
            </a:avLst>
          </a:prstGeom>
          <a:solidFill>
            <a:srgbClr val="DCEAF6"/>
          </a:solidFill>
          <a:ln w="1524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260336" y="1581912"/>
            <a:ext cx="1618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B32"/>
                </a:solidFill>
              </a:rPr>
              <a:t>Runtime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B32"/>
                </a:solidFill>
              </a:rPr>
              <a:t>monitor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875520" y="1508760"/>
            <a:ext cx="173736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524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957816" y="1581912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B32"/>
                </a:solidFill>
              </a:rPr>
              <a:t>Safe output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2B32"/>
                </a:solidFill>
              </a:rPr>
              <a:t>interface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40480" y="3703320"/>
            <a:ext cx="438912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240">
            <a:solidFill>
              <a:srgbClr val="D34B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922776" y="3776472"/>
            <a:ext cx="422452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B32"/>
                </a:solidFill>
              </a:rPr>
              <a:t>Fallback / rejection / degraded mode / human review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4892040"/>
            <a:ext cx="101498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50" dirty="0">
                <a:solidFill>
                  <a:srgbClr val="1E2B32"/>
                </a:solidFill>
              </a:rPr>
              <a:t>Isolate and partition MLA components like other safety-related items.</a:t>
            </a:r>
            <a:endParaRPr lang="en-US" sz="1450" dirty="0"/>
          </a:p>
          <a:p>
            <a:r>
              <a:rPr lang="en-US" sz="1450" dirty="0">
                <a:solidFill>
                  <a:srgbClr val="1E2B32"/>
                </a:solidFill>
              </a:rPr>
              <a:t>Expose safely interpreted information: enumerated states, mapped classes or constrained confidence bands.</a:t>
            </a:r>
            <a:endParaRPr lang="en-US" sz="1450" dirty="0"/>
          </a:p>
          <a:p>
            <a:r>
              <a:rPr lang="en-US" sz="1450" dirty="0">
                <a:solidFill>
                  <a:srgbClr val="1E2B32"/>
                </a:solidFill>
              </a:rPr>
              <a:t>Verify rejection logic, fallback paths and monitor behaviour as part of the safety architecture.</a:t>
            </a:r>
            <a:endParaRPr lang="en-US" sz="1450" dirty="0"/>
          </a:p>
          <a:p>
            <a:r>
              <a:rPr lang="en-US" sz="1450" dirty="0">
                <a:solidFill>
                  <a:srgbClr val="1E2B32"/>
                </a:solidFill>
              </a:rPr>
              <a:t>Range limits alone do not demonstrate contextual validity or safe recovery.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02920" y="6665976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8E5EA"/>
                </a:solidFill>
              </a:rPr>
              <a:t>Ethical Assurance &amp; Certification of MLA under DO-178C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138428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MLDevOps for certification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5566B"/>
                </a:solidFill>
              </a:rPr>
              <a:t>A controlled assurance pipeline, not a rapid model-improvement loop</a:t>
            </a:r>
            <a:endParaRPr lang="en-US" sz="1250" dirty="0"/>
          </a:p>
        </p:txBody>
      </p:sp>
      <p:pic>
        <p:nvPicPr>
          <p:cNvPr id="6" name="Image 0" descr="/mnt/data/docx_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629" y="1143000"/>
            <a:ext cx="1901743" cy="4937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46120" y="1325880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3355848" y="1399032"/>
            <a:ext cx="6949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ML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343400" y="1325880"/>
            <a:ext cx="6720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507992" y="1453896"/>
            <a:ext cx="63916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Datasets, provenance, ODD coverage, bias, training configuration, robustness and known failure modes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3246120" y="2651760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2F67B1"/>
          </a:solidFill>
          <a:ln w="12700">
            <a:solidFill>
              <a:srgbClr val="2F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3355848" y="2724912"/>
            <a:ext cx="6949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DEV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43400" y="2651760"/>
            <a:ext cx="6720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2F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4507992" y="2779776"/>
            <a:ext cx="63916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Interfaces, monitors, deterministic safety controls, fallback, integration and portability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3246120" y="3977640"/>
            <a:ext cx="914400" cy="475488"/>
          </a:xfrm>
          <a:prstGeom prst="roundRect">
            <a:avLst>
              <a:gd name="adj" fmla="val 15385"/>
            </a:avLst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3355848" y="4050792"/>
            <a:ext cx="6949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OPS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343400" y="3977640"/>
            <a:ext cx="672084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4507992" y="4105656"/>
            <a:ext cx="639165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Release baselines, evidence packs, drift monitoring, change control and continued approval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3291840" y="5486400"/>
            <a:ext cx="7818120" cy="548640"/>
          </a:xfrm>
          <a:prstGeom prst="roundRect">
            <a:avLst>
              <a:gd name="adj" fmla="val 13333"/>
            </a:avLst>
          </a:prstGeom>
          <a:solidFill>
            <a:srgbClr val="ECE9FF"/>
          </a:solidFill>
          <a:ln w="15240">
            <a:solidFill>
              <a:srgbClr val="746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3456432" y="5614416"/>
            <a:ext cx="74889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The pipeline must produce evidence as a first-class output: datasets, tools, parameters, environment definitions and model baselines must be reconstructable.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502920" y="632764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5566B"/>
                </a:solidFill>
              </a:rPr>
              <a:t>Document model implementation and MLDevOps sections, pp.14–18.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02920" y="6665976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8E5EA"/>
                </a:solidFill>
              </a:rPr>
              <a:t>Ethical Assurance &amp; Certification of MLA under DO-178C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1138428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Specific recommendations: design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5566B"/>
                </a:solidFill>
              </a:rPr>
              <a:t>Design the MLA as a bounded system item, not a free-standing algorithm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41248" y="1307592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Modular item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71800" y="1234440"/>
            <a:ext cx="2788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136392" y="1362456"/>
            <a:ext cx="24597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Allocate explicit requirements, interfaces, input constraints and output meanings to the MLA component.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41248" y="2633472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Deterministic boundary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971800" y="2560320"/>
            <a:ext cx="2788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136392" y="2688336"/>
            <a:ext cx="24597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Expose only safely interpreted outputs: enumerated states, mapped classes or constrained confidence bands.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41248" y="3959352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Isolation &amp; partitioning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971800" y="3886200"/>
            <a:ext cx="2788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136392" y="4014216"/>
            <a:ext cx="24597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Use loose coupling, partitioning and redundancy where the safety assessment requires it.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355080" y="123444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64808" y="1307592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Monitor + fallback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595360" y="1234440"/>
            <a:ext cx="2788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759952" y="1362456"/>
            <a:ext cx="24597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Design runtime monitors, rejection logic, degraded modes and verified fallback paths from the outset.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355080" y="256032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64808" y="2633472"/>
            <a:ext cx="183794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Suitability gate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595360" y="2560320"/>
            <a:ext cx="2788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759952" y="2688336"/>
            <a:ext cx="24597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If criticality, autonomy, opacity or ODD uncertainty is high, de-scope, downgrade or isolate the function.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1005840" y="5532120"/>
            <a:ext cx="10149840" cy="621792"/>
          </a:xfrm>
          <a:prstGeom prst="roundRect">
            <a:avLst>
              <a:gd name="adj" fmla="val 11765"/>
            </a:avLst>
          </a:prstGeom>
          <a:solidFill>
            <a:srgbClr val="ECE9FF"/>
          </a:solidFill>
          <a:ln w="15240">
            <a:solidFill>
              <a:srgbClr val="746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170432" y="5660136"/>
            <a:ext cx="982065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Design test for adoption: can the surrounding architecture keep the aircraft or aviation system safe when the model is wrong, uncertain, stale, unavailable or adversarially influenced?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02920" y="632764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5566B"/>
                </a:solidFill>
              </a:rPr>
              <a:t>Drawn from Architecture Design and suitability matrix recommendations, pp.13–14.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02920" y="6665976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8E5EA"/>
                </a:solidFill>
              </a:rPr>
              <a:t>Ethical Assurance &amp; Certification of MLA under DO-178C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138428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Specific recommendations: implementation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5566B"/>
                </a:solidFill>
              </a:rPr>
              <a:t>Make repeatability and configuration control part of the model build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4983480" cy="457200"/>
          </a:xfrm>
          <a:prstGeom prst="roundRect">
            <a:avLst>
              <a:gd name="adj" fmla="val 16000"/>
            </a:avLst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86968" y="1307592"/>
            <a:ext cx="47640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 and model build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874520"/>
            <a:ext cx="457200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50" dirty="0">
                <a:solidFill>
                  <a:srgbClr val="1E2B32"/>
                </a:solidFill>
              </a:rPr>
              <a:t>Validated, configuration-controlled datasets</a:t>
            </a:r>
            <a:endParaRPr lang="en-US" sz="1450" dirty="0"/>
          </a:p>
          <a:p>
            <a:r>
              <a:rPr lang="en-US" sz="1450" dirty="0">
                <a:solidFill>
                  <a:srgbClr val="1E2B32"/>
                </a:solidFill>
              </a:rPr>
              <a:t>Documented provenance, ownership, licensing and suitability</a:t>
            </a:r>
            <a:endParaRPr lang="en-US" sz="1450" dirty="0"/>
          </a:p>
          <a:p>
            <a:r>
              <a:rPr lang="en-US" sz="1450" dirty="0">
                <a:solidFill>
                  <a:srgbClr val="1E2B32"/>
                </a:solidFill>
              </a:rPr>
              <a:t>Bias, imbalance, under-representation and over-representation analysis</a:t>
            </a:r>
            <a:endParaRPr lang="en-US" sz="1450" dirty="0"/>
          </a:p>
          <a:p>
            <a:r>
              <a:rPr lang="en-US" sz="1450" dirty="0">
                <a:solidFill>
                  <a:srgbClr val="1E2B32"/>
                </a:solidFill>
              </a:rPr>
              <a:t>Model architecture, hyperparameters, tooling and environment baselines</a:t>
            </a:r>
            <a:endParaRPr lang="en-US" sz="1450" dirty="0"/>
          </a:p>
          <a:p>
            <a:r>
              <a:rPr lang="en-US" sz="1450" dirty="0">
                <a:solidFill>
                  <a:srgbClr val="1E2B32"/>
                </a:solidFill>
              </a:rPr>
              <a:t>Repeatable training pipeline with reconstructable outputs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0" y="1234440"/>
            <a:ext cx="4983480" cy="457200"/>
          </a:xfrm>
          <a:prstGeom prst="roundRect">
            <a:avLst>
              <a:gd name="adj" fmla="val 16000"/>
            </a:avLst>
          </a:prstGeom>
          <a:solidFill>
            <a:srgbClr val="2F67B1"/>
          </a:solidFill>
          <a:ln w="12700">
            <a:solidFill>
              <a:srgbClr val="2F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510528" y="1307592"/>
            <a:ext cx="47640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Deployment and environment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1874520"/>
            <a:ext cx="457200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50" dirty="0">
                <a:solidFill>
                  <a:srgbClr val="1E2B32"/>
                </a:solidFill>
              </a:rPr>
              <a:t>Demonstrate functional equivalence between development and target-equivalent environments</a:t>
            </a:r>
            <a:endParaRPr lang="en-US" sz="1450" dirty="0"/>
          </a:p>
          <a:p>
            <a:r>
              <a:rPr lang="en-US" sz="1450" dirty="0">
                <a:solidFill>
                  <a:srgbClr val="1E2B32"/>
                </a:solidFill>
              </a:rPr>
              <a:t>Analyse portability where GPUs, TPUs or high-memory embedded processors are used</a:t>
            </a:r>
            <a:endParaRPr lang="en-US" sz="1450" dirty="0"/>
          </a:p>
          <a:p>
            <a:r>
              <a:rPr lang="en-US" sz="1450" dirty="0">
                <a:solidFill>
                  <a:srgbClr val="1E2B32"/>
                </a:solidFill>
              </a:rPr>
              <a:t>Control preprocessing, post-processing, model files, thresholds and generated artefacts</a:t>
            </a:r>
            <a:endParaRPr lang="en-US" sz="1450" dirty="0"/>
          </a:p>
          <a:p>
            <a:r>
              <a:rPr lang="en-US" sz="1450" dirty="0">
                <a:solidFill>
                  <a:srgbClr val="1E2B32"/>
                </a:solidFill>
              </a:rPr>
              <a:t>Prevent technical debt from compromising verification or evidence traceability</a:t>
            </a:r>
            <a:endParaRPr lang="en-US" sz="1450" dirty="0"/>
          </a:p>
          <a:p>
            <a:r>
              <a:rPr lang="en-US" sz="1450" dirty="0">
                <a:solidFill>
                  <a:srgbClr val="1E2B32"/>
                </a:solidFill>
              </a:rPr>
              <a:t>Freeze model baselines before certification evidence is credited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51560" y="5257800"/>
            <a:ext cx="10058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216152" y="5385816"/>
            <a:ext cx="972921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Implementation recommendation: establish the MLDevOps/CAS pipeline before substantive model development, so evidence is generated regressively rather than reconstructed after the fact.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02920" y="632764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5566B"/>
                </a:solidFill>
              </a:rPr>
              <a:t>Drawn from Model Implementation and MLDevOps process sections, pp.14–18.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02920" y="6665976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8E5EA"/>
                </a:solidFill>
              </a:rPr>
              <a:t>Ethical Assurance &amp; Certification of MLA under DO-178C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138428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Specific recommendations: testing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5566B"/>
                </a:solidFill>
              </a:rPr>
              <a:t>Verify both model performance and safe integrated behaviour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1234440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32688" y="1307592"/>
            <a:ext cx="11064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Unit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423160" y="1234440"/>
            <a:ext cx="8823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587752" y="1362456"/>
            <a:ext cx="84947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Preprocessing, feature extraction, input validation, post-processing, confidence handling, monitor logic, model loading, boundary values and malformed inputs.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258568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32688" y="2331720"/>
            <a:ext cx="11064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SIL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423160" y="2258568"/>
            <a:ext cx="8823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587752" y="2386584"/>
            <a:ext cx="84947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Nominal scenarios, edge cases, degraded data, simulated sensor failures, out-of-distribution inputs and regression datasets.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3282696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2F67B1"/>
          </a:solidFill>
          <a:ln w="12700">
            <a:solidFill>
              <a:srgbClr val="2F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32688" y="3355848"/>
            <a:ext cx="11064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HIL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423160" y="3282696"/>
            <a:ext cx="8823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2F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587752" y="3410712"/>
            <a:ext cx="84947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Timing, memory, processing constraints, bus behaviour, sensor effects and target-equivalent hardware performance.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22960" y="4306824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7461D1"/>
          </a:solidFill>
          <a:ln w="12700">
            <a:solidFill>
              <a:srgbClr val="746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32688" y="4379976"/>
            <a:ext cx="11064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Flight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423160" y="4306824"/>
            <a:ext cx="88239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746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587752" y="4434840"/>
            <a:ext cx="84947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Real-world validation, HMI assessment, certification data collection, clear test boundaries, fallback procedures, independent monitoring and abort criteria.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1097280" y="5623560"/>
            <a:ext cx="10012680" cy="566928"/>
          </a:xfrm>
          <a:prstGeom prst="roundRect">
            <a:avLst>
              <a:gd name="adj" fmla="val 12903"/>
            </a:avLst>
          </a:prstGeom>
          <a:solidFill>
            <a:srgbClr val="ECE9FF"/>
          </a:solidFill>
          <a:ln w="15240">
            <a:solidFill>
              <a:srgbClr val="746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261872" y="5751576"/>
            <a:ext cx="968349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Testing recommendation: demonstrate safe system response when the model is correct, incorrect, uncertain, unavailable, degraded or exposed to unexpected inputs.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02920" y="632764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5566B"/>
                </a:solidFill>
              </a:rPr>
              <a:t>Drawn from Verification of the Model and Integrated System and System Integration and Flight Testing sections, pp.18–23.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02920" y="6665976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8E5EA"/>
                </a:solidFill>
              </a:rPr>
              <a:t>Ethical Assurance &amp; Certification of MLA under DO-178C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38428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different from conventional DO-178C assurance?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5566B"/>
                </a:solidFill>
              </a:rPr>
              <a:t>The discipline remains, but the evidence object changes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143000"/>
            <a:ext cx="1828800" cy="749808"/>
          </a:xfrm>
          <a:prstGeom prst="rect">
            <a:avLst/>
          </a:prstGeom>
          <a:solidFill>
            <a:srgbClr val="0E2A3B"/>
          </a:solidFill>
          <a:ln w="10160">
            <a:solidFill>
              <a:srgbClr val="E9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67512" y="1243584"/>
            <a:ext cx="1682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Assurance area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143000"/>
            <a:ext cx="2743200" cy="749808"/>
          </a:xfrm>
          <a:prstGeom prst="rect">
            <a:avLst/>
          </a:prstGeom>
          <a:solidFill>
            <a:srgbClr val="0E2A3B"/>
          </a:solidFill>
          <a:ln w="10160">
            <a:solidFill>
              <a:srgbClr val="E9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496312" y="1243584"/>
            <a:ext cx="2596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Conventional software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66360" y="1143000"/>
            <a:ext cx="6080760" cy="749808"/>
          </a:xfrm>
          <a:prstGeom prst="rect">
            <a:avLst/>
          </a:prstGeom>
          <a:solidFill>
            <a:srgbClr val="0E2A3B"/>
          </a:solidFill>
          <a:ln w="10160">
            <a:solidFill>
              <a:srgbClr val="E9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239512" y="1243584"/>
            <a:ext cx="5934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MLA-enabled system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1892808"/>
            <a:ext cx="1828800" cy="749808"/>
          </a:xfrm>
          <a:prstGeom prst="rect">
            <a:avLst/>
          </a:prstGeom>
          <a:solidFill>
            <a:srgbClr val="DCEAF6"/>
          </a:solidFill>
          <a:ln w="10160">
            <a:solidFill>
              <a:srgbClr val="E9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67512" y="1993392"/>
            <a:ext cx="1682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E2B32"/>
                </a:solidFill>
              </a:rPr>
              <a:t>Requirements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2423160" y="1892808"/>
            <a:ext cx="2743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9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2496312" y="1993392"/>
            <a:ext cx="2596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E2B32"/>
                </a:solidFill>
              </a:rPr>
              <a:t>Mostly explicit behaviour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166360" y="1892808"/>
            <a:ext cx="60807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9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239512" y="1993392"/>
            <a:ext cx="5934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E2B32"/>
                </a:solidFill>
              </a:rPr>
              <a:t>Behaviour partly learned from data; data and ODD requirements become first-class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594360" y="2642616"/>
            <a:ext cx="1828800" cy="749808"/>
          </a:xfrm>
          <a:prstGeom prst="rect">
            <a:avLst/>
          </a:prstGeom>
          <a:solidFill>
            <a:srgbClr val="DCEAF6"/>
          </a:solidFill>
          <a:ln w="10160">
            <a:solidFill>
              <a:srgbClr val="E9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67512" y="2743200"/>
            <a:ext cx="1682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E2B32"/>
                </a:solidFill>
              </a:rPr>
              <a:t>Coverage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2423160" y="2642616"/>
            <a:ext cx="2743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9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496312" y="2743200"/>
            <a:ext cx="2596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E2B32"/>
                </a:solidFill>
              </a:rPr>
              <a:t>Structural coverage supports code assurance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5166360" y="2642616"/>
            <a:ext cx="60807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9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239512" y="2743200"/>
            <a:ext cx="5934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E2B32"/>
                </a:solidFill>
              </a:rPr>
              <a:t>Need dataset, scenario, ODD, edge-case and robustness coverage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594360" y="3392424"/>
            <a:ext cx="1828800" cy="749808"/>
          </a:xfrm>
          <a:prstGeom prst="rect">
            <a:avLst/>
          </a:prstGeom>
          <a:solidFill>
            <a:srgbClr val="DCEAF6"/>
          </a:solidFill>
          <a:ln w="10160">
            <a:solidFill>
              <a:srgbClr val="E9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67512" y="3493008"/>
            <a:ext cx="1682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E2B32"/>
                </a:solidFill>
              </a:rPr>
              <a:t>Correctness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2423160" y="3392424"/>
            <a:ext cx="2743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9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2496312" y="3493008"/>
            <a:ext cx="2596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E2B32"/>
                </a:solidFill>
              </a:rPr>
              <a:t>Can reason from requirements, design and code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5166360" y="3392424"/>
            <a:ext cx="60807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9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239512" y="3493008"/>
            <a:ext cx="5934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E2B32"/>
                </a:solidFill>
              </a:rPr>
              <a:t>Must demonstrate statistical behaviour, uncertainty and limits of generalisation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594360" y="4142232"/>
            <a:ext cx="1828800" cy="749808"/>
          </a:xfrm>
          <a:prstGeom prst="rect">
            <a:avLst/>
          </a:prstGeom>
          <a:solidFill>
            <a:srgbClr val="DCEAF6"/>
          </a:solidFill>
          <a:ln w="10160">
            <a:solidFill>
              <a:srgbClr val="E9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67512" y="4242816"/>
            <a:ext cx="1682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E2B32"/>
                </a:solidFill>
              </a:rPr>
              <a:t>Change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2423160" y="4142232"/>
            <a:ext cx="2743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9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2496312" y="4242816"/>
            <a:ext cx="2596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E2B32"/>
                </a:solidFill>
              </a:rPr>
              <a:t>Source/configuration changes dominate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5166360" y="4142232"/>
            <a:ext cx="60807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9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5239512" y="4242816"/>
            <a:ext cx="5934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E2B32"/>
                </a:solidFill>
              </a:rPr>
              <a:t>Dataset, labels, hyperparameters, model weights, thresholds and tools also change behaviour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594360" y="4892040"/>
            <a:ext cx="1828800" cy="749808"/>
          </a:xfrm>
          <a:prstGeom prst="rect">
            <a:avLst/>
          </a:prstGeom>
          <a:solidFill>
            <a:srgbClr val="DCEAF6"/>
          </a:solidFill>
          <a:ln w="10160">
            <a:solidFill>
              <a:srgbClr val="E9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67512" y="4992624"/>
            <a:ext cx="1682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E2B32"/>
                </a:solidFill>
              </a:rPr>
              <a:t>Operations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2423160" y="4892040"/>
            <a:ext cx="2743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9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2496312" y="4992624"/>
            <a:ext cx="2596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E2B32"/>
                </a:solidFill>
              </a:rPr>
              <a:t>Post-release monitoring supports continued airworthiness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5166360" y="4892040"/>
            <a:ext cx="608076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9EEF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5239512" y="4992624"/>
            <a:ext cx="5934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E2B32"/>
                </a:solidFill>
              </a:rPr>
              <a:t>Drift and ODD excursions can invalidate certified assumptions without code changes</a:t>
            </a:r>
            <a:endParaRPr lang="en-US" sz="1030" dirty="0"/>
          </a:p>
        </p:txBody>
      </p:sp>
      <p:sp>
        <p:nvSpPr>
          <p:cNvPr id="42" name="Text 40"/>
          <p:cNvSpPr/>
          <p:nvPr/>
        </p:nvSpPr>
        <p:spPr>
          <a:xfrm>
            <a:off x="502920" y="632764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5566B"/>
                </a:solidFill>
              </a:rPr>
              <a:t>Synthesised from the document preface and ML-specific considerations, pp.8–9 and pp.25–28.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02920" y="6665976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8E5EA"/>
                </a:solidFill>
              </a:rPr>
              <a:t>Ethical Assurance &amp; Certification of MLA under DO-178C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138428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ladder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5566B"/>
                </a:solidFill>
              </a:rPr>
              <a:t>Progress from model behaviour to operationally representative system evidence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965960" y="2148840"/>
            <a:ext cx="868680" cy="0"/>
          </a:xfrm>
          <a:prstGeom prst="line">
            <a:avLst/>
          </a:prstGeom>
          <a:noFill/>
          <a:ln w="17780">
            <a:solidFill>
              <a:srgbClr val="0F7C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069080" y="2148840"/>
            <a:ext cx="914400" cy="0"/>
          </a:xfrm>
          <a:prstGeom prst="line">
            <a:avLst/>
          </a:prstGeom>
          <a:noFill/>
          <a:ln w="17780">
            <a:solidFill>
              <a:srgbClr val="0F7C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217920" y="2148840"/>
            <a:ext cx="914400" cy="0"/>
          </a:xfrm>
          <a:prstGeom prst="line">
            <a:avLst/>
          </a:prstGeom>
          <a:noFill/>
          <a:ln w="17780">
            <a:solidFill>
              <a:srgbClr val="0F7C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366760" y="2148840"/>
            <a:ext cx="914400" cy="0"/>
          </a:xfrm>
          <a:prstGeom prst="line">
            <a:avLst/>
          </a:prstGeom>
          <a:noFill/>
          <a:ln w="17780">
            <a:solidFill>
              <a:srgbClr val="0F7C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22960" y="1600200"/>
            <a:ext cx="1417320" cy="640080"/>
          </a:xfrm>
          <a:prstGeom prst="roundRect">
            <a:avLst>
              <a:gd name="adj" fmla="val 10000"/>
            </a:avLst>
          </a:prstGeom>
          <a:solidFill>
            <a:srgbClr val="DCEAF6"/>
          </a:solidFill>
          <a:ln w="15240">
            <a:solidFill>
              <a:srgbClr val="2F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05256" y="1673352"/>
            <a:ext cx="125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B32"/>
                </a:solidFill>
              </a:rPr>
              <a:t>Unit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288036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2F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58952" y="3008376"/>
            <a:ext cx="14996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Supporting software, model load, boundary and malformed inputs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2926080" y="1600200"/>
            <a:ext cx="14173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008376" y="1673352"/>
            <a:ext cx="125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B32"/>
                </a:solidFill>
              </a:rPr>
              <a:t>SIL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697480" y="288036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862072" y="3008376"/>
            <a:ext cx="14996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Nominal, edge, degraded, OOD and regression scenarios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074920" y="1600200"/>
            <a:ext cx="1417320" cy="640080"/>
          </a:xfrm>
          <a:prstGeom prst="roundRect">
            <a:avLst>
              <a:gd name="adj" fmla="val 10000"/>
            </a:avLst>
          </a:prstGeom>
          <a:solidFill>
            <a:srgbClr val="DCEAF6"/>
          </a:solidFill>
          <a:ln w="15240">
            <a:solidFill>
              <a:srgbClr val="2F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157216" y="1673352"/>
            <a:ext cx="125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B32"/>
                </a:solidFill>
              </a:rPr>
              <a:t>HIL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6320" y="288036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2F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010912" y="3008376"/>
            <a:ext cx="14996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Timing, resources, bus, sensor and target-equivalent hardware effects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223760" y="1600200"/>
            <a:ext cx="14173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306056" y="1673352"/>
            <a:ext cx="125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B32"/>
                </a:solidFill>
              </a:rPr>
              <a:t>Integration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95160" y="288036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159752" y="3008376"/>
            <a:ext cx="14996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Model plus monitors, fallback, override and safety response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9372600" y="1600200"/>
            <a:ext cx="1417320" cy="640080"/>
          </a:xfrm>
          <a:prstGeom prst="roundRect">
            <a:avLst>
              <a:gd name="adj" fmla="val 10000"/>
            </a:avLst>
          </a:prstGeom>
          <a:solidFill>
            <a:srgbClr val="DCEAF6"/>
          </a:solidFill>
          <a:ln w="15240">
            <a:solidFill>
              <a:srgbClr val="2F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454896" y="1673352"/>
            <a:ext cx="125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B32"/>
                </a:solidFill>
              </a:rPr>
              <a:t>Flight test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144000" y="288036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2F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9308592" y="3008376"/>
            <a:ext cx="14996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Real-world validation with boundaries, abort criteria and independent monitoring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960120" y="52578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3B"/>
                </a:solidFill>
              </a:rPr>
              <a:t>Do not use flight test to discover basic model failure modes; use it to validate assumptions and collect evidence under controlled conditions.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02920" y="6665976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8E5EA"/>
                </a:solidFill>
              </a:rPr>
              <a:t>Ethical Assurance &amp; Certification of MLA under DO-178C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138428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 qualification expands for MLA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5566B"/>
                </a:solidFill>
              </a:rPr>
              <a:t>Tools may shape the evidence, not just the code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1234440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32688" y="130759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Training frameworks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54680" y="1234440"/>
            <a:ext cx="2697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319272" y="1362456"/>
            <a:ext cx="23682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Model artefacts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32688" y="251460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 preprocessing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154680" y="2441448"/>
            <a:ext cx="2697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319272" y="2569464"/>
            <a:ext cx="23682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Feature distributions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3648456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32688" y="3721608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Labelling / annotation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154680" y="3648456"/>
            <a:ext cx="2697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319272" y="3776472"/>
            <a:ext cx="23682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Ground truth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446520" y="1234440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556248" y="130759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Synthetic data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778240" y="1234440"/>
            <a:ext cx="2697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942832" y="1362456"/>
            <a:ext cx="23682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Evidence representativeness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446520" y="2441448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556248" y="2514600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Model conversion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778240" y="2441448"/>
            <a:ext cx="2697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942832" y="2569464"/>
            <a:ext cx="23682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Deployable baseline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446520" y="3648456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556248" y="3721608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Evidence systems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778240" y="3648456"/>
            <a:ext cx="2697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942832" y="3776472"/>
            <a:ext cx="236829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Traceability &amp; compliance status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1965960" y="5074920"/>
            <a:ext cx="8366760" cy="685800"/>
          </a:xfrm>
          <a:prstGeom prst="roundRect">
            <a:avLst>
              <a:gd name="adj" fmla="val 10667"/>
            </a:avLst>
          </a:prstGeom>
          <a:solidFill>
            <a:srgbClr val="ECE9FF"/>
          </a:solidFill>
          <a:ln w="15240">
            <a:solidFill>
              <a:srgbClr val="746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2130552" y="5202936"/>
            <a:ext cx="80375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Qualification question: could an undetected tool error mask a defect, corrupt evidence, generate deployable artefacts or change model behaviour?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502920" y="6665976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8E5EA"/>
                </a:solidFill>
              </a:rPr>
              <a:t>Ethical Assurance &amp; Certification of MLA under DO-178C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138428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Certification package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5566B"/>
                </a:solidFill>
              </a:rPr>
              <a:t>A coherent, reviewable evidence body linked to a configured release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86968" y="1307592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Conventional artefacts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1828800"/>
            <a:ext cx="297180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1E2B32"/>
                </a:solidFill>
              </a:rPr>
              <a:t>PSAC / certification plans</a:t>
            </a:r>
            <a:endParaRPr lang="en-US" sz="1400" dirty="0"/>
          </a:p>
          <a:p>
            <a:r>
              <a:rPr lang="en-US" sz="1400" dirty="0">
                <a:solidFill>
                  <a:srgbClr val="1E2B32"/>
                </a:solidFill>
              </a:rPr>
              <a:t>Requirements and design artefacts</a:t>
            </a:r>
            <a:endParaRPr lang="en-US" sz="1400" dirty="0"/>
          </a:p>
          <a:p>
            <a:r>
              <a:rPr lang="en-US" sz="1400" dirty="0">
                <a:solidFill>
                  <a:srgbClr val="1E2B32"/>
                </a:solidFill>
              </a:rPr>
              <a:t>Verification plans and results</a:t>
            </a:r>
            <a:endParaRPr lang="en-US" sz="1400" dirty="0"/>
          </a:p>
          <a:p>
            <a:r>
              <a:rPr lang="en-US" sz="1400" dirty="0">
                <a:solidFill>
                  <a:srgbClr val="1E2B32"/>
                </a:solidFill>
              </a:rPr>
              <a:t>CM, QA and tool evidence</a:t>
            </a:r>
            <a:endParaRPr lang="en-US" sz="1400" dirty="0"/>
          </a:p>
          <a:p>
            <a:r>
              <a:rPr lang="en-US" sz="1400" dirty="0">
                <a:solidFill>
                  <a:srgbClr val="1E2B32"/>
                </a:solidFill>
              </a:rPr>
              <a:t>Safety assessments and hazard logs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23444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44568" y="1307592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ML-specific additions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1828800"/>
            <a:ext cx="297180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1E2B32"/>
                </a:solidFill>
              </a:rPr>
              <a:t>Dataset provenance and bias analysis</a:t>
            </a:r>
            <a:endParaRPr lang="en-US" sz="1400" dirty="0"/>
          </a:p>
          <a:p>
            <a:r>
              <a:rPr lang="en-US" sz="1400" dirty="0">
                <a:solidFill>
                  <a:srgbClr val="1E2B32"/>
                </a:solidFill>
              </a:rPr>
              <a:t>Training / validation / test definitions</a:t>
            </a:r>
            <a:endParaRPr lang="en-US" sz="1400" dirty="0"/>
          </a:p>
          <a:p>
            <a:r>
              <a:rPr lang="en-US" sz="1400" dirty="0">
                <a:solidFill>
                  <a:srgbClr val="1E2B32"/>
                </a:solidFill>
              </a:rPr>
              <a:t>Model architecture and hyperparameters</a:t>
            </a:r>
            <a:endParaRPr lang="en-US" sz="1400" dirty="0"/>
          </a:p>
          <a:p>
            <a:r>
              <a:rPr lang="en-US" sz="1400" dirty="0">
                <a:solidFill>
                  <a:srgbClr val="1E2B32"/>
                </a:solidFill>
              </a:rPr>
              <a:t>Robustness, uncertainty and explainability</a:t>
            </a:r>
            <a:endParaRPr lang="en-US" sz="1400" dirty="0"/>
          </a:p>
          <a:p>
            <a:r>
              <a:rPr lang="en-US" sz="1400" dirty="0">
                <a:solidFill>
                  <a:srgbClr val="1E2B32"/>
                </a:solidFill>
              </a:rPr>
              <a:t>ODD, monitor and fallback evidence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92440" y="123444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7461D1"/>
          </a:solidFill>
          <a:ln w="12700">
            <a:solidFill>
              <a:srgbClr val="746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202168" y="1307592"/>
            <a:ext cx="31638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Release traceability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75320" y="1828800"/>
            <a:ext cx="297180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 dirty="0">
                <a:solidFill>
                  <a:srgbClr val="1E2B32"/>
                </a:solidFill>
              </a:rPr>
              <a:t>Which evidence applies to which model?</a:t>
            </a:r>
            <a:endParaRPr lang="en-US" sz="1400" dirty="0"/>
          </a:p>
          <a:p>
            <a:r>
              <a:rPr lang="en-US" sz="1400" dirty="0">
                <a:solidFill>
                  <a:srgbClr val="1E2B32"/>
                </a:solidFill>
              </a:rPr>
              <a:t>Which dataset and toolchain version?</a:t>
            </a:r>
            <a:endParaRPr lang="en-US" sz="1400" dirty="0"/>
          </a:p>
          <a:p>
            <a:r>
              <a:rPr lang="en-US" sz="1400" dirty="0">
                <a:solidFill>
                  <a:srgbClr val="1E2B32"/>
                </a:solidFill>
              </a:rPr>
              <a:t>Which deployment hardware?</a:t>
            </a:r>
            <a:endParaRPr lang="en-US" sz="1400" dirty="0"/>
          </a:p>
          <a:p>
            <a:r>
              <a:rPr lang="en-US" sz="1400" dirty="0">
                <a:solidFill>
                  <a:srgbClr val="1E2B32"/>
                </a:solidFill>
              </a:rPr>
              <a:t>Which monitor thresholds?</a:t>
            </a:r>
            <a:endParaRPr lang="en-US" sz="1400" dirty="0"/>
          </a:p>
          <a:p>
            <a:r>
              <a:rPr lang="en-US" sz="1400" dirty="0">
                <a:solidFill>
                  <a:srgbClr val="1E2B32"/>
                </a:solidFill>
              </a:rPr>
              <a:t>Which authority issues are closed?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51560" y="5303520"/>
            <a:ext cx="10058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524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216152" y="5431536"/>
            <a:ext cx="972921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The document positions the CAS as an active certification-management mechanism: incomplete, stale or non-representative evidence keeps the claim open.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02920" y="632764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5566B"/>
                </a:solidFill>
              </a:rPr>
              <a:t>Document certification package and gaining certification sections, pp.24 and 29–30.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6665976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8E5EA"/>
                </a:solidFill>
              </a:rPr>
              <a:t>Ethical Assurance &amp; Certification of MLA under DO-178C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138428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 and continued airworthiness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5566B"/>
                </a:solidFill>
              </a:rPr>
              <a:t>Certification is not the end of assurance activity</a:t>
            </a:r>
            <a:endParaRPr lang="en-US" sz="1250" dirty="0"/>
          </a:p>
        </p:txBody>
      </p:sp>
      <p:pic>
        <p:nvPicPr>
          <p:cNvPr id="6" name="Image 0" descr="/mnt/data/docx_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691" y="1234440"/>
            <a:ext cx="3871899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49240" y="1325880"/>
            <a:ext cx="608076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50" dirty="0">
                <a:solidFill>
                  <a:srgbClr val="1E2B32"/>
                </a:solidFill>
              </a:rPr>
              <a:t>Monitor ODD excursions, confidence, uncertainty, rejection rates, fallback events and degradation trends.</a:t>
            </a:r>
            <a:endParaRPr lang="en-US" sz="1550" dirty="0"/>
          </a:p>
          <a:p>
            <a:r>
              <a:rPr lang="en-US" sz="1550" dirty="0">
                <a:solidFill>
                  <a:srgbClr val="1E2B32"/>
                </a:solidFill>
              </a:rPr>
              <a:t>When assumptions diverge, restrict, withdraw, retrain under formal change control or re-certify.</a:t>
            </a:r>
            <a:endParaRPr lang="en-US" sz="1550" dirty="0"/>
          </a:p>
          <a:p>
            <a:r>
              <a:rPr lang="en-US" sz="1550" dirty="0">
                <a:solidFill>
                  <a:srgbClr val="1E2B32"/>
                </a:solidFill>
              </a:rPr>
              <a:t>Online learning is not permitted for safety-related functions unless a specific certification basis has been agreed.</a:t>
            </a:r>
            <a:endParaRPr lang="en-US" sz="1550" dirty="0"/>
          </a:p>
          <a:p>
            <a:r>
              <a:rPr lang="en-US" sz="1550" dirty="0">
                <a:solidFill>
                  <a:srgbClr val="1E2B32"/>
                </a:solidFill>
              </a:rPr>
              <a:t>Operational data may support future improvement, but deployed behaviour must not change without authorised release control.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532120" y="4892040"/>
            <a:ext cx="5669280" cy="731520"/>
          </a:xfrm>
          <a:prstGeom prst="roundRect">
            <a:avLst>
              <a:gd name="adj" fmla="val 10000"/>
            </a:avLst>
          </a:prstGeom>
          <a:solidFill>
            <a:srgbClr val="ECE9FF"/>
          </a:solidFill>
          <a:ln w="15240">
            <a:solidFill>
              <a:srgbClr val="746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696712" y="5020056"/>
            <a:ext cx="53400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Action required: build the operational feedback loop now, but keep behavioural change behind configuration control.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502920" y="6327648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5566B"/>
                </a:solidFill>
              </a:rPr>
              <a:t>Document runtime monitoring, no online learning and continued airworthiness sections, pp.26–30.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02920" y="6665976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8E5EA"/>
                </a:solidFill>
              </a:rPr>
              <a:t>Ethical Assurance &amp; Certification of MLA under DO-178C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1138428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2A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Ethical and operational risk cannot be bolted 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9052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5566B"/>
                </a:solidFill>
              </a:rPr>
              <a:t>Human oversight and security must be evidenced, not assumed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8680" y="1417320"/>
            <a:ext cx="324612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5240">
            <a:solidFill>
              <a:srgbClr val="2F67B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50976" y="1490472"/>
            <a:ext cx="308152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B32"/>
                </a:solidFill>
              </a:rPr>
              <a:t>Human factors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E2B32"/>
                </a:solidFill>
              </a:rPr>
              <a:t>Workload, time available, mode awareness, trust calibration, training, intervention feasibility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24612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5240">
            <a:solidFill>
              <a:srgbClr val="D34B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62856" y="1490472"/>
            <a:ext cx="308152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B32"/>
                </a:solidFill>
              </a:rPr>
              <a:t>Security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E2B32"/>
                </a:solidFill>
              </a:rPr>
              <a:t>Data poisoning, adversarial examples, model extraction, unauthorised retraining, compromised pipelines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92440" y="1417320"/>
            <a:ext cx="3246120" cy="210312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524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174736" y="1490472"/>
            <a:ext cx="308152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B32"/>
                </a:solidFill>
              </a:rPr>
              <a:t>Ethical assurance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E2B32"/>
                </a:solidFill>
              </a:rPr>
              <a:t>Bias, transparency, contestability, accountability and proportionality of AI authority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4434840"/>
            <a:ext cx="9784080" cy="685800"/>
          </a:xfrm>
          <a:prstGeom prst="roundRect">
            <a:avLst>
              <a:gd name="adj" fmla="val 10667"/>
            </a:avLst>
          </a:prstGeom>
          <a:solidFill>
            <a:srgbClr val="ECE9FF"/>
          </a:solidFill>
          <a:ln w="15240">
            <a:solidFill>
              <a:srgbClr val="7461D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353312" y="4562856"/>
            <a:ext cx="945489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E2B32"/>
                </a:solidFill>
              </a:rPr>
              <a:t>“Human in the loop” is not a safety argument unless the system gives the human enough information, time and authority to intervene meaningfully.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02920" y="6665976"/>
            <a:ext cx="6217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D8E5EA"/>
                </a:solidFill>
              </a:rPr>
              <a:t>Ethical Assurance &amp; Certification of MLA under DO-178C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384280" y="664768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Need for action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E6EB"/>
                </a:solidFill>
              </a:rPr>
              <a:t>A practical agenda for certifiable MLA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84048" cy="384048"/>
          </a:xfrm>
          <a:prstGeom prst="ellipse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32688" y="1911096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17320" y="184708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Engage the authority early and agree the certification basis.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578608"/>
            <a:ext cx="384048" cy="384048"/>
          </a:xfrm>
          <a:prstGeom prst="ellipse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32688" y="2660904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2596896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Define MLA hazards, ODD limits and safety architecture before model development.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328416"/>
            <a:ext cx="384048" cy="384048"/>
          </a:xfrm>
          <a:prstGeom prst="ellipse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32688" y="3410712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3346704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Implement an assurance-grade MLDevOps pipeline with repeatable evidence generation.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4078224"/>
            <a:ext cx="384048" cy="384048"/>
          </a:xfrm>
          <a:prstGeom prst="ellipse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32688" y="4160520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17320" y="4096512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Package evidence by configured release: model, data, tools, environment and monitors.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4828032"/>
            <a:ext cx="384048" cy="384048"/>
          </a:xfrm>
          <a:prstGeom prst="ellipse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32688" y="4910328"/>
            <a:ext cx="1463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17320" y="484632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Monitor in service and treat retraining as a formal configuration change.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6080760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dirty="0">
                <a:solidFill>
                  <a:srgbClr val="CFE6EB"/>
                </a:solidFill>
              </a:rPr>
              <a:t>Bottom line: the burden of proof remains with the integrator. If MLA cannot reduce risk, improve resilience, or provide capability unattainable by safer conventional means, it should not be adopted in a safety-critical function.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2321</Words>
  <Application>Microsoft Office PowerPoint</Application>
  <PresentationFormat>Widescreen</PresentationFormat>
  <Paragraphs>324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Ethical Assurance and Certification of MLA Under DO-178C</dc:title>
  <dc:subject>Ethical Assurance and Certification of MLA Under DO-178C</dc:subject>
  <dc:creator>OpenAI</dc:creator>
  <cp:lastModifiedBy>Oliver Haythornthwaite</cp:lastModifiedBy>
  <cp:revision>2</cp:revision>
  <dcterms:created xsi:type="dcterms:W3CDTF">2026-07-11T15:28:45Z</dcterms:created>
  <dcterms:modified xsi:type="dcterms:W3CDTF">2026-07-11T16:24:58Z</dcterms:modified>
</cp:coreProperties>
</file>